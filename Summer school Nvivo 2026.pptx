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86" r:id="rId5"/>
  </p:sldMasterIdLst>
  <p:notesMasterIdLst>
    <p:notesMasterId r:id="rId34"/>
  </p:notesMasterIdLst>
  <p:sldIdLst>
    <p:sldId id="289" r:id="rId6"/>
    <p:sldId id="256" r:id="rId7"/>
    <p:sldId id="438" r:id="rId8"/>
    <p:sldId id="325" r:id="rId9"/>
    <p:sldId id="323" r:id="rId10"/>
    <p:sldId id="282" r:id="rId11"/>
    <p:sldId id="257" r:id="rId12"/>
    <p:sldId id="286" r:id="rId13"/>
    <p:sldId id="443" r:id="rId14"/>
    <p:sldId id="439" r:id="rId15"/>
    <p:sldId id="263" r:id="rId16"/>
    <p:sldId id="432" r:id="rId17"/>
    <p:sldId id="440" r:id="rId18"/>
    <p:sldId id="271" r:id="rId19"/>
    <p:sldId id="433" r:id="rId20"/>
    <p:sldId id="277" r:id="rId21"/>
    <p:sldId id="265" r:id="rId22"/>
    <p:sldId id="266" r:id="rId23"/>
    <p:sldId id="436" r:id="rId24"/>
    <p:sldId id="267" r:id="rId25"/>
    <p:sldId id="269" r:id="rId26"/>
    <p:sldId id="270" r:id="rId27"/>
    <p:sldId id="272" r:id="rId28"/>
    <p:sldId id="278" r:id="rId29"/>
    <p:sldId id="264" r:id="rId30"/>
    <p:sldId id="280" r:id="rId31"/>
    <p:sldId id="281" r:id="rId32"/>
    <p:sldId id="293"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73B59"/>
    <a:srgbClr val="BE62AB"/>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6908"/>
    <p:restoredTop sz="73296"/>
  </p:normalViewPr>
  <p:slideViewPr>
    <p:cSldViewPr snapToGrid="0">
      <p:cViewPr varScale="1">
        <p:scale>
          <a:sx n="90" d="100"/>
          <a:sy n="90" d="100"/>
        </p:scale>
        <p:origin x="992" y="184"/>
      </p:cViewPr>
      <p:guideLst/>
    </p:cSldViewPr>
  </p:slideViewPr>
  <p:outlineViewPr>
    <p:cViewPr>
      <p:scale>
        <a:sx n="33" d="100"/>
        <a:sy n="33" d="100"/>
      </p:scale>
      <p:origin x="0" y="-9544"/>
    </p:cViewPr>
  </p:outlineViewPr>
  <p:notesTextViewPr>
    <p:cViewPr>
      <p:scale>
        <a:sx n="1" d="1"/>
        <a:sy n="1" d="1"/>
      </p:scale>
      <p:origin x="0" y="0"/>
    </p:cViewPr>
  </p:notesTextViewPr>
  <p:notesViewPr>
    <p:cSldViewPr snapToGrid="0">
      <p:cViewPr>
        <p:scale>
          <a:sx n="1" d="2"/>
          <a:sy n="1" d="2"/>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21" Type="http://schemas.openxmlformats.org/officeDocument/2006/relationships/slide" Target="slides/slide16.xml"/><Relationship Id="rId34" Type="http://schemas.openxmlformats.org/officeDocument/2006/relationships/notesMaster" Target="notesMasters/notesMaster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presProps" Target="presProps.xml"/><Relationship Id="rId8" Type="http://schemas.openxmlformats.org/officeDocument/2006/relationships/slide" Target="slides/slide3.xml"/><Relationship Id="rId3" Type="http://schemas.openxmlformats.org/officeDocument/2006/relationships/customXml" Target="../customXml/item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CA1B80B-E9D4-C840-8362-8F51F6BE1A0C}" type="doc">
      <dgm:prSet loTypeId="urn:microsoft.com/office/officeart/2005/8/layout/process2" loCatId="" qsTypeId="urn:microsoft.com/office/officeart/2005/8/quickstyle/simple1" qsCatId="simple" csTypeId="urn:microsoft.com/office/officeart/2005/8/colors/accent1_2" csCatId="accent1" phldr="1"/>
      <dgm:spPr/>
    </dgm:pt>
    <dgm:pt modelId="{7A4FEE8E-CC27-0742-80C9-9A2A06BFDF62}">
      <dgm:prSet phldrT="[Text]"/>
      <dgm:spPr/>
      <dgm:t>
        <a:bodyPr/>
        <a:lstStyle/>
        <a:p>
          <a:r>
            <a:rPr lang="en-GB" dirty="0"/>
            <a:t>Setting up a project </a:t>
          </a:r>
        </a:p>
      </dgm:t>
    </dgm:pt>
    <dgm:pt modelId="{95CE2207-0F0C-524E-93B1-8D332B38E775}" type="parTrans" cxnId="{F073365C-7996-2847-9B8B-158ABFB89AEE}">
      <dgm:prSet/>
      <dgm:spPr/>
      <dgm:t>
        <a:bodyPr/>
        <a:lstStyle/>
        <a:p>
          <a:endParaRPr lang="en-GB"/>
        </a:p>
      </dgm:t>
    </dgm:pt>
    <dgm:pt modelId="{0074579F-E5C2-EC47-A872-3D85F5F617C1}" type="sibTrans" cxnId="{F073365C-7996-2847-9B8B-158ABFB89AEE}">
      <dgm:prSet/>
      <dgm:spPr/>
      <dgm:t>
        <a:bodyPr/>
        <a:lstStyle/>
        <a:p>
          <a:endParaRPr lang="en-GB"/>
        </a:p>
      </dgm:t>
    </dgm:pt>
    <dgm:pt modelId="{1ADC4019-DCC0-F64C-A2CD-DCD76F6AF020}">
      <dgm:prSet phldrT="[Text]"/>
      <dgm:spPr/>
      <dgm:t>
        <a:bodyPr/>
        <a:lstStyle/>
        <a:p>
          <a:r>
            <a:rPr lang="en-GB" dirty="0"/>
            <a:t>Coding/</a:t>
          </a:r>
        </a:p>
        <a:p>
          <a:r>
            <a:rPr lang="en-GB" dirty="0"/>
            <a:t>going further  </a:t>
          </a:r>
        </a:p>
      </dgm:t>
    </dgm:pt>
    <dgm:pt modelId="{41CEB9DE-FCA3-6247-9D86-670DBE79E367}" type="parTrans" cxnId="{B818152B-714A-DB45-A9B8-60C7B6868B46}">
      <dgm:prSet/>
      <dgm:spPr/>
      <dgm:t>
        <a:bodyPr/>
        <a:lstStyle/>
        <a:p>
          <a:endParaRPr lang="en-GB"/>
        </a:p>
      </dgm:t>
    </dgm:pt>
    <dgm:pt modelId="{A8870891-0BEF-8341-97AF-348806AF4973}" type="sibTrans" cxnId="{B818152B-714A-DB45-A9B8-60C7B6868B46}">
      <dgm:prSet/>
      <dgm:spPr/>
      <dgm:t>
        <a:bodyPr/>
        <a:lstStyle/>
        <a:p>
          <a:endParaRPr lang="en-GB"/>
        </a:p>
      </dgm:t>
    </dgm:pt>
    <dgm:pt modelId="{21BA0E7F-EBDE-424F-BA99-44AD9459DCF3}" type="pres">
      <dgm:prSet presAssocID="{DCA1B80B-E9D4-C840-8362-8F51F6BE1A0C}" presName="linearFlow" presStyleCnt="0">
        <dgm:presLayoutVars>
          <dgm:resizeHandles val="exact"/>
        </dgm:presLayoutVars>
      </dgm:prSet>
      <dgm:spPr/>
    </dgm:pt>
    <dgm:pt modelId="{50BF5FF8-3C5F-154A-A17E-2587A10FD1A0}" type="pres">
      <dgm:prSet presAssocID="{7A4FEE8E-CC27-0742-80C9-9A2A06BFDF62}" presName="node" presStyleLbl="node1" presStyleIdx="0" presStyleCnt="2">
        <dgm:presLayoutVars>
          <dgm:bulletEnabled val="1"/>
        </dgm:presLayoutVars>
      </dgm:prSet>
      <dgm:spPr/>
    </dgm:pt>
    <dgm:pt modelId="{CF6E2CE0-49E3-CD4A-8F1C-FDC08D860D1D}" type="pres">
      <dgm:prSet presAssocID="{0074579F-E5C2-EC47-A872-3D85F5F617C1}" presName="sibTrans" presStyleLbl="sibTrans2D1" presStyleIdx="0" presStyleCnt="1"/>
      <dgm:spPr/>
    </dgm:pt>
    <dgm:pt modelId="{41FA8DCF-891C-6345-BF55-F4F470972AB4}" type="pres">
      <dgm:prSet presAssocID="{0074579F-E5C2-EC47-A872-3D85F5F617C1}" presName="connectorText" presStyleLbl="sibTrans2D1" presStyleIdx="0" presStyleCnt="1"/>
      <dgm:spPr/>
    </dgm:pt>
    <dgm:pt modelId="{19C34A81-40DA-8B4B-AB50-B7491B48BA81}" type="pres">
      <dgm:prSet presAssocID="{1ADC4019-DCC0-F64C-A2CD-DCD76F6AF020}" presName="node" presStyleLbl="node1" presStyleIdx="1" presStyleCnt="2" custLinFactNeighborX="577" custLinFactNeighborY="10385">
        <dgm:presLayoutVars>
          <dgm:bulletEnabled val="1"/>
        </dgm:presLayoutVars>
      </dgm:prSet>
      <dgm:spPr/>
    </dgm:pt>
  </dgm:ptLst>
  <dgm:cxnLst>
    <dgm:cxn modelId="{CC931506-2E16-984B-BA57-874994E563D2}" type="presOf" srcId="{1ADC4019-DCC0-F64C-A2CD-DCD76F6AF020}" destId="{19C34A81-40DA-8B4B-AB50-B7491B48BA81}" srcOrd="0" destOrd="0" presId="urn:microsoft.com/office/officeart/2005/8/layout/process2"/>
    <dgm:cxn modelId="{B818152B-714A-DB45-A9B8-60C7B6868B46}" srcId="{DCA1B80B-E9D4-C840-8362-8F51F6BE1A0C}" destId="{1ADC4019-DCC0-F64C-A2CD-DCD76F6AF020}" srcOrd="1" destOrd="0" parTransId="{41CEB9DE-FCA3-6247-9D86-670DBE79E367}" sibTransId="{A8870891-0BEF-8341-97AF-348806AF4973}"/>
    <dgm:cxn modelId="{F073365C-7996-2847-9B8B-158ABFB89AEE}" srcId="{DCA1B80B-E9D4-C840-8362-8F51F6BE1A0C}" destId="{7A4FEE8E-CC27-0742-80C9-9A2A06BFDF62}" srcOrd="0" destOrd="0" parTransId="{95CE2207-0F0C-524E-93B1-8D332B38E775}" sibTransId="{0074579F-E5C2-EC47-A872-3D85F5F617C1}"/>
    <dgm:cxn modelId="{D6A4E170-1C72-BC40-AFA6-84DA86A4F73F}" type="presOf" srcId="{0074579F-E5C2-EC47-A872-3D85F5F617C1}" destId="{CF6E2CE0-49E3-CD4A-8F1C-FDC08D860D1D}" srcOrd="0" destOrd="0" presId="urn:microsoft.com/office/officeart/2005/8/layout/process2"/>
    <dgm:cxn modelId="{7EEDAA84-201D-2F48-AD59-BEB9D0B42C35}" type="presOf" srcId="{0074579F-E5C2-EC47-A872-3D85F5F617C1}" destId="{41FA8DCF-891C-6345-BF55-F4F470972AB4}" srcOrd="1" destOrd="0" presId="urn:microsoft.com/office/officeart/2005/8/layout/process2"/>
    <dgm:cxn modelId="{C5DC49DB-9DA9-0D4F-840D-4BBD5260A6A0}" type="presOf" srcId="{7A4FEE8E-CC27-0742-80C9-9A2A06BFDF62}" destId="{50BF5FF8-3C5F-154A-A17E-2587A10FD1A0}" srcOrd="0" destOrd="0" presId="urn:microsoft.com/office/officeart/2005/8/layout/process2"/>
    <dgm:cxn modelId="{1A7562DD-D442-C04F-BB30-E52A7F430712}" type="presOf" srcId="{DCA1B80B-E9D4-C840-8362-8F51F6BE1A0C}" destId="{21BA0E7F-EBDE-424F-BA99-44AD9459DCF3}" srcOrd="0" destOrd="0" presId="urn:microsoft.com/office/officeart/2005/8/layout/process2"/>
    <dgm:cxn modelId="{19C6D417-CD6E-6E46-82B9-B0A4FD77A42A}" type="presParOf" srcId="{21BA0E7F-EBDE-424F-BA99-44AD9459DCF3}" destId="{50BF5FF8-3C5F-154A-A17E-2587A10FD1A0}" srcOrd="0" destOrd="0" presId="urn:microsoft.com/office/officeart/2005/8/layout/process2"/>
    <dgm:cxn modelId="{F152F9FD-7E87-DE42-9544-57CE761427FF}" type="presParOf" srcId="{21BA0E7F-EBDE-424F-BA99-44AD9459DCF3}" destId="{CF6E2CE0-49E3-CD4A-8F1C-FDC08D860D1D}" srcOrd="1" destOrd="0" presId="urn:microsoft.com/office/officeart/2005/8/layout/process2"/>
    <dgm:cxn modelId="{E85A336C-656C-654A-B850-AE89D9B16046}" type="presParOf" srcId="{CF6E2CE0-49E3-CD4A-8F1C-FDC08D860D1D}" destId="{41FA8DCF-891C-6345-BF55-F4F470972AB4}" srcOrd="0" destOrd="0" presId="urn:microsoft.com/office/officeart/2005/8/layout/process2"/>
    <dgm:cxn modelId="{0B95E506-5619-8C45-832B-5BC26FB8BFBD}" type="presParOf" srcId="{21BA0E7F-EBDE-424F-BA99-44AD9459DCF3}" destId="{19C34A81-40DA-8B4B-AB50-B7491B48BA81}" srcOrd="2" destOrd="0" presId="urn:microsoft.com/office/officeart/2005/8/layout/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A7D5101-01D6-0C40-942C-0F71A29AE7EA}" type="doc">
      <dgm:prSet loTypeId="urn:microsoft.com/office/officeart/2005/8/layout/cycle4" loCatId="" qsTypeId="urn:microsoft.com/office/officeart/2005/8/quickstyle/simple1" qsCatId="simple" csTypeId="urn:microsoft.com/office/officeart/2005/8/colors/accent1_2" csCatId="accent1" phldr="1"/>
      <dgm:spPr/>
      <dgm:t>
        <a:bodyPr/>
        <a:lstStyle/>
        <a:p>
          <a:endParaRPr lang="en-GB"/>
        </a:p>
      </dgm:t>
    </dgm:pt>
    <dgm:pt modelId="{FBD5E85D-AD06-5943-B261-1B606968F842}">
      <dgm:prSet phldrT="[Text]"/>
      <dgm:spPr/>
      <dgm:t>
        <a:bodyPr/>
        <a:lstStyle/>
        <a:p>
          <a:r>
            <a:rPr lang="en-GB" dirty="0"/>
            <a:t>Data</a:t>
          </a:r>
        </a:p>
      </dgm:t>
    </dgm:pt>
    <dgm:pt modelId="{7C18A938-C39A-C249-8E18-32A58AFC924B}" type="parTrans" cxnId="{3F84764A-EF93-664E-9140-EB3026D23CA3}">
      <dgm:prSet/>
      <dgm:spPr/>
      <dgm:t>
        <a:bodyPr/>
        <a:lstStyle/>
        <a:p>
          <a:endParaRPr lang="en-GB"/>
        </a:p>
      </dgm:t>
    </dgm:pt>
    <dgm:pt modelId="{0B4840CC-0F82-B943-9533-74A08DC5DFB7}" type="sibTrans" cxnId="{3F84764A-EF93-664E-9140-EB3026D23CA3}">
      <dgm:prSet/>
      <dgm:spPr/>
      <dgm:t>
        <a:bodyPr/>
        <a:lstStyle/>
        <a:p>
          <a:endParaRPr lang="en-GB"/>
        </a:p>
      </dgm:t>
    </dgm:pt>
    <dgm:pt modelId="{BFD4FAA0-54A7-D74D-BD5B-C4C90CF60D54}">
      <dgm:prSet phldrT="[Text]" custT="1"/>
      <dgm:spPr/>
      <dgm:t>
        <a:bodyPr/>
        <a:lstStyle/>
        <a:p>
          <a:pPr marL="0" indent="0">
            <a:buFontTx/>
            <a:buNone/>
          </a:pPr>
          <a:r>
            <a:rPr lang="en-GB" sz="2200" dirty="0"/>
            <a:t>What kind of files /data ?</a:t>
          </a:r>
        </a:p>
      </dgm:t>
    </dgm:pt>
    <dgm:pt modelId="{F81A1CEE-30E9-2B46-A03C-15717660AC4A}" type="parTrans" cxnId="{B44A0E70-EE5E-0444-AEBD-C21E4762C423}">
      <dgm:prSet/>
      <dgm:spPr/>
      <dgm:t>
        <a:bodyPr/>
        <a:lstStyle/>
        <a:p>
          <a:endParaRPr lang="en-GB"/>
        </a:p>
      </dgm:t>
    </dgm:pt>
    <dgm:pt modelId="{CA30D922-92E9-0C4E-9B1E-7AF47788CC95}" type="sibTrans" cxnId="{B44A0E70-EE5E-0444-AEBD-C21E4762C423}">
      <dgm:prSet/>
      <dgm:spPr/>
      <dgm:t>
        <a:bodyPr/>
        <a:lstStyle/>
        <a:p>
          <a:endParaRPr lang="en-GB"/>
        </a:p>
      </dgm:t>
    </dgm:pt>
    <dgm:pt modelId="{7584D985-FD87-5047-885D-45198367C630}">
      <dgm:prSet phldrT="[Text]"/>
      <dgm:spPr/>
      <dgm:t>
        <a:bodyPr/>
        <a:lstStyle/>
        <a:p>
          <a:r>
            <a:rPr lang="en-GB" dirty="0"/>
            <a:t>Units of analysis</a:t>
          </a:r>
        </a:p>
      </dgm:t>
    </dgm:pt>
    <dgm:pt modelId="{2E1A0118-BA53-BB4F-9D28-57AE9671A366}" type="parTrans" cxnId="{73738633-A2E3-D54D-9191-AEF2D2650890}">
      <dgm:prSet/>
      <dgm:spPr/>
      <dgm:t>
        <a:bodyPr/>
        <a:lstStyle/>
        <a:p>
          <a:endParaRPr lang="en-GB"/>
        </a:p>
      </dgm:t>
    </dgm:pt>
    <dgm:pt modelId="{2E73F44E-A9D0-CB4E-BD06-D6DC850B9C4E}" type="sibTrans" cxnId="{73738633-A2E3-D54D-9191-AEF2D2650890}">
      <dgm:prSet/>
      <dgm:spPr/>
      <dgm:t>
        <a:bodyPr/>
        <a:lstStyle/>
        <a:p>
          <a:endParaRPr lang="en-GB"/>
        </a:p>
      </dgm:t>
    </dgm:pt>
    <dgm:pt modelId="{515B4162-78DF-BE49-A882-B93FEE58D4D9}">
      <dgm:prSet phldrT="[Text]" custT="1"/>
      <dgm:spPr/>
      <dgm:t>
        <a:bodyPr/>
        <a:lstStyle/>
        <a:p>
          <a:r>
            <a:rPr lang="en-GB" sz="2100" dirty="0"/>
            <a:t>What units of analysis do I have? </a:t>
          </a:r>
        </a:p>
      </dgm:t>
    </dgm:pt>
    <dgm:pt modelId="{66E000E5-792F-AB46-95D2-04811672EA68}" type="parTrans" cxnId="{52E3C74C-9279-3141-A8E2-7157E13E13EE}">
      <dgm:prSet/>
      <dgm:spPr/>
      <dgm:t>
        <a:bodyPr/>
        <a:lstStyle/>
        <a:p>
          <a:endParaRPr lang="en-GB"/>
        </a:p>
      </dgm:t>
    </dgm:pt>
    <dgm:pt modelId="{F49EF2D1-8DAA-8F4A-A810-EE2E9F2425B1}" type="sibTrans" cxnId="{52E3C74C-9279-3141-A8E2-7157E13E13EE}">
      <dgm:prSet/>
      <dgm:spPr/>
      <dgm:t>
        <a:bodyPr/>
        <a:lstStyle/>
        <a:p>
          <a:endParaRPr lang="en-GB"/>
        </a:p>
      </dgm:t>
    </dgm:pt>
    <dgm:pt modelId="{6AE87EA2-3454-6946-83A5-F01C66EB41CD}">
      <dgm:prSet phldrT="[Text]"/>
      <dgm:spPr/>
      <dgm:t>
        <a:bodyPr/>
        <a:lstStyle/>
        <a:p>
          <a:r>
            <a:rPr lang="en-GB" dirty="0"/>
            <a:t>Analysis themes</a:t>
          </a:r>
        </a:p>
      </dgm:t>
    </dgm:pt>
    <dgm:pt modelId="{A718812F-DB3A-CB4A-AEB7-6B4DF36D7778}" type="parTrans" cxnId="{8487BF48-721D-FD4C-BE75-74209ED60A43}">
      <dgm:prSet/>
      <dgm:spPr/>
      <dgm:t>
        <a:bodyPr/>
        <a:lstStyle/>
        <a:p>
          <a:endParaRPr lang="en-GB"/>
        </a:p>
      </dgm:t>
    </dgm:pt>
    <dgm:pt modelId="{7F1FA0ED-63FC-3E44-9E7E-62AF25306050}" type="sibTrans" cxnId="{8487BF48-721D-FD4C-BE75-74209ED60A43}">
      <dgm:prSet/>
      <dgm:spPr/>
      <dgm:t>
        <a:bodyPr/>
        <a:lstStyle/>
        <a:p>
          <a:endParaRPr lang="en-GB"/>
        </a:p>
      </dgm:t>
    </dgm:pt>
    <dgm:pt modelId="{D931E1D1-A8C3-324F-B8F5-1435D539F7C6}">
      <dgm:prSet phldrT="[Text]" custT="1"/>
      <dgm:spPr/>
      <dgm:t>
        <a:bodyPr/>
        <a:lstStyle/>
        <a:p>
          <a:pPr marL="0" indent="0">
            <a:spcAft>
              <a:spcPts val="0"/>
            </a:spcAft>
            <a:buFontTx/>
            <a:buNone/>
          </a:pPr>
          <a:r>
            <a:rPr lang="en-GB" sz="2200" dirty="0"/>
            <a:t>Key themes related to the research questions </a:t>
          </a:r>
        </a:p>
      </dgm:t>
    </dgm:pt>
    <dgm:pt modelId="{DBFF4A21-0A53-7F4A-A554-4A50873DCB4B}" type="parTrans" cxnId="{AA1AF13A-D965-EB45-9B9D-7DC939217CB6}">
      <dgm:prSet/>
      <dgm:spPr/>
      <dgm:t>
        <a:bodyPr/>
        <a:lstStyle/>
        <a:p>
          <a:endParaRPr lang="en-GB"/>
        </a:p>
      </dgm:t>
    </dgm:pt>
    <dgm:pt modelId="{7EE77C1F-88E5-E54C-B15D-F8CE5601E4D2}" type="sibTrans" cxnId="{AA1AF13A-D965-EB45-9B9D-7DC939217CB6}">
      <dgm:prSet/>
      <dgm:spPr/>
      <dgm:t>
        <a:bodyPr/>
        <a:lstStyle/>
        <a:p>
          <a:endParaRPr lang="en-GB"/>
        </a:p>
      </dgm:t>
    </dgm:pt>
    <dgm:pt modelId="{6841313C-01F0-A24A-B37B-54C6E07303B4}">
      <dgm:prSet phldrT="[Text]"/>
      <dgm:spPr/>
      <dgm:t>
        <a:bodyPr/>
        <a:lstStyle/>
        <a:p>
          <a:r>
            <a:rPr lang="en-GB" dirty="0"/>
            <a:t>Linkages</a:t>
          </a:r>
        </a:p>
      </dgm:t>
    </dgm:pt>
    <dgm:pt modelId="{A15E4E3C-E648-694C-8F18-4933B27AADC5}" type="parTrans" cxnId="{08E1D61F-5DDA-E64A-BC30-DEBC37DEB35E}">
      <dgm:prSet/>
      <dgm:spPr/>
      <dgm:t>
        <a:bodyPr/>
        <a:lstStyle/>
        <a:p>
          <a:endParaRPr lang="en-GB"/>
        </a:p>
      </dgm:t>
    </dgm:pt>
    <dgm:pt modelId="{F1E08D3C-C268-5A47-97CF-BBCC4E0FB92F}" type="sibTrans" cxnId="{08E1D61F-5DDA-E64A-BC30-DEBC37DEB35E}">
      <dgm:prSet/>
      <dgm:spPr/>
      <dgm:t>
        <a:bodyPr/>
        <a:lstStyle/>
        <a:p>
          <a:endParaRPr lang="en-GB"/>
        </a:p>
      </dgm:t>
    </dgm:pt>
    <dgm:pt modelId="{6C2A7875-AF6D-9A4B-BB60-859A54BE3F9D}">
      <dgm:prSet phldrT="[Text]" custT="1"/>
      <dgm:spPr/>
      <dgm:t>
        <a:bodyPr/>
        <a:lstStyle/>
        <a:p>
          <a:pPr marL="0" indent="0">
            <a:buFontTx/>
            <a:buNone/>
          </a:pPr>
          <a:r>
            <a:rPr lang="en-GB" sz="2200" dirty="0"/>
            <a:t>How are data and units connected?</a:t>
          </a:r>
        </a:p>
      </dgm:t>
    </dgm:pt>
    <dgm:pt modelId="{C7125C3E-9D3C-8E45-992D-593B7230A84C}" type="parTrans" cxnId="{16507D05-0B32-054B-9D68-9190E86EC52B}">
      <dgm:prSet/>
      <dgm:spPr/>
      <dgm:t>
        <a:bodyPr/>
        <a:lstStyle/>
        <a:p>
          <a:endParaRPr lang="en-GB"/>
        </a:p>
      </dgm:t>
    </dgm:pt>
    <dgm:pt modelId="{B09062B4-2A66-6940-98B3-46A19C801C90}" type="sibTrans" cxnId="{16507D05-0B32-054B-9D68-9190E86EC52B}">
      <dgm:prSet/>
      <dgm:spPr/>
      <dgm:t>
        <a:bodyPr/>
        <a:lstStyle/>
        <a:p>
          <a:endParaRPr lang="en-GB"/>
        </a:p>
      </dgm:t>
    </dgm:pt>
    <dgm:pt modelId="{6D33ABD5-FE70-0048-BB6C-31CA593E684D}">
      <dgm:prSet phldrT="[Text]" custT="1"/>
      <dgm:spPr/>
      <dgm:t>
        <a:bodyPr/>
        <a:lstStyle/>
        <a:p>
          <a:r>
            <a:rPr lang="en-GB" sz="2100" dirty="0"/>
            <a:t>Characteristics (metadata?)</a:t>
          </a:r>
        </a:p>
      </dgm:t>
    </dgm:pt>
    <dgm:pt modelId="{28C65536-10BF-5044-A5D2-6A6240681A86}" type="parTrans" cxnId="{2D692E6C-4A9A-F745-A83D-5D9E068601FC}">
      <dgm:prSet/>
      <dgm:spPr/>
      <dgm:t>
        <a:bodyPr/>
        <a:lstStyle/>
        <a:p>
          <a:endParaRPr lang="en-GB"/>
        </a:p>
      </dgm:t>
    </dgm:pt>
    <dgm:pt modelId="{FDA16292-3FC7-5943-8E85-94EA8ACF2C23}" type="sibTrans" cxnId="{2D692E6C-4A9A-F745-A83D-5D9E068601FC}">
      <dgm:prSet/>
      <dgm:spPr/>
      <dgm:t>
        <a:bodyPr/>
        <a:lstStyle/>
        <a:p>
          <a:endParaRPr lang="en-GB"/>
        </a:p>
      </dgm:t>
    </dgm:pt>
    <dgm:pt modelId="{A3EB25E7-1B4F-064B-B6FC-AFAD8C955729}" type="pres">
      <dgm:prSet presAssocID="{DA7D5101-01D6-0C40-942C-0F71A29AE7EA}" presName="cycleMatrixDiagram" presStyleCnt="0">
        <dgm:presLayoutVars>
          <dgm:chMax val="1"/>
          <dgm:dir/>
          <dgm:animLvl val="lvl"/>
          <dgm:resizeHandles val="exact"/>
        </dgm:presLayoutVars>
      </dgm:prSet>
      <dgm:spPr/>
    </dgm:pt>
    <dgm:pt modelId="{14C581BA-36F1-F74F-B972-C0B4E6C03BAE}" type="pres">
      <dgm:prSet presAssocID="{DA7D5101-01D6-0C40-942C-0F71A29AE7EA}" presName="children" presStyleCnt="0"/>
      <dgm:spPr/>
    </dgm:pt>
    <dgm:pt modelId="{ED00B037-54BF-9449-984D-AA374D470440}" type="pres">
      <dgm:prSet presAssocID="{DA7D5101-01D6-0C40-942C-0F71A29AE7EA}" presName="child1group" presStyleCnt="0"/>
      <dgm:spPr/>
    </dgm:pt>
    <dgm:pt modelId="{5590DD03-023E-9B41-9DA3-4F861FE1DD0E}" type="pres">
      <dgm:prSet presAssocID="{DA7D5101-01D6-0C40-942C-0F71A29AE7EA}" presName="child1" presStyleLbl="bgAcc1" presStyleIdx="0" presStyleCnt="4"/>
      <dgm:spPr/>
    </dgm:pt>
    <dgm:pt modelId="{F4C06A87-5E41-5646-8353-013FFD9C5762}" type="pres">
      <dgm:prSet presAssocID="{DA7D5101-01D6-0C40-942C-0F71A29AE7EA}" presName="child1Text" presStyleLbl="bgAcc1" presStyleIdx="0" presStyleCnt="4">
        <dgm:presLayoutVars>
          <dgm:bulletEnabled val="1"/>
        </dgm:presLayoutVars>
      </dgm:prSet>
      <dgm:spPr/>
    </dgm:pt>
    <dgm:pt modelId="{A90FE4A9-5E9D-4043-A3B1-4CE6A14F7D57}" type="pres">
      <dgm:prSet presAssocID="{DA7D5101-01D6-0C40-942C-0F71A29AE7EA}" presName="child2group" presStyleCnt="0"/>
      <dgm:spPr/>
    </dgm:pt>
    <dgm:pt modelId="{FB743122-51E3-414D-9A0B-D4F4D887E0BF}" type="pres">
      <dgm:prSet presAssocID="{DA7D5101-01D6-0C40-942C-0F71A29AE7EA}" presName="child2" presStyleLbl="bgAcc1" presStyleIdx="1" presStyleCnt="4" custScaleX="119390" custLinFactNeighborX="14299" custLinFactNeighborY="781"/>
      <dgm:spPr/>
    </dgm:pt>
    <dgm:pt modelId="{402AE012-3902-494B-B1C7-A30AFF0E1A90}" type="pres">
      <dgm:prSet presAssocID="{DA7D5101-01D6-0C40-942C-0F71A29AE7EA}" presName="child2Text" presStyleLbl="bgAcc1" presStyleIdx="1" presStyleCnt="4">
        <dgm:presLayoutVars>
          <dgm:bulletEnabled val="1"/>
        </dgm:presLayoutVars>
      </dgm:prSet>
      <dgm:spPr/>
    </dgm:pt>
    <dgm:pt modelId="{F80B0D23-F3D8-9F41-97CD-5ADCE98E6514}" type="pres">
      <dgm:prSet presAssocID="{DA7D5101-01D6-0C40-942C-0F71A29AE7EA}" presName="child3group" presStyleCnt="0"/>
      <dgm:spPr/>
    </dgm:pt>
    <dgm:pt modelId="{B909D8D4-B931-7840-9165-B683CE906BAF}" type="pres">
      <dgm:prSet presAssocID="{DA7D5101-01D6-0C40-942C-0F71A29AE7EA}" presName="child3" presStyleLbl="bgAcc1" presStyleIdx="2" presStyleCnt="4" custScaleX="116538" custScaleY="106938" custLinFactNeighborX="12201" custLinFactNeighborY="-1226"/>
      <dgm:spPr/>
    </dgm:pt>
    <dgm:pt modelId="{5E0684BC-E6C9-2048-8F69-0BC85AEC1FEE}" type="pres">
      <dgm:prSet presAssocID="{DA7D5101-01D6-0C40-942C-0F71A29AE7EA}" presName="child3Text" presStyleLbl="bgAcc1" presStyleIdx="2" presStyleCnt="4">
        <dgm:presLayoutVars>
          <dgm:bulletEnabled val="1"/>
        </dgm:presLayoutVars>
      </dgm:prSet>
      <dgm:spPr/>
    </dgm:pt>
    <dgm:pt modelId="{4A850D64-09D1-1448-B33D-9DA1CF453E8E}" type="pres">
      <dgm:prSet presAssocID="{DA7D5101-01D6-0C40-942C-0F71A29AE7EA}" presName="child4group" presStyleCnt="0"/>
      <dgm:spPr/>
    </dgm:pt>
    <dgm:pt modelId="{2E6E09F2-DBA3-2845-BDFB-63213459477D}" type="pres">
      <dgm:prSet presAssocID="{DA7D5101-01D6-0C40-942C-0F71A29AE7EA}" presName="child4" presStyleLbl="bgAcc1" presStyleIdx="3" presStyleCnt="4" custScaleX="120069" custLinFactNeighborX="3524" custLinFactNeighborY="-781"/>
      <dgm:spPr/>
    </dgm:pt>
    <dgm:pt modelId="{A56DF6D3-245E-1745-8716-20FF3707AFCB}" type="pres">
      <dgm:prSet presAssocID="{DA7D5101-01D6-0C40-942C-0F71A29AE7EA}" presName="child4Text" presStyleLbl="bgAcc1" presStyleIdx="3" presStyleCnt="4">
        <dgm:presLayoutVars>
          <dgm:bulletEnabled val="1"/>
        </dgm:presLayoutVars>
      </dgm:prSet>
      <dgm:spPr/>
    </dgm:pt>
    <dgm:pt modelId="{E89A6A8A-A675-9340-95E3-0A751970C78E}" type="pres">
      <dgm:prSet presAssocID="{DA7D5101-01D6-0C40-942C-0F71A29AE7EA}" presName="childPlaceholder" presStyleCnt="0"/>
      <dgm:spPr/>
    </dgm:pt>
    <dgm:pt modelId="{55BC467B-BECE-1441-9B77-A5D2405A4D5B}" type="pres">
      <dgm:prSet presAssocID="{DA7D5101-01D6-0C40-942C-0F71A29AE7EA}" presName="circle" presStyleCnt="0"/>
      <dgm:spPr/>
    </dgm:pt>
    <dgm:pt modelId="{A27A1B20-F290-314E-BF3F-4A68C0C6412F}" type="pres">
      <dgm:prSet presAssocID="{DA7D5101-01D6-0C40-942C-0F71A29AE7EA}" presName="quadrant1" presStyleLbl="node1" presStyleIdx="0" presStyleCnt="4">
        <dgm:presLayoutVars>
          <dgm:chMax val="1"/>
          <dgm:bulletEnabled val="1"/>
        </dgm:presLayoutVars>
      </dgm:prSet>
      <dgm:spPr/>
    </dgm:pt>
    <dgm:pt modelId="{DE2995D8-77FD-954A-A831-253185F068BD}" type="pres">
      <dgm:prSet presAssocID="{DA7D5101-01D6-0C40-942C-0F71A29AE7EA}" presName="quadrant2" presStyleLbl="node1" presStyleIdx="1" presStyleCnt="4">
        <dgm:presLayoutVars>
          <dgm:chMax val="1"/>
          <dgm:bulletEnabled val="1"/>
        </dgm:presLayoutVars>
      </dgm:prSet>
      <dgm:spPr/>
    </dgm:pt>
    <dgm:pt modelId="{0B7B685E-56DF-DD4B-8278-BA78344A5ED1}" type="pres">
      <dgm:prSet presAssocID="{DA7D5101-01D6-0C40-942C-0F71A29AE7EA}" presName="quadrant3" presStyleLbl="node1" presStyleIdx="2" presStyleCnt="4">
        <dgm:presLayoutVars>
          <dgm:chMax val="1"/>
          <dgm:bulletEnabled val="1"/>
        </dgm:presLayoutVars>
      </dgm:prSet>
      <dgm:spPr/>
    </dgm:pt>
    <dgm:pt modelId="{FF71E31F-825B-2E42-973E-4797DA9F47DF}" type="pres">
      <dgm:prSet presAssocID="{DA7D5101-01D6-0C40-942C-0F71A29AE7EA}" presName="quadrant4" presStyleLbl="node1" presStyleIdx="3" presStyleCnt="4">
        <dgm:presLayoutVars>
          <dgm:chMax val="1"/>
          <dgm:bulletEnabled val="1"/>
        </dgm:presLayoutVars>
      </dgm:prSet>
      <dgm:spPr/>
    </dgm:pt>
    <dgm:pt modelId="{765B8680-45DB-974B-893B-5DD66434A5C0}" type="pres">
      <dgm:prSet presAssocID="{DA7D5101-01D6-0C40-942C-0F71A29AE7EA}" presName="quadrantPlaceholder" presStyleCnt="0"/>
      <dgm:spPr/>
    </dgm:pt>
    <dgm:pt modelId="{29062187-6786-2B43-A333-77F09AD3772A}" type="pres">
      <dgm:prSet presAssocID="{DA7D5101-01D6-0C40-942C-0F71A29AE7EA}" presName="center1" presStyleLbl="fgShp" presStyleIdx="0" presStyleCnt="2"/>
      <dgm:spPr/>
    </dgm:pt>
    <dgm:pt modelId="{834E2143-D29F-284E-82F7-26C6889A7F56}" type="pres">
      <dgm:prSet presAssocID="{DA7D5101-01D6-0C40-942C-0F71A29AE7EA}" presName="center2" presStyleLbl="fgShp" presStyleIdx="1" presStyleCnt="2"/>
      <dgm:spPr/>
    </dgm:pt>
  </dgm:ptLst>
  <dgm:cxnLst>
    <dgm:cxn modelId="{16507D05-0B32-054B-9D68-9190E86EC52B}" srcId="{6841313C-01F0-A24A-B37B-54C6E07303B4}" destId="{6C2A7875-AF6D-9A4B-BB60-859A54BE3F9D}" srcOrd="0" destOrd="0" parTransId="{C7125C3E-9D3C-8E45-992D-593B7230A84C}" sibTransId="{B09062B4-2A66-6940-98B3-46A19C801C90}"/>
    <dgm:cxn modelId="{F7981408-C0D8-3144-90E5-5FAD389DFEA4}" type="presOf" srcId="{FBD5E85D-AD06-5943-B261-1B606968F842}" destId="{A27A1B20-F290-314E-BF3F-4A68C0C6412F}" srcOrd="0" destOrd="0" presId="urn:microsoft.com/office/officeart/2005/8/layout/cycle4"/>
    <dgm:cxn modelId="{5E0CF508-A98D-AB4B-81BD-B5590E9BD29E}" type="presOf" srcId="{6D33ABD5-FE70-0048-BB6C-31CA593E684D}" destId="{402AE012-3902-494B-B1C7-A30AFF0E1A90}" srcOrd="1" destOrd="1" presId="urn:microsoft.com/office/officeart/2005/8/layout/cycle4"/>
    <dgm:cxn modelId="{08E1D61F-5DDA-E64A-BC30-DEBC37DEB35E}" srcId="{DA7D5101-01D6-0C40-942C-0F71A29AE7EA}" destId="{6841313C-01F0-A24A-B37B-54C6E07303B4}" srcOrd="3" destOrd="0" parTransId="{A15E4E3C-E648-694C-8F18-4933B27AADC5}" sibTransId="{F1E08D3C-C268-5A47-97CF-BBCC4E0FB92F}"/>
    <dgm:cxn modelId="{2CE6A621-44FC-F44E-B71A-946C3006F035}" type="presOf" srcId="{6C2A7875-AF6D-9A4B-BB60-859A54BE3F9D}" destId="{2E6E09F2-DBA3-2845-BDFB-63213459477D}" srcOrd="0" destOrd="0" presId="urn:microsoft.com/office/officeart/2005/8/layout/cycle4"/>
    <dgm:cxn modelId="{73738633-A2E3-D54D-9191-AEF2D2650890}" srcId="{DA7D5101-01D6-0C40-942C-0F71A29AE7EA}" destId="{7584D985-FD87-5047-885D-45198367C630}" srcOrd="1" destOrd="0" parTransId="{2E1A0118-BA53-BB4F-9D28-57AE9671A366}" sibTransId="{2E73F44E-A9D0-CB4E-BD06-D6DC850B9C4E}"/>
    <dgm:cxn modelId="{AA1AF13A-D965-EB45-9B9D-7DC939217CB6}" srcId="{6AE87EA2-3454-6946-83A5-F01C66EB41CD}" destId="{D931E1D1-A8C3-324F-B8F5-1435D539F7C6}" srcOrd="0" destOrd="0" parTransId="{DBFF4A21-0A53-7F4A-A554-4A50873DCB4B}" sibTransId="{7EE77C1F-88E5-E54C-B15D-F8CE5601E4D2}"/>
    <dgm:cxn modelId="{8487BF48-721D-FD4C-BE75-74209ED60A43}" srcId="{DA7D5101-01D6-0C40-942C-0F71A29AE7EA}" destId="{6AE87EA2-3454-6946-83A5-F01C66EB41CD}" srcOrd="2" destOrd="0" parTransId="{A718812F-DB3A-CB4A-AEB7-6B4DF36D7778}" sibTransId="{7F1FA0ED-63FC-3E44-9E7E-62AF25306050}"/>
    <dgm:cxn modelId="{3F84764A-EF93-664E-9140-EB3026D23CA3}" srcId="{DA7D5101-01D6-0C40-942C-0F71A29AE7EA}" destId="{FBD5E85D-AD06-5943-B261-1B606968F842}" srcOrd="0" destOrd="0" parTransId="{7C18A938-C39A-C249-8E18-32A58AFC924B}" sibTransId="{0B4840CC-0F82-B943-9533-74A08DC5DFB7}"/>
    <dgm:cxn modelId="{52E3C74C-9279-3141-A8E2-7157E13E13EE}" srcId="{7584D985-FD87-5047-885D-45198367C630}" destId="{515B4162-78DF-BE49-A882-B93FEE58D4D9}" srcOrd="0" destOrd="0" parTransId="{66E000E5-792F-AB46-95D2-04811672EA68}" sibTransId="{F49EF2D1-8DAA-8F4A-A810-EE2E9F2425B1}"/>
    <dgm:cxn modelId="{2D692E6C-4A9A-F745-A83D-5D9E068601FC}" srcId="{7584D985-FD87-5047-885D-45198367C630}" destId="{6D33ABD5-FE70-0048-BB6C-31CA593E684D}" srcOrd="1" destOrd="0" parTransId="{28C65536-10BF-5044-A5D2-6A6240681A86}" sibTransId="{FDA16292-3FC7-5943-8E85-94EA8ACF2C23}"/>
    <dgm:cxn modelId="{B44A0E70-EE5E-0444-AEBD-C21E4762C423}" srcId="{FBD5E85D-AD06-5943-B261-1B606968F842}" destId="{BFD4FAA0-54A7-D74D-BD5B-C4C90CF60D54}" srcOrd="0" destOrd="0" parTransId="{F81A1CEE-30E9-2B46-A03C-15717660AC4A}" sibTransId="{CA30D922-92E9-0C4E-9B1E-7AF47788CC95}"/>
    <dgm:cxn modelId="{CB92C980-B0E9-404C-8A4B-E68F594D074C}" type="presOf" srcId="{515B4162-78DF-BE49-A882-B93FEE58D4D9}" destId="{FB743122-51E3-414D-9A0B-D4F4D887E0BF}" srcOrd="0" destOrd="0" presId="urn:microsoft.com/office/officeart/2005/8/layout/cycle4"/>
    <dgm:cxn modelId="{94355C82-7D2F-DD48-A434-DBAE26963073}" type="presOf" srcId="{515B4162-78DF-BE49-A882-B93FEE58D4D9}" destId="{402AE012-3902-494B-B1C7-A30AFF0E1A90}" srcOrd="1" destOrd="0" presId="urn:microsoft.com/office/officeart/2005/8/layout/cycle4"/>
    <dgm:cxn modelId="{5309FC89-FB51-3B48-BAE0-F75D4CA5F482}" type="presOf" srcId="{6841313C-01F0-A24A-B37B-54C6E07303B4}" destId="{FF71E31F-825B-2E42-973E-4797DA9F47DF}" srcOrd="0" destOrd="0" presId="urn:microsoft.com/office/officeart/2005/8/layout/cycle4"/>
    <dgm:cxn modelId="{4927618B-B497-2E41-9D36-9932A2C48224}" type="presOf" srcId="{BFD4FAA0-54A7-D74D-BD5B-C4C90CF60D54}" destId="{F4C06A87-5E41-5646-8353-013FFD9C5762}" srcOrd="1" destOrd="0" presId="urn:microsoft.com/office/officeart/2005/8/layout/cycle4"/>
    <dgm:cxn modelId="{08B7EAB3-466D-074A-95D4-E68AE9CD2D65}" type="presOf" srcId="{D931E1D1-A8C3-324F-B8F5-1435D539F7C6}" destId="{B909D8D4-B931-7840-9165-B683CE906BAF}" srcOrd="0" destOrd="0" presId="urn:microsoft.com/office/officeart/2005/8/layout/cycle4"/>
    <dgm:cxn modelId="{E74156BA-CAA4-764D-8458-EE2A9474449C}" type="presOf" srcId="{BFD4FAA0-54A7-D74D-BD5B-C4C90CF60D54}" destId="{5590DD03-023E-9B41-9DA3-4F861FE1DD0E}" srcOrd="0" destOrd="0" presId="urn:microsoft.com/office/officeart/2005/8/layout/cycle4"/>
    <dgm:cxn modelId="{691A7BBB-181F-E442-86BB-093E83831CF5}" type="presOf" srcId="{DA7D5101-01D6-0C40-942C-0F71A29AE7EA}" destId="{A3EB25E7-1B4F-064B-B6FC-AFAD8C955729}" srcOrd="0" destOrd="0" presId="urn:microsoft.com/office/officeart/2005/8/layout/cycle4"/>
    <dgm:cxn modelId="{39A028C0-BF31-7048-BB41-9C96FE4AE9A8}" type="presOf" srcId="{6C2A7875-AF6D-9A4B-BB60-859A54BE3F9D}" destId="{A56DF6D3-245E-1745-8716-20FF3707AFCB}" srcOrd="1" destOrd="0" presId="urn:microsoft.com/office/officeart/2005/8/layout/cycle4"/>
    <dgm:cxn modelId="{0EA20AC4-E2E7-8445-A00A-73F0EC12F524}" type="presOf" srcId="{6D33ABD5-FE70-0048-BB6C-31CA593E684D}" destId="{FB743122-51E3-414D-9A0B-D4F4D887E0BF}" srcOrd="0" destOrd="1" presId="urn:microsoft.com/office/officeart/2005/8/layout/cycle4"/>
    <dgm:cxn modelId="{2B3C6ED0-0BCD-CD4D-82D8-C1E739342334}" type="presOf" srcId="{7584D985-FD87-5047-885D-45198367C630}" destId="{DE2995D8-77FD-954A-A831-253185F068BD}" srcOrd="0" destOrd="0" presId="urn:microsoft.com/office/officeart/2005/8/layout/cycle4"/>
    <dgm:cxn modelId="{57A96EE9-B6E9-5745-BAC7-D3BBFC4772DE}" type="presOf" srcId="{D931E1D1-A8C3-324F-B8F5-1435D539F7C6}" destId="{5E0684BC-E6C9-2048-8F69-0BC85AEC1FEE}" srcOrd="1" destOrd="0" presId="urn:microsoft.com/office/officeart/2005/8/layout/cycle4"/>
    <dgm:cxn modelId="{3D3C16FB-434C-0F4E-89DF-69FC04550FB5}" type="presOf" srcId="{6AE87EA2-3454-6946-83A5-F01C66EB41CD}" destId="{0B7B685E-56DF-DD4B-8278-BA78344A5ED1}" srcOrd="0" destOrd="0" presId="urn:microsoft.com/office/officeart/2005/8/layout/cycle4"/>
    <dgm:cxn modelId="{64D57F5F-8A06-8445-8764-0E16EF759065}" type="presParOf" srcId="{A3EB25E7-1B4F-064B-B6FC-AFAD8C955729}" destId="{14C581BA-36F1-F74F-B972-C0B4E6C03BAE}" srcOrd="0" destOrd="0" presId="urn:microsoft.com/office/officeart/2005/8/layout/cycle4"/>
    <dgm:cxn modelId="{B24149C1-4A75-984E-B149-F6614CD1F515}" type="presParOf" srcId="{14C581BA-36F1-F74F-B972-C0B4E6C03BAE}" destId="{ED00B037-54BF-9449-984D-AA374D470440}" srcOrd="0" destOrd="0" presId="urn:microsoft.com/office/officeart/2005/8/layout/cycle4"/>
    <dgm:cxn modelId="{CA4EBC84-A577-2143-8034-A3BCB376AAC7}" type="presParOf" srcId="{ED00B037-54BF-9449-984D-AA374D470440}" destId="{5590DD03-023E-9B41-9DA3-4F861FE1DD0E}" srcOrd="0" destOrd="0" presId="urn:microsoft.com/office/officeart/2005/8/layout/cycle4"/>
    <dgm:cxn modelId="{825A3DFA-F446-1D4E-89D7-1E84093C32AA}" type="presParOf" srcId="{ED00B037-54BF-9449-984D-AA374D470440}" destId="{F4C06A87-5E41-5646-8353-013FFD9C5762}" srcOrd="1" destOrd="0" presId="urn:microsoft.com/office/officeart/2005/8/layout/cycle4"/>
    <dgm:cxn modelId="{E8EEA9DC-677A-314D-A24A-B04D94A1A488}" type="presParOf" srcId="{14C581BA-36F1-F74F-B972-C0B4E6C03BAE}" destId="{A90FE4A9-5E9D-4043-A3B1-4CE6A14F7D57}" srcOrd="1" destOrd="0" presId="urn:microsoft.com/office/officeart/2005/8/layout/cycle4"/>
    <dgm:cxn modelId="{D7C651BD-EE2B-AD49-88FF-A9E56CC3DFE4}" type="presParOf" srcId="{A90FE4A9-5E9D-4043-A3B1-4CE6A14F7D57}" destId="{FB743122-51E3-414D-9A0B-D4F4D887E0BF}" srcOrd="0" destOrd="0" presId="urn:microsoft.com/office/officeart/2005/8/layout/cycle4"/>
    <dgm:cxn modelId="{24D17D58-0EB0-3D43-99B4-B379095676C4}" type="presParOf" srcId="{A90FE4A9-5E9D-4043-A3B1-4CE6A14F7D57}" destId="{402AE012-3902-494B-B1C7-A30AFF0E1A90}" srcOrd="1" destOrd="0" presId="urn:microsoft.com/office/officeart/2005/8/layout/cycle4"/>
    <dgm:cxn modelId="{5479C070-3CA4-5F48-86D9-072EFD0A4549}" type="presParOf" srcId="{14C581BA-36F1-F74F-B972-C0B4E6C03BAE}" destId="{F80B0D23-F3D8-9F41-97CD-5ADCE98E6514}" srcOrd="2" destOrd="0" presId="urn:microsoft.com/office/officeart/2005/8/layout/cycle4"/>
    <dgm:cxn modelId="{C6CD56F7-D8BE-B547-BF93-EB3E6E2E8141}" type="presParOf" srcId="{F80B0D23-F3D8-9F41-97CD-5ADCE98E6514}" destId="{B909D8D4-B931-7840-9165-B683CE906BAF}" srcOrd="0" destOrd="0" presId="urn:microsoft.com/office/officeart/2005/8/layout/cycle4"/>
    <dgm:cxn modelId="{19E1A1E1-BC51-A149-8F52-37EA79C46B3B}" type="presParOf" srcId="{F80B0D23-F3D8-9F41-97CD-5ADCE98E6514}" destId="{5E0684BC-E6C9-2048-8F69-0BC85AEC1FEE}" srcOrd="1" destOrd="0" presId="urn:microsoft.com/office/officeart/2005/8/layout/cycle4"/>
    <dgm:cxn modelId="{584559CB-1BFE-FF42-B48E-51404BB02617}" type="presParOf" srcId="{14C581BA-36F1-F74F-B972-C0B4E6C03BAE}" destId="{4A850D64-09D1-1448-B33D-9DA1CF453E8E}" srcOrd="3" destOrd="0" presId="urn:microsoft.com/office/officeart/2005/8/layout/cycle4"/>
    <dgm:cxn modelId="{0409ADAD-34A3-6F48-9B3B-9DDDDAF1B9FE}" type="presParOf" srcId="{4A850D64-09D1-1448-B33D-9DA1CF453E8E}" destId="{2E6E09F2-DBA3-2845-BDFB-63213459477D}" srcOrd="0" destOrd="0" presId="urn:microsoft.com/office/officeart/2005/8/layout/cycle4"/>
    <dgm:cxn modelId="{C0CC5188-103E-0B4D-94F7-380E0B782F3F}" type="presParOf" srcId="{4A850D64-09D1-1448-B33D-9DA1CF453E8E}" destId="{A56DF6D3-245E-1745-8716-20FF3707AFCB}" srcOrd="1" destOrd="0" presId="urn:microsoft.com/office/officeart/2005/8/layout/cycle4"/>
    <dgm:cxn modelId="{5128C7C5-8982-194D-A9EE-D2A614184DEE}" type="presParOf" srcId="{14C581BA-36F1-F74F-B972-C0B4E6C03BAE}" destId="{E89A6A8A-A675-9340-95E3-0A751970C78E}" srcOrd="4" destOrd="0" presId="urn:microsoft.com/office/officeart/2005/8/layout/cycle4"/>
    <dgm:cxn modelId="{FBFF88EE-4509-3843-AAE6-177345768B6B}" type="presParOf" srcId="{A3EB25E7-1B4F-064B-B6FC-AFAD8C955729}" destId="{55BC467B-BECE-1441-9B77-A5D2405A4D5B}" srcOrd="1" destOrd="0" presId="urn:microsoft.com/office/officeart/2005/8/layout/cycle4"/>
    <dgm:cxn modelId="{0104C5ED-BF77-3344-B9E9-C164E1682F67}" type="presParOf" srcId="{55BC467B-BECE-1441-9B77-A5D2405A4D5B}" destId="{A27A1B20-F290-314E-BF3F-4A68C0C6412F}" srcOrd="0" destOrd="0" presId="urn:microsoft.com/office/officeart/2005/8/layout/cycle4"/>
    <dgm:cxn modelId="{5932D93A-B71A-014D-87EF-BF15406A0F46}" type="presParOf" srcId="{55BC467B-BECE-1441-9B77-A5D2405A4D5B}" destId="{DE2995D8-77FD-954A-A831-253185F068BD}" srcOrd="1" destOrd="0" presId="urn:microsoft.com/office/officeart/2005/8/layout/cycle4"/>
    <dgm:cxn modelId="{9A90E1BB-7B08-C341-8993-78A38A2A6FDA}" type="presParOf" srcId="{55BC467B-BECE-1441-9B77-A5D2405A4D5B}" destId="{0B7B685E-56DF-DD4B-8278-BA78344A5ED1}" srcOrd="2" destOrd="0" presId="urn:microsoft.com/office/officeart/2005/8/layout/cycle4"/>
    <dgm:cxn modelId="{492BC9BF-E15B-A849-B248-315DE18BAC27}" type="presParOf" srcId="{55BC467B-BECE-1441-9B77-A5D2405A4D5B}" destId="{FF71E31F-825B-2E42-973E-4797DA9F47DF}" srcOrd="3" destOrd="0" presId="urn:microsoft.com/office/officeart/2005/8/layout/cycle4"/>
    <dgm:cxn modelId="{952B1E01-A3FF-A44E-9F46-B833D5BBEDC2}" type="presParOf" srcId="{55BC467B-BECE-1441-9B77-A5D2405A4D5B}" destId="{765B8680-45DB-974B-893B-5DD66434A5C0}" srcOrd="4" destOrd="0" presId="urn:microsoft.com/office/officeart/2005/8/layout/cycle4"/>
    <dgm:cxn modelId="{EF320A99-D0AF-D14B-BD77-246A050711EA}" type="presParOf" srcId="{A3EB25E7-1B4F-064B-B6FC-AFAD8C955729}" destId="{29062187-6786-2B43-A333-77F09AD3772A}" srcOrd="2" destOrd="0" presId="urn:microsoft.com/office/officeart/2005/8/layout/cycle4"/>
    <dgm:cxn modelId="{5CC9A8B9-3E47-0148-B80B-512CC2C37A14}" type="presParOf" srcId="{A3EB25E7-1B4F-064B-B6FC-AFAD8C955729}" destId="{834E2143-D29F-284E-82F7-26C6889A7F56}" srcOrd="3" destOrd="0" presId="urn:microsoft.com/office/officeart/2005/8/layout/cycle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BF5FF8-3C5F-154A-A17E-2587A10FD1A0}">
      <dsp:nvSpPr>
        <dsp:cNvPr id="0" name=""/>
        <dsp:cNvSpPr/>
      </dsp:nvSpPr>
      <dsp:spPr>
        <a:xfrm>
          <a:off x="0" y="723"/>
          <a:ext cx="2981433" cy="236942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GB" sz="4000" kern="1200" dirty="0"/>
            <a:t>Setting up a project </a:t>
          </a:r>
        </a:p>
      </dsp:txBody>
      <dsp:txXfrm>
        <a:off x="69398" y="70121"/>
        <a:ext cx="2842637" cy="2230625"/>
      </dsp:txXfrm>
    </dsp:sp>
    <dsp:sp modelId="{CF6E2CE0-49E3-CD4A-8F1C-FDC08D860D1D}">
      <dsp:nvSpPr>
        <dsp:cNvPr id="0" name=""/>
        <dsp:cNvSpPr/>
      </dsp:nvSpPr>
      <dsp:spPr>
        <a:xfrm rot="5400000">
          <a:off x="1046179" y="2429742"/>
          <a:ext cx="889075" cy="106623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422400">
            <a:lnSpc>
              <a:spcPct val="90000"/>
            </a:lnSpc>
            <a:spcBef>
              <a:spcPct val="0"/>
            </a:spcBef>
            <a:spcAft>
              <a:spcPct val="35000"/>
            </a:spcAft>
            <a:buNone/>
          </a:pPr>
          <a:endParaRPr lang="en-GB" sz="3200" kern="1200"/>
        </a:p>
      </dsp:txBody>
      <dsp:txXfrm rot="-5400000">
        <a:off x="1170845" y="2518324"/>
        <a:ext cx="639743" cy="622353"/>
      </dsp:txXfrm>
    </dsp:sp>
    <dsp:sp modelId="{19C34A81-40DA-8B4B-AB50-B7491B48BA81}">
      <dsp:nvSpPr>
        <dsp:cNvPr id="0" name=""/>
        <dsp:cNvSpPr/>
      </dsp:nvSpPr>
      <dsp:spPr>
        <a:xfrm>
          <a:off x="0" y="3555579"/>
          <a:ext cx="2981433" cy="236942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GB" sz="4000" kern="1200" dirty="0"/>
            <a:t>Coding/</a:t>
          </a:r>
        </a:p>
        <a:p>
          <a:pPr marL="0" lvl="0" indent="0" algn="ctr" defTabSz="1778000">
            <a:lnSpc>
              <a:spcPct val="90000"/>
            </a:lnSpc>
            <a:spcBef>
              <a:spcPct val="0"/>
            </a:spcBef>
            <a:spcAft>
              <a:spcPct val="35000"/>
            </a:spcAft>
            <a:buNone/>
          </a:pPr>
          <a:r>
            <a:rPr lang="en-GB" sz="4000" kern="1200" dirty="0"/>
            <a:t>going further  </a:t>
          </a:r>
        </a:p>
      </dsp:txBody>
      <dsp:txXfrm>
        <a:off x="69398" y="3624977"/>
        <a:ext cx="2842637" cy="223062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909D8D4-B931-7840-9165-B683CE906BAF}">
      <dsp:nvSpPr>
        <dsp:cNvPr id="0" name=""/>
        <dsp:cNvSpPr/>
      </dsp:nvSpPr>
      <dsp:spPr>
        <a:xfrm>
          <a:off x="5013364" y="3568012"/>
          <a:ext cx="3100753" cy="1843124"/>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1" indent="0" algn="l" defTabSz="977900">
            <a:lnSpc>
              <a:spcPct val="90000"/>
            </a:lnSpc>
            <a:spcBef>
              <a:spcPct val="0"/>
            </a:spcBef>
            <a:spcAft>
              <a:spcPts val="0"/>
            </a:spcAft>
            <a:buFontTx/>
            <a:buNone/>
          </a:pPr>
          <a:r>
            <a:rPr lang="en-GB" sz="2200" kern="1200" dirty="0"/>
            <a:t>Key themes related to the research questions </a:t>
          </a:r>
        </a:p>
      </dsp:txBody>
      <dsp:txXfrm>
        <a:off x="5984077" y="4069280"/>
        <a:ext cx="2089553" cy="1301369"/>
      </dsp:txXfrm>
    </dsp:sp>
    <dsp:sp modelId="{2E6E09F2-DBA3-2845-BDFB-63213459477D}">
      <dsp:nvSpPr>
        <dsp:cNvPr id="0" name=""/>
        <dsp:cNvSpPr/>
      </dsp:nvSpPr>
      <dsp:spPr>
        <a:xfrm>
          <a:off x="394338" y="3635471"/>
          <a:ext cx="3194703" cy="1723545"/>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1" indent="0" algn="l" defTabSz="977900">
            <a:lnSpc>
              <a:spcPct val="90000"/>
            </a:lnSpc>
            <a:spcBef>
              <a:spcPct val="0"/>
            </a:spcBef>
            <a:spcAft>
              <a:spcPct val="15000"/>
            </a:spcAft>
            <a:buFontTx/>
            <a:buNone/>
          </a:pPr>
          <a:r>
            <a:rPr lang="en-GB" sz="2200" kern="1200" dirty="0"/>
            <a:t>How are data and units connected?</a:t>
          </a:r>
        </a:p>
      </dsp:txBody>
      <dsp:txXfrm>
        <a:off x="432199" y="4104219"/>
        <a:ext cx="2160570" cy="1216936"/>
      </dsp:txXfrm>
    </dsp:sp>
    <dsp:sp modelId="{FB743122-51E3-414D-9A0B-D4F4D887E0BF}">
      <dsp:nvSpPr>
        <dsp:cNvPr id="0" name=""/>
        <dsp:cNvSpPr/>
      </dsp:nvSpPr>
      <dsp:spPr>
        <a:xfrm>
          <a:off x="4951362" y="-140"/>
          <a:ext cx="3176637" cy="1723545"/>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t" anchorCtr="0">
          <a:noAutofit/>
        </a:bodyPr>
        <a:lstStyle/>
        <a:p>
          <a:pPr marL="228600" lvl="1" indent="-228600" algn="l" defTabSz="933450">
            <a:lnSpc>
              <a:spcPct val="90000"/>
            </a:lnSpc>
            <a:spcBef>
              <a:spcPct val="0"/>
            </a:spcBef>
            <a:spcAft>
              <a:spcPct val="15000"/>
            </a:spcAft>
            <a:buChar char="•"/>
          </a:pPr>
          <a:r>
            <a:rPr lang="en-GB" sz="2100" kern="1200" dirty="0"/>
            <a:t>What units of analysis do I have? </a:t>
          </a:r>
        </a:p>
        <a:p>
          <a:pPr marL="228600" lvl="1" indent="-228600" algn="l" defTabSz="933450">
            <a:lnSpc>
              <a:spcPct val="90000"/>
            </a:lnSpc>
            <a:spcBef>
              <a:spcPct val="0"/>
            </a:spcBef>
            <a:spcAft>
              <a:spcPct val="15000"/>
            </a:spcAft>
            <a:buChar char="•"/>
          </a:pPr>
          <a:r>
            <a:rPr lang="en-GB" sz="2100" kern="1200" dirty="0"/>
            <a:t>Characteristics (metadata?)</a:t>
          </a:r>
        </a:p>
      </dsp:txBody>
      <dsp:txXfrm>
        <a:off x="5942214" y="37721"/>
        <a:ext cx="2147924" cy="1216936"/>
      </dsp:txXfrm>
    </dsp:sp>
    <dsp:sp modelId="{5590DD03-023E-9B41-9DA3-4F861FE1DD0E}">
      <dsp:nvSpPr>
        <dsp:cNvPr id="0" name=""/>
        <dsp:cNvSpPr/>
      </dsp:nvSpPr>
      <dsp:spPr>
        <a:xfrm>
          <a:off x="567565" y="-13600"/>
          <a:ext cx="2660723" cy="1723545"/>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1" indent="0" algn="l" defTabSz="977900">
            <a:lnSpc>
              <a:spcPct val="90000"/>
            </a:lnSpc>
            <a:spcBef>
              <a:spcPct val="0"/>
            </a:spcBef>
            <a:spcAft>
              <a:spcPct val="15000"/>
            </a:spcAft>
            <a:buFontTx/>
            <a:buNone/>
          </a:pPr>
          <a:r>
            <a:rPr lang="en-GB" sz="2200" kern="1200" dirty="0"/>
            <a:t>What kind of files /data ?</a:t>
          </a:r>
        </a:p>
      </dsp:txBody>
      <dsp:txXfrm>
        <a:off x="605426" y="24261"/>
        <a:ext cx="1786784" cy="1216936"/>
      </dsp:txXfrm>
    </dsp:sp>
    <dsp:sp modelId="{A27A1B20-F290-314E-BF3F-4A68C0C6412F}">
      <dsp:nvSpPr>
        <dsp:cNvPr id="0" name=""/>
        <dsp:cNvSpPr/>
      </dsp:nvSpPr>
      <dsp:spPr>
        <a:xfrm>
          <a:off x="1677966" y="323300"/>
          <a:ext cx="2332172" cy="2332172"/>
        </a:xfrm>
        <a:prstGeom prst="pieWedg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99136" rIns="199136" bIns="199136" numCol="1" spcCol="1270" anchor="ctr" anchorCtr="0">
          <a:noAutofit/>
        </a:bodyPr>
        <a:lstStyle/>
        <a:p>
          <a:pPr marL="0" lvl="0" indent="0" algn="ctr" defTabSz="1244600">
            <a:lnSpc>
              <a:spcPct val="90000"/>
            </a:lnSpc>
            <a:spcBef>
              <a:spcPct val="0"/>
            </a:spcBef>
            <a:spcAft>
              <a:spcPct val="35000"/>
            </a:spcAft>
            <a:buNone/>
          </a:pPr>
          <a:r>
            <a:rPr lang="en-GB" sz="2800" kern="1200" dirty="0"/>
            <a:t>Data</a:t>
          </a:r>
        </a:p>
      </dsp:txBody>
      <dsp:txXfrm>
        <a:off x="2361043" y="1006377"/>
        <a:ext cx="1649095" cy="1649095"/>
      </dsp:txXfrm>
    </dsp:sp>
    <dsp:sp modelId="{DE2995D8-77FD-954A-A831-253185F068BD}">
      <dsp:nvSpPr>
        <dsp:cNvPr id="0" name=""/>
        <dsp:cNvSpPr/>
      </dsp:nvSpPr>
      <dsp:spPr>
        <a:xfrm rot="5400000">
          <a:off x="4117860" y="323300"/>
          <a:ext cx="2332172" cy="2332172"/>
        </a:xfrm>
        <a:prstGeom prst="pieWedg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99136" rIns="199136" bIns="199136" numCol="1" spcCol="1270" anchor="ctr" anchorCtr="0">
          <a:noAutofit/>
        </a:bodyPr>
        <a:lstStyle/>
        <a:p>
          <a:pPr marL="0" lvl="0" indent="0" algn="ctr" defTabSz="1244600">
            <a:lnSpc>
              <a:spcPct val="90000"/>
            </a:lnSpc>
            <a:spcBef>
              <a:spcPct val="0"/>
            </a:spcBef>
            <a:spcAft>
              <a:spcPct val="35000"/>
            </a:spcAft>
            <a:buNone/>
          </a:pPr>
          <a:r>
            <a:rPr lang="en-GB" sz="2800" kern="1200" dirty="0"/>
            <a:t>Units of analysis</a:t>
          </a:r>
        </a:p>
      </dsp:txBody>
      <dsp:txXfrm rot="-5400000">
        <a:off x="4117860" y="1006377"/>
        <a:ext cx="1649095" cy="1649095"/>
      </dsp:txXfrm>
    </dsp:sp>
    <dsp:sp modelId="{0B7B685E-56DF-DD4B-8278-BA78344A5ED1}">
      <dsp:nvSpPr>
        <dsp:cNvPr id="0" name=""/>
        <dsp:cNvSpPr/>
      </dsp:nvSpPr>
      <dsp:spPr>
        <a:xfrm rot="10800000">
          <a:off x="4117860" y="2763194"/>
          <a:ext cx="2332172" cy="2332172"/>
        </a:xfrm>
        <a:prstGeom prst="pieWedg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99136" rIns="199136" bIns="199136" numCol="1" spcCol="1270" anchor="ctr" anchorCtr="0">
          <a:noAutofit/>
        </a:bodyPr>
        <a:lstStyle/>
        <a:p>
          <a:pPr marL="0" lvl="0" indent="0" algn="ctr" defTabSz="1244600">
            <a:lnSpc>
              <a:spcPct val="90000"/>
            </a:lnSpc>
            <a:spcBef>
              <a:spcPct val="0"/>
            </a:spcBef>
            <a:spcAft>
              <a:spcPct val="35000"/>
            </a:spcAft>
            <a:buNone/>
          </a:pPr>
          <a:r>
            <a:rPr lang="en-GB" sz="2800" kern="1200" dirty="0"/>
            <a:t>Analysis themes</a:t>
          </a:r>
        </a:p>
      </dsp:txBody>
      <dsp:txXfrm rot="10800000">
        <a:off x="4117860" y="2763194"/>
        <a:ext cx="1649095" cy="1649095"/>
      </dsp:txXfrm>
    </dsp:sp>
    <dsp:sp modelId="{FF71E31F-825B-2E42-973E-4797DA9F47DF}">
      <dsp:nvSpPr>
        <dsp:cNvPr id="0" name=""/>
        <dsp:cNvSpPr/>
      </dsp:nvSpPr>
      <dsp:spPr>
        <a:xfrm rot="16200000">
          <a:off x="1677966" y="2763194"/>
          <a:ext cx="2332172" cy="2332172"/>
        </a:xfrm>
        <a:prstGeom prst="pieWedg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99136" rIns="199136" bIns="199136" numCol="1" spcCol="1270" anchor="ctr" anchorCtr="0">
          <a:noAutofit/>
        </a:bodyPr>
        <a:lstStyle/>
        <a:p>
          <a:pPr marL="0" lvl="0" indent="0" algn="ctr" defTabSz="1244600">
            <a:lnSpc>
              <a:spcPct val="90000"/>
            </a:lnSpc>
            <a:spcBef>
              <a:spcPct val="0"/>
            </a:spcBef>
            <a:spcAft>
              <a:spcPct val="35000"/>
            </a:spcAft>
            <a:buNone/>
          </a:pPr>
          <a:r>
            <a:rPr lang="en-GB" sz="2800" kern="1200" dirty="0"/>
            <a:t>Linkages</a:t>
          </a:r>
        </a:p>
      </dsp:txBody>
      <dsp:txXfrm rot="5400000">
        <a:off x="2361043" y="2763194"/>
        <a:ext cx="1649095" cy="1649095"/>
      </dsp:txXfrm>
    </dsp:sp>
    <dsp:sp modelId="{29062187-6786-2B43-A333-77F09AD3772A}">
      <dsp:nvSpPr>
        <dsp:cNvPr id="0" name=""/>
        <dsp:cNvSpPr/>
      </dsp:nvSpPr>
      <dsp:spPr>
        <a:xfrm>
          <a:off x="3661390" y="2224586"/>
          <a:ext cx="805218" cy="700190"/>
        </a:xfrm>
        <a:prstGeom prst="circularArrow">
          <a:avLst/>
        </a:prstGeom>
        <a:solidFill>
          <a:schemeClr val="accent1">
            <a:tint val="6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34E2143-D29F-284E-82F7-26C6889A7F56}">
      <dsp:nvSpPr>
        <dsp:cNvPr id="0" name=""/>
        <dsp:cNvSpPr/>
      </dsp:nvSpPr>
      <dsp:spPr>
        <a:xfrm rot="10800000">
          <a:off x="3661390" y="2493890"/>
          <a:ext cx="805218" cy="700190"/>
        </a:xfrm>
        <a:prstGeom prst="circularArrow">
          <a:avLst/>
        </a:prstGeom>
        <a:solidFill>
          <a:schemeClr val="accent1">
            <a:tint val="6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ycle4">
  <dgm:title val=""/>
  <dgm:desc val=""/>
  <dgm:catLst>
    <dgm:cat type="relationship" pri="26000"/>
    <dgm:cat type="cycle" pri="13000"/>
    <dgm:cat type="matrix" pri="4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ampData>
  <dgm:style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cycleMatrixDiagram">
    <dgm:varLst>
      <dgm:chMax val="1"/>
      <dgm:dir/>
      <dgm:animLvl val="lvl"/>
      <dgm:resizeHandles val="exact"/>
    </dgm:varLst>
    <dgm:alg type="composite">
      <dgm:param type="ar" val="1.3"/>
    </dgm:alg>
    <dgm:shape xmlns:r="http://schemas.openxmlformats.org/officeDocument/2006/relationships" r:blip="">
      <dgm:adjLst/>
    </dgm:shape>
    <dgm:presOf/>
    <dgm:constrLst>
      <dgm:constr type="w" for="ch" forName="children" refType="w"/>
      <dgm:constr type="h" for="ch" forName="children" refType="w" refFor="ch" refForName="children" fact="0.77"/>
      <dgm:constr type="ctrX" for="ch" forName="children" refType="w" fact="0.5"/>
      <dgm:constr type="ctrY" for="ch" forName="children" refType="h" fact="0.5"/>
      <dgm:constr type="w" for="ch" forName="circle" refType="w"/>
      <dgm:constr type="h" for="ch" forName="circle" refType="h"/>
      <dgm:constr type="ctrX" for="ch" forName="circle" refType="w" fact="0.5"/>
      <dgm:constr type="ctrY" for="ch" forName="circle" refType="h" fact="0.5"/>
      <dgm:constr type="w" for="ch" forName="center1" refType="w" fact="0.115"/>
      <dgm:constr type="h" for="ch" forName="center1" refType="w" fact="0.1"/>
      <dgm:constr type="ctrX" for="ch" forName="center1" refType="w" fact="0.5"/>
      <dgm:constr type="ctrY" for="ch" forName="center1" refType="h" fact="0.475"/>
      <dgm:constr type="w" for="ch" forName="center2" refType="w" fact="0.115"/>
      <dgm:constr type="h" for="ch" forName="center2" refType="w" fact="0.1"/>
      <dgm:constr type="ctrX" for="ch" forName="center2" refType="w" fact="0.5"/>
      <dgm:constr type="ctrY" for="ch" forName="center2" refType="h" fact="0.525"/>
    </dgm:constrLst>
    <dgm:ruleLst/>
    <dgm:choose name="Name0">
      <dgm:if name="Name1" axis="ch" ptType="node" func="cnt" op="gte" val="1">
        <dgm:layoutNode name="children">
          <dgm:alg type="composite">
            <dgm:param type="ar" val="1.3"/>
          </dgm:alg>
          <dgm:shape xmlns:r="http://schemas.openxmlformats.org/officeDocument/2006/relationships" r:blip="">
            <dgm:adjLst/>
          </dgm:shape>
          <dgm:presOf/>
          <dgm:choose name="Name2">
            <dgm:if name="Name3" func="var" arg="dir" op="equ" val="norm">
              <dgm:constrLst>
                <dgm:constr type="primFontSz" for="des" ptType="node" op="equ" val="65"/>
                <dgm:constr type="w" for="ch" forName="child1group" refType="w" fact="0.38"/>
                <dgm:constr type="h" for="ch" forName="child1group" refType="h" fact="0.32"/>
                <dgm:constr type="t" for="ch" forName="child1group"/>
                <dgm:constr type="l" for="ch" forName="child1group"/>
                <dgm:constr type="w" for="ch" forName="child2group" refType="w" fact="0.38"/>
                <dgm:constr type="h" for="ch" forName="child2group" refType="h" fact="0.32"/>
                <dgm:constr type="t" for="ch" forName="child2group"/>
                <dgm:constr type="r" for="ch" forName="child2group" refType="w"/>
                <dgm:constr type="w" for="ch" forName="child3group" refType="w" fact="0.38"/>
                <dgm:constr type="h" for="ch" forName="child3group" refType="h" fact="0.32"/>
                <dgm:constr type="b" for="ch" forName="child3group" refType="h"/>
                <dgm:constr type="r" for="ch" forName="child3group" refType="w"/>
                <dgm:constr type="w" for="ch" forName="child4group" refType="w" fact="0.38"/>
                <dgm:constr type="h" for="ch" forName="child4group" refType="h" fact="0.32"/>
                <dgm:constr type="b" for="ch" forName="child4group" refType="h"/>
                <dgm:constr type="l" for="ch" forName="child4group"/>
              </dgm:constrLst>
            </dgm:if>
            <dgm:else name="Name4">
              <dgm:constrLst>
                <dgm:constr type="primFontSz" for="des" ptType="node" op="equ" val="65"/>
                <dgm:constr type="w" for="ch" forName="child1group" refType="w" fact="0.38"/>
                <dgm:constr type="h" for="ch" forName="child1group" refType="h" fact="0.32"/>
                <dgm:constr type="t" for="ch" forName="child1group"/>
                <dgm:constr type="r" for="ch" forName="child1group" refType="w"/>
                <dgm:constr type="w" for="ch" forName="child2group" refType="w" fact="0.38"/>
                <dgm:constr type="h" for="ch" forName="child2group" refType="h" fact="0.32"/>
                <dgm:constr type="t" for="ch" forName="child2group"/>
                <dgm:constr type="l" for="ch" forName="child2group"/>
                <dgm:constr type="w" for="ch" forName="child3group" refType="w" fact="0.38"/>
                <dgm:constr type="h" for="ch" forName="child3group" refType="h" fact="0.32"/>
                <dgm:constr type="b" for="ch" forName="child3group" refType="h"/>
                <dgm:constr type="l" for="ch" forName="child3group"/>
                <dgm:constr type="w" for="ch" forName="child4group" refType="w" fact="0.38"/>
                <dgm:constr type="h" for="ch" forName="child4group" refType="h" fact="0.32"/>
                <dgm:constr type="b" for="ch" forName="child4group" refType="h"/>
                <dgm:constr type="r" for="ch" forName="child4group" refType="w"/>
              </dgm:constrLst>
            </dgm:else>
          </dgm:choose>
          <dgm:ruleLst/>
          <dgm:choose name="Name5">
            <dgm:if name="Name6" axis="ch ch" ptType="node node" st="1 1" cnt="1 0" func="cnt" op="gte" val="1">
              <dgm:layoutNode name="child1group">
                <dgm:alg type="composite">
                  <dgm:param type="horzAlign" val="none"/>
                  <dgm:param type="vertAlign" val="none"/>
                </dgm:alg>
                <dgm:shape xmlns:r="http://schemas.openxmlformats.org/officeDocument/2006/relationships" r:blip="">
                  <dgm:adjLst/>
                </dgm:shape>
                <dgm:presOf/>
                <dgm:choose name="Name7">
                  <dgm:if name="Name8" func="var" arg="dir" op="equ" val="norm">
                    <dgm:constrLst>
                      <dgm:constr type="w" for="ch" forName="child1" refType="w"/>
                      <dgm:constr type="h" for="ch" forName="child1" refType="h"/>
                      <dgm:constr type="t" for="ch" forName="child1"/>
                      <dgm:constr type="l" for="ch" forName="child1"/>
                      <dgm:constr type="w" for="ch" forName="child1Text" refType="w" fact="0.7"/>
                      <dgm:constr type="h" for="ch" forName="child1Text" refType="h" fact="0.75"/>
                      <dgm:constr type="t" for="ch" forName="child1Text"/>
                      <dgm:constr type="l" for="ch" forName="child1Text"/>
                    </dgm:constrLst>
                  </dgm:if>
                  <dgm:else name="Name9">
                    <dgm:constrLst>
                      <dgm:constr type="w" for="ch" forName="child1" refType="w"/>
                      <dgm:constr type="h" for="ch" forName="child1" refType="h"/>
                      <dgm:constr type="t" for="ch" forName="child1"/>
                      <dgm:constr type="r" for="ch" forName="child1" refType="w"/>
                      <dgm:constr type="w" for="ch" forName="child1Text" refType="w" fact="0.7"/>
                      <dgm:constr type="h" for="ch" forName="child1Text" refType="h" fact="0.75"/>
                      <dgm:constr type="t" for="ch" forName="child1Text"/>
                      <dgm:constr type="r" for="ch" forName="child1Text" refType="w"/>
                    </dgm:constrLst>
                  </dgm:else>
                </dgm:choose>
                <dgm:ruleLst/>
                <dgm:layoutNode name="child1" styleLbl="bgAcc1">
                  <dgm:alg type="sp"/>
                  <dgm:shape xmlns:r="http://schemas.openxmlformats.org/officeDocument/2006/relationships" type="roundRect" r:blip="" zOrderOff="-2">
                    <dgm:adjLst>
                      <dgm:adj idx="1" val="0.1"/>
                    </dgm:adjLst>
                  </dgm:shape>
                  <dgm:presOf axis="ch des" ptType="node node" st="1 1" cnt="1 0"/>
                  <dgm:constrLst/>
                  <dgm:ruleLst/>
                </dgm:layoutNode>
                <dgm:layoutNode name="child1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0"/>
          </dgm:choose>
          <dgm:choose name="Name11">
            <dgm:if name="Name12" axis="ch ch" ptType="node node" st="2 1" cnt="1 0" func="cnt" op="gte" val="1">
              <dgm:layoutNode name="child2group">
                <dgm:alg type="composite">
                  <dgm:param type="horzAlign" val="none"/>
                  <dgm:param type="vertAlign" val="none"/>
                </dgm:alg>
                <dgm:shape xmlns:r="http://schemas.openxmlformats.org/officeDocument/2006/relationships" r:blip="">
                  <dgm:adjLst/>
                </dgm:shape>
                <dgm:choose name="Name13">
                  <dgm:if name="Name14" func="var" arg="dir" op="equ" val="norm">
                    <dgm:constrLst>
                      <dgm:constr type="w" for="ch" forName="child2" refType="w"/>
                      <dgm:constr type="h" for="ch" forName="child2" refType="h"/>
                      <dgm:constr type="t" for="ch" forName="child2"/>
                      <dgm:constr type="r" for="ch" forName="child2" refType="w"/>
                      <dgm:constr type="w" for="ch" forName="child2Text" refType="w" fact="0.7"/>
                      <dgm:constr type="h" for="ch" forName="child2Text" refType="h" fact="0.75"/>
                      <dgm:constr type="t" for="ch" forName="child2Text"/>
                      <dgm:constr type="r" for="ch" forName="child2Text" refType="w"/>
                    </dgm:constrLst>
                  </dgm:if>
                  <dgm:else name="Name15">
                    <dgm:constrLst>
                      <dgm:constr type="w" for="ch" forName="child2" refType="w"/>
                      <dgm:constr type="h" for="ch" forName="child2" refType="h"/>
                      <dgm:constr type="t" for="ch" forName="child2"/>
                      <dgm:constr type="l" for="ch" forName="child2"/>
                      <dgm:constr type="w" for="ch" forName="child2Text" refType="w" fact="0.7"/>
                      <dgm:constr type="h" for="ch" forName="child2Text" refType="h" fact="0.75"/>
                      <dgm:constr type="t" for="ch" forName="child2Text"/>
                      <dgm:constr type="l" for="ch" forName="child2Text"/>
                    </dgm:constrLst>
                  </dgm:else>
                </dgm:choose>
                <dgm:ruleLst/>
                <dgm:layoutNode name="child2" styleLbl="bgAcc1">
                  <dgm:alg type="sp"/>
                  <dgm:shape xmlns:r="http://schemas.openxmlformats.org/officeDocument/2006/relationships" type="roundRect" r:blip="" zOrderOff="-2">
                    <dgm:adjLst>
                      <dgm:adj idx="1" val="0.1"/>
                    </dgm:adjLst>
                  </dgm:shape>
                  <dgm:presOf axis="ch des" ptType="node node" st="2 1" cnt="1 0"/>
                  <dgm:constrLst/>
                  <dgm:ruleLst/>
                </dgm:layoutNode>
                <dgm:layoutNode name="child2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6"/>
          </dgm:choose>
          <dgm:choose name="Name17">
            <dgm:if name="Name18" axis="ch ch" ptType="node node" st="3 1" cnt="1 0" func="cnt" op="gte" val="1">
              <dgm:layoutNode name="child3group">
                <dgm:alg type="composite">
                  <dgm:param type="horzAlign" val="none"/>
                  <dgm:param type="vertAlign" val="none"/>
                </dgm:alg>
                <dgm:shape xmlns:r="http://schemas.openxmlformats.org/officeDocument/2006/relationships" r:blip="">
                  <dgm:adjLst/>
                </dgm:shape>
                <dgm:presOf/>
                <dgm:choose name="Name19">
                  <dgm:if name="Name20" func="var" arg="dir" op="equ" val="norm">
                    <dgm:constrLst>
                      <dgm:constr type="w" for="ch" forName="child3" refType="w"/>
                      <dgm:constr type="h" for="ch" forName="child3" refType="h"/>
                      <dgm:constr type="b" for="ch" forName="child3" refType="h"/>
                      <dgm:constr type="r" for="ch" forName="child3" refType="w"/>
                      <dgm:constr type="w" for="ch" forName="child3Text" refType="w" fact="0.7"/>
                      <dgm:constr type="h" for="ch" forName="child3Text" refType="h" fact="0.75"/>
                      <dgm:constr type="b" for="ch" forName="child3Text" refType="h"/>
                      <dgm:constr type="r" for="ch" forName="child3Text" refType="w"/>
                    </dgm:constrLst>
                  </dgm:if>
                  <dgm:else name="Name21">
                    <dgm:constrLst>
                      <dgm:constr type="w" for="ch" forName="child3" refType="w"/>
                      <dgm:constr type="h" for="ch" forName="child3" refType="h"/>
                      <dgm:constr type="b" for="ch" forName="child3" refType="h"/>
                      <dgm:constr type="l" for="ch" forName="child3"/>
                      <dgm:constr type="w" for="ch" forName="child3Text" refType="w" fact="0.7"/>
                      <dgm:constr type="h" for="ch" forName="child3Text" refType="h" fact="0.75"/>
                      <dgm:constr type="b" for="ch" forName="child3Text" refType="h"/>
                      <dgm:constr type="l" for="ch" forName="child3Text"/>
                    </dgm:constrLst>
                  </dgm:else>
                </dgm:choose>
                <dgm:ruleLst/>
                <dgm:layoutNode name="child3" styleLbl="bgAcc1">
                  <dgm:alg type="sp"/>
                  <dgm:shape xmlns:r="http://schemas.openxmlformats.org/officeDocument/2006/relationships" type="roundRect" r:blip="" zOrderOff="-4">
                    <dgm:adjLst>
                      <dgm:adj idx="1" val="0.1"/>
                    </dgm:adjLst>
                  </dgm:shape>
                  <dgm:presOf axis="ch des" ptType="node node" st="3 1" cnt="1 0"/>
                  <dgm:constrLst/>
                  <dgm:ruleLst/>
                </dgm:layoutNode>
                <dgm:layoutNode name="child3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2"/>
          </dgm:choose>
          <dgm:choose name="Name23">
            <dgm:if name="Name24" axis="ch ch" ptType="node node" st="4 1" cnt="1 0" func="cnt" op="gte" val="1">
              <dgm:layoutNode name="child4group">
                <dgm:alg type="composite">
                  <dgm:param type="horzAlign" val="none"/>
                  <dgm:param type="vertAlign" val="none"/>
                </dgm:alg>
                <dgm:shape xmlns:r="http://schemas.openxmlformats.org/officeDocument/2006/relationships" r:blip="">
                  <dgm:adjLst/>
                </dgm:shape>
                <dgm:presOf/>
                <dgm:choose name="Name25">
                  <dgm:if name="Name26" func="var" arg="dir" op="equ" val="norm">
                    <dgm:constrLst>
                      <dgm:constr type="w" for="ch" forName="child4" refType="w"/>
                      <dgm:constr type="h" for="ch" forName="child4" refType="h"/>
                      <dgm:constr type="b" for="ch" forName="child4" refType="h"/>
                      <dgm:constr type="l" for="ch" forName="child4"/>
                      <dgm:constr type="w" for="ch" forName="child4Text" refType="w" fact="0.7"/>
                      <dgm:constr type="h" for="ch" forName="child4Text" refType="h" fact="0.75"/>
                      <dgm:constr type="b" for="ch" forName="child4Text" refType="h"/>
                      <dgm:constr type="l" for="ch" forName="child4Text"/>
                    </dgm:constrLst>
                  </dgm:if>
                  <dgm:else name="Name27">
                    <dgm:constrLst>
                      <dgm:constr type="w" for="ch" forName="child4" refType="w"/>
                      <dgm:constr type="h" for="ch" forName="child4" refType="h"/>
                      <dgm:constr type="b" for="ch" forName="child4" refType="h"/>
                      <dgm:constr type="r" for="ch" forName="child4" refType="w"/>
                      <dgm:constr type="w" for="ch" forName="child4Text" refType="w" fact="0.7"/>
                      <dgm:constr type="h" for="ch" forName="child4Text" refType="h" fact="0.75"/>
                      <dgm:constr type="b" for="ch" forName="child4Text" refType="h"/>
                      <dgm:constr type="r" for="ch" forName="child4Text" refType="w"/>
                    </dgm:constrLst>
                  </dgm:else>
                </dgm:choose>
                <dgm:ruleLst/>
                <dgm:layoutNode name="child4" styleLbl="bgAcc1">
                  <dgm:alg type="sp"/>
                  <dgm:shape xmlns:r="http://schemas.openxmlformats.org/officeDocument/2006/relationships" type="roundRect" r:blip="" zOrderOff="-4">
                    <dgm:adjLst>
                      <dgm:adj idx="1" val="0.1"/>
                    </dgm:adjLst>
                  </dgm:shape>
                  <dgm:presOf axis="ch des" ptType="node node" st="4 1" cnt="1 0"/>
                  <dgm:constrLst/>
                  <dgm:ruleLst/>
                </dgm:layoutNode>
                <dgm:layoutNode name="child4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8"/>
          </dgm:choose>
          <dgm:layoutNode name="childPlaceholder">
            <dgm:alg type="sp"/>
            <dgm:shape xmlns:r="http://schemas.openxmlformats.org/officeDocument/2006/relationships" r:blip="">
              <dgm:adjLst/>
            </dgm:shape>
            <dgm:presOf/>
            <dgm:constrLst/>
            <dgm:ruleLst/>
          </dgm:layoutNode>
        </dgm:layoutNode>
        <dgm:layoutNode name="circle">
          <dgm:alg type="composite">
            <dgm:param type="ar" val="1"/>
          </dgm:alg>
          <dgm:shape xmlns:r="http://schemas.openxmlformats.org/officeDocument/2006/relationships" r:blip="">
            <dgm:adjLst/>
          </dgm:shape>
          <dgm:presOf/>
          <dgm:choose name="Name29">
            <dgm:if name="Name30" func="var" arg="dir" op="equ" val="norm">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r" for="ch" forName="quadrant1" refType="w" fact="0.5"/>
                <dgm:constr type="r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l" for="ch" forName="quadrant2" refType="w" fact="0.5"/>
                <dgm:constr type="l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l" for="ch" forName="quadrant3" refType="w" fact="0.5"/>
                <dgm:constr type="l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r" for="ch" forName="quadrant4" refType="w" fact="0.5"/>
                <dgm:constr type="rOff" for="ch" forName="quadrant4" refType="w" fact="-0.01"/>
              </dgm:constrLst>
            </dgm:if>
            <dgm:else name="Name31">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l" for="ch" forName="quadrant1" refType="w" fact="0.5"/>
                <dgm:constr type="l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r" for="ch" forName="quadrant2" refType="w" fact="0.5"/>
                <dgm:constr type="r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r" for="ch" forName="quadrant3" refType="w" fact="0.5"/>
                <dgm:constr type="r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l" for="ch" forName="quadrant4" refType="w" fact="0.5"/>
                <dgm:constr type="lOff" for="ch" forName="quadrant4" refType="w" fact="0.01"/>
              </dgm:constrLst>
            </dgm:else>
          </dgm:choose>
          <dgm:ruleLst/>
          <dgm:layoutNode name="quadrant1" styleLbl="node1">
            <dgm:varLst>
              <dgm:chMax val="1"/>
              <dgm:bulletEnabled val="1"/>
            </dgm:varLst>
            <dgm:alg type="tx"/>
            <dgm:choose name="Name32">
              <dgm:if name="Name33" func="var" arg="dir" op="equ" val="norm">
                <dgm:shape xmlns:r="http://schemas.openxmlformats.org/officeDocument/2006/relationships" type="pieWedge" r:blip="">
                  <dgm:adjLst/>
                </dgm:shape>
              </dgm:if>
              <dgm:else name="Name34">
                <dgm:shape xmlns:r="http://schemas.openxmlformats.org/officeDocument/2006/relationships" rot="90" type="pieWedge" r:blip="">
                  <dgm:adjLst/>
                </dgm:shape>
              </dgm:else>
            </dgm:choose>
            <dgm:presOf axis="ch" ptType="node" cnt="1"/>
            <dgm:constrLst/>
            <dgm:ruleLst>
              <dgm:rule type="primFontSz" val="5" fact="NaN" max="NaN"/>
            </dgm:ruleLst>
          </dgm:layoutNode>
          <dgm:layoutNode name="quadrant2" styleLbl="node1">
            <dgm:varLst>
              <dgm:chMax val="1"/>
              <dgm:bulletEnabled val="1"/>
            </dgm:varLst>
            <dgm:alg type="tx"/>
            <dgm:choose name="Name35">
              <dgm:if name="Name36" func="var" arg="dir" op="equ" val="norm">
                <dgm:shape xmlns:r="http://schemas.openxmlformats.org/officeDocument/2006/relationships" rot="90" type="pieWedge" r:blip="">
                  <dgm:adjLst/>
                </dgm:shape>
              </dgm:if>
              <dgm:else name="Name37">
                <dgm:shape xmlns:r="http://schemas.openxmlformats.org/officeDocument/2006/relationships" type="pieWedge" r:blip="">
                  <dgm:adjLst/>
                </dgm:shape>
              </dgm:else>
            </dgm:choose>
            <dgm:presOf axis="ch" ptType="node" st="2" cnt="1"/>
            <dgm:constrLst/>
            <dgm:ruleLst>
              <dgm:rule type="primFontSz" val="5" fact="NaN" max="NaN"/>
            </dgm:ruleLst>
          </dgm:layoutNode>
          <dgm:layoutNode name="quadrant3" styleLbl="node1">
            <dgm:varLst>
              <dgm:chMax val="1"/>
              <dgm:bulletEnabled val="1"/>
            </dgm:varLst>
            <dgm:alg type="tx"/>
            <dgm:choose name="Name38">
              <dgm:if name="Name39" func="var" arg="dir" op="equ" val="norm">
                <dgm:shape xmlns:r="http://schemas.openxmlformats.org/officeDocument/2006/relationships" rot="180" type="pieWedge" r:blip="">
                  <dgm:adjLst/>
                </dgm:shape>
              </dgm:if>
              <dgm:else name="Name40">
                <dgm:shape xmlns:r="http://schemas.openxmlformats.org/officeDocument/2006/relationships" rot="270" type="pieWedge" r:blip="">
                  <dgm:adjLst/>
                </dgm:shape>
              </dgm:else>
            </dgm:choose>
            <dgm:presOf axis="ch" ptType="node" st="3" cnt="1"/>
            <dgm:constrLst/>
            <dgm:ruleLst>
              <dgm:rule type="primFontSz" val="5" fact="NaN" max="NaN"/>
            </dgm:ruleLst>
          </dgm:layoutNode>
          <dgm:layoutNode name="quadrant4" styleLbl="node1">
            <dgm:varLst>
              <dgm:chMax val="1"/>
              <dgm:bulletEnabled val="1"/>
            </dgm:varLst>
            <dgm:alg type="tx"/>
            <dgm:choose name="Name41">
              <dgm:if name="Name42" func="var" arg="dir" op="equ" val="norm">
                <dgm:shape xmlns:r="http://schemas.openxmlformats.org/officeDocument/2006/relationships" rot="270" type="pieWedge" r:blip="">
                  <dgm:adjLst/>
                </dgm:shape>
              </dgm:if>
              <dgm:else name="Name43">
                <dgm:shape xmlns:r="http://schemas.openxmlformats.org/officeDocument/2006/relationships" rot="180" type="pieWedge" r:blip="">
                  <dgm:adjLst/>
                </dgm:shape>
              </dgm:else>
            </dgm:choose>
            <dgm:presOf axis="ch" ptType="node" st="4" cnt="1"/>
            <dgm:constrLst/>
            <dgm:ruleLst>
              <dgm:rule type="primFontSz" val="5" fact="NaN" max="NaN"/>
            </dgm:ruleLst>
          </dgm:layoutNode>
          <dgm:layoutNode name="quadrantPlaceholder">
            <dgm:alg type="sp"/>
            <dgm:shape xmlns:r="http://schemas.openxmlformats.org/officeDocument/2006/relationships" r:blip="">
              <dgm:adjLst/>
            </dgm:shape>
            <dgm:presOf/>
            <dgm:constrLst/>
            <dgm:ruleLst/>
          </dgm:layoutNode>
        </dgm:layoutNode>
        <dgm:layoutNode name="center1" styleLbl="fgShp">
          <dgm:alg type="sp"/>
          <dgm:choose name="Name44">
            <dgm:if name="Name45" func="var" arg="dir" op="equ" val="norm">
              <dgm:shape xmlns:r="http://schemas.openxmlformats.org/officeDocument/2006/relationships" type="circularArrow" r:blip="" zOrderOff="16">
                <dgm:adjLst/>
              </dgm:shape>
            </dgm:if>
            <dgm:else name="Name46">
              <dgm:shape xmlns:r="http://schemas.openxmlformats.org/officeDocument/2006/relationships" rot="180" type="leftCircularArrow" r:blip="" zOrderOff="16">
                <dgm:adjLst/>
              </dgm:shape>
            </dgm:else>
          </dgm:choose>
          <dgm:presOf/>
          <dgm:constrLst/>
          <dgm:ruleLst/>
        </dgm:layoutNode>
        <dgm:layoutNode name="center2" styleLbl="fgShp">
          <dgm:alg type="sp"/>
          <dgm:choose name="Name47">
            <dgm:if name="Name48" func="var" arg="dir" op="equ" val="norm">
              <dgm:shape xmlns:r="http://schemas.openxmlformats.org/officeDocument/2006/relationships" rot="180" type="circularArrow" r:blip="" zOrderOff="16">
                <dgm:adjLst/>
              </dgm:shape>
            </dgm:if>
            <dgm:else name="Name49">
              <dgm:shape xmlns:r="http://schemas.openxmlformats.org/officeDocument/2006/relationships" type="leftCircularArrow" r:blip="" zOrderOff="16">
                <dgm:adjLst/>
              </dgm:shape>
            </dgm:else>
          </dgm:choose>
          <dgm:presOf/>
          <dgm:constrLst/>
          <dgm:ruleLst/>
        </dgm:layoutNode>
      </dgm:if>
      <dgm:else name="Name50"/>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4E81A4-E5B4-4757-B9B9-98CCC4392A1A}" type="datetimeFigureOut">
              <a:rPr lang="en-GB" smtClean="0"/>
              <a:t>10/06/2026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BDBBCA-EE39-484F-850E-0B7BDF6E2436}" type="slidenum">
              <a:rPr lang="en-GB" smtClean="0"/>
              <a:t>‹#›</a:t>
            </a:fld>
            <a:endParaRPr lang="en-GB"/>
          </a:p>
        </p:txBody>
      </p:sp>
    </p:spTree>
    <p:extLst>
      <p:ext uri="{BB962C8B-B14F-4D97-AF65-F5344CB8AC3E}">
        <p14:creationId xmlns:p14="http://schemas.microsoft.com/office/powerpoint/2010/main" val="12160065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7" name="Google Shape;77;g35f391192_00:notes"/>
          <p:cNvSpPr txBox="1">
            <a:spLocks noGrp="1"/>
          </p:cNvSpPr>
          <p:nvPr>
            <p:ph type="body" idx="1"/>
          </p:nvPr>
        </p:nvSpPr>
        <p:spPr/>
        <p:txBody>
          <a:bodyPr/>
          <a:lstStyle/>
          <a:p>
            <a:r>
              <a:rPr lang="en-GB"/>
              <a:t>Introductions – who you are, which institution you're from, role in SGSSS</a:t>
            </a:r>
          </a:p>
        </p:txBody>
      </p:sp>
      <p:sp>
        <p:nvSpPr>
          <p:cNvPr id="3" name="Slide Image Placeholder 2"/>
          <p:cNvSpPr>
            <a:spLocks noGrp="1" noRot="1" noChangeAspect="1"/>
          </p:cNvSpPr>
          <p:nvPr>
            <p:ph type="sldImg"/>
          </p:nvPr>
        </p:nvSpPr>
        <p:spPr>
          <a:xfrm>
            <a:off x="1227138" y="763588"/>
            <a:ext cx="4357687" cy="2451100"/>
          </a:xfr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5f391192_057:notes"/>
          <p:cNvSpPr>
            <a:spLocks noGrp="1" noRot="1" noChangeAspect="1"/>
          </p:cNvSpPr>
          <p:nvPr>
            <p:ph type="sldImg" idx="2"/>
          </p:nvPr>
        </p:nvSpPr>
        <p:spPr>
          <a:xfrm>
            <a:off x="-5634038" y="2032000"/>
            <a:ext cx="18078451" cy="1016952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35f391192_057:notes"/>
          <p:cNvSpPr txBox="1">
            <a:spLocks noGrp="1"/>
          </p:cNvSpPr>
          <p:nvPr>
            <p:ph type="body" idx="1"/>
          </p:nvPr>
        </p:nvSpPr>
        <p:spPr>
          <a:xfrm>
            <a:off x="681038" y="12880073"/>
            <a:ext cx="5448300" cy="12202176"/>
          </a:xfrm>
          <a:prstGeom prst="rect">
            <a:avLst/>
          </a:prstGeom>
        </p:spPr>
        <p:txBody>
          <a:bodyPr spcFirstLastPara="1" wrap="square" lIns="150001" tIns="150001" rIns="150001" bIns="150001" anchor="t" anchorCtr="0">
            <a:noAutofit/>
          </a:bodyPr>
          <a:lstStyle/>
          <a:p>
            <a:pPr marL="0" indent="0">
              <a:buNone/>
            </a:pPr>
            <a:endParaRPr dirty="0"/>
          </a:p>
        </p:txBody>
      </p:sp>
    </p:spTree>
    <p:extLst>
      <p:ext uri="{BB962C8B-B14F-4D97-AF65-F5344CB8AC3E}">
        <p14:creationId xmlns:p14="http://schemas.microsoft.com/office/powerpoint/2010/main" val="498584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2549B9-3D97-9372-BC78-71DDE06EF0CC}"/>
            </a:ext>
          </a:extLst>
        </p:cNvPr>
        <p:cNvGrpSpPr/>
        <p:nvPr/>
      </p:nvGrpSpPr>
      <p:grpSpPr>
        <a:xfrm>
          <a:off x="0" y="0"/>
          <a:ext cx="0" cy="0"/>
          <a:chOff x="0" y="0"/>
          <a:chExt cx="0" cy="0"/>
        </a:xfrm>
      </p:grpSpPr>
      <p:sp>
        <p:nvSpPr>
          <p:cNvPr id="3" name="Notes Placeholder 2">
            <a:extLst>
              <a:ext uri="{FF2B5EF4-FFF2-40B4-BE49-F238E27FC236}">
                <a16:creationId xmlns:a16="http://schemas.microsoft.com/office/drawing/2014/main" id="{7E3FFBEF-367B-BC50-4587-ADC704CD544A}"/>
              </a:ext>
            </a:extLst>
          </p:cNvPr>
          <p:cNvSpPr>
            <a:spLocks noGrp="1"/>
          </p:cNvSpPr>
          <p:nvPr>
            <p:ph type="body" idx="1"/>
          </p:nvPr>
        </p:nvSpPr>
        <p:spPr/>
        <p:txBody>
          <a:bodyPr/>
          <a:lstStyle/>
          <a:p>
            <a:endParaRPr lang="en-GB" dirty="0"/>
          </a:p>
        </p:txBody>
      </p:sp>
      <p:sp>
        <p:nvSpPr>
          <p:cNvPr id="5" name="Slide Image Placeholder 4">
            <a:extLst>
              <a:ext uri="{FF2B5EF4-FFF2-40B4-BE49-F238E27FC236}">
                <a16:creationId xmlns:a16="http://schemas.microsoft.com/office/drawing/2014/main" id="{973A6A17-B14B-E18F-9F5E-E77EDC8C1823}"/>
              </a:ext>
            </a:extLst>
          </p:cNvPr>
          <p:cNvSpPr>
            <a:spLocks noGrp="1" noRot="1" noChangeAspect="1"/>
          </p:cNvSpPr>
          <p:nvPr>
            <p:ph type="sldImg"/>
          </p:nvPr>
        </p:nvSpPr>
        <p:spPr>
          <a:xfrm>
            <a:off x="1227138" y="763588"/>
            <a:ext cx="4357687" cy="2451100"/>
          </a:xfrm>
        </p:spPr>
      </p:sp>
    </p:spTree>
    <p:extLst>
      <p:ext uri="{BB962C8B-B14F-4D97-AF65-F5344CB8AC3E}">
        <p14:creationId xmlns:p14="http://schemas.microsoft.com/office/powerpoint/2010/main" val="30131044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dirty="0"/>
          </a:p>
        </p:txBody>
      </p:sp>
      <p:sp>
        <p:nvSpPr>
          <p:cNvPr id="5" name="Slide Image Placeholder 4"/>
          <p:cNvSpPr>
            <a:spLocks noGrp="1" noRot="1" noChangeAspect="1"/>
          </p:cNvSpPr>
          <p:nvPr>
            <p:ph type="sldImg"/>
          </p:nvPr>
        </p:nvSpPr>
        <p:spPr>
          <a:xfrm>
            <a:off x="1227138" y="763588"/>
            <a:ext cx="4357687" cy="2451100"/>
          </a:xfrm>
        </p:spPr>
      </p:sp>
    </p:spTree>
    <p:extLst>
      <p:ext uri="{BB962C8B-B14F-4D97-AF65-F5344CB8AC3E}">
        <p14:creationId xmlns:p14="http://schemas.microsoft.com/office/powerpoint/2010/main" val="37516857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Signal that in the step-by-step guide will walk through different ways of doing it – feel free to try them all, or just stick with the one that seems fastest and easiest for you</a:t>
            </a:r>
          </a:p>
          <a:p>
            <a:endParaRPr lang="en-GB"/>
          </a:p>
          <a:p>
            <a:r>
              <a:rPr lang="en-GB"/>
              <a:t>NOTE: as we import files, we have the option of creating ‘cases’ for the files we upload – we will do this for SOME of the files (individual interviews) as they are only one person, but not for all of them (e.g. lit, project files, and </a:t>
            </a:r>
            <a:r>
              <a:rPr lang="en-GB" err="1"/>
              <a:t>FGDs</a:t>
            </a:r>
            <a:r>
              <a:rPr lang="en-GB"/>
              <a:t> don’t map on to our ‘cases’ of people)</a:t>
            </a:r>
          </a:p>
        </p:txBody>
      </p:sp>
      <p:sp>
        <p:nvSpPr>
          <p:cNvPr id="4" name="Slide Number Placeholder 3"/>
          <p:cNvSpPr>
            <a:spLocks noGrp="1"/>
          </p:cNvSpPr>
          <p:nvPr>
            <p:ph type="sldNum" sz="quarter" idx="5"/>
          </p:nvPr>
        </p:nvSpPr>
        <p:spPr/>
        <p:txBody>
          <a:bodyPr/>
          <a:lstStyle/>
          <a:p>
            <a:fld id="{9E0105DB-E0CE-43F5-9ED7-47CEE6722596}" type="slidenum">
              <a:rPr lang="en-GB" smtClean="0"/>
              <a:t>16</a:t>
            </a:fld>
            <a:endParaRPr lang="en-GB"/>
          </a:p>
        </p:txBody>
      </p:sp>
    </p:spTree>
    <p:extLst>
      <p:ext uri="{BB962C8B-B14F-4D97-AF65-F5344CB8AC3E}">
        <p14:creationId xmlns:p14="http://schemas.microsoft.com/office/powerpoint/2010/main" val="24338051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gn="just">
              <a:lnSpc>
                <a:spcPct val="107000"/>
              </a:lnSpc>
              <a:spcBef>
                <a:spcPts val="0"/>
              </a:spcBef>
              <a:spcAft>
                <a:spcPts val="800"/>
              </a:spcAft>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There are no rules on how best to organize your folders. </a:t>
            </a:r>
            <a:r>
              <a:rPr lang="en-GB" sz="1800" kern="100" dirty="0">
                <a:effectLst/>
                <a:latin typeface="Calibri" panose="020F0502020204030204" pitchFamily="34" charset="0"/>
                <a:ea typeface="Calibri" panose="020F0502020204030204" pitchFamily="34" charset="0"/>
                <a:cs typeface="Calibri" panose="020F0502020204030204" pitchFamily="34" charset="0"/>
              </a:rPr>
              <a:t>The number, type and level of sub-folders is only limited by what seems useful to you, the researcher. For example, you could develop a folder category for ‘Published literature’. Such material (e.g. PDFs) can also be brought into NVivo and coded alongside your own field data. You could create a top-level ‘folder’ called ‘Literature’ and divide that with sub-folders for academic papers, traditional media (newspaper articles and other formal media), social media and for policy documents, etc. You could further divide these folders (i.e. ‘Academic papers’ with sub-folders like ‘theory’, ‘sustainability’, ‘community’ etc.) but these may be unnecessary as this can also be done with coding. Another useful top-level sub-folder might be ‘research tools’ and within that we could list interview schedule, focus group questions, etc.</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Remember that you will be able to link all your files through to cases (grouping them by individual people or places). As you begin to set up a new project, take a </a:t>
            </a:r>
            <a:r>
              <a:rPr lang="en-GB" sz="1800" kern="100" dirty="0">
                <a:effectLst/>
                <a:latin typeface="Calibri" panose="020F0502020204030204" pitchFamily="34" charset="0"/>
                <a:ea typeface="Calibri" panose="020F0502020204030204" pitchFamily="34" charset="0"/>
                <a:cs typeface="Calibri" panose="020F0502020204030204" pitchFamily="34" charset="0"/>
              </a:rPr>
              <a:t>few minutes creating some new sub-folders based on what you want to do within NVivo. Think about ‘good housekeeping’, clear naming and logical folder hierarchies. </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GB" dirty="0"/>
          </a:p>
        </p:txBody>
      </p:sp>
      <p:sp>
        <p:nvSpPr>
          <p:cNvPr id="4" name="Slide Number Placeholder 3"/>
          <p:cNvSpPr>
            <a:spLocks noGrp="1"/>
          </p:cNvSpPr>
          <p:nvPr>
            <p:ph type="sldNum" sz="quarter" idx="5"/>
          </p:nvPr>
        </p:nvSpPr>
        <p:spPr/>
        <p:txBody>
          <a:bodyPr/>
          <a:lstStyle/>
          <a:p>
            <a:fld id="{A6869D63-CECF-42CF-AF64-C9A58D9D6E0E}" type="slidenum">
              <a:rPr lang="en-GB" smtClean="0"/>
              <a:t>17</a:t>
            </a:fld>
            <a:endParaRPr lang="en-GB"/>
          </a:p>
        </p:txBody>
      </p:sp>
    </p:spTree>
    <p:extLst>
      <p:ext uri="{BB962C8B-B14F-4D97-AF65-F5344CB8AC3E}">
        <p14:creationId xmlns:p14="http://schemas.microsoft.com/office/powerpoint/2010/main" val="17744103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gn="just">
              <a:lnSpc>
                <a:spcPct val="107000"/>
              </a:lnSpc>
              <a:spcBef>
                <a:spcPts val="800"/>
              </a:spcBef>
              <a:spcAft>
                <a:spcPts val="400"/>
              </a:spcAft>
            </a:pPr>
            <a:r>
              <a:rPr lang="en-GB" sz="1800" b="1" kern="10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t>Iterative coding</a:t>
            </a:r>
          </a:p>
          <a:p>
            <a:pPr marL="0" marR="0" algn="just">
              <a:lnSpc>
                <a:spcPct val="107000"/>
              </a:lnSpc>
              <a:spcBef>
                <a:spcPts val="0"/>
              </a:spcBef>
              <a:spcAft>
                <a:spcPts val="800"/>
              </a:spcAft>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Sorry folks, qualitative coding is far from one-and-done. Coding is a cyclical, ongoing process. Interviews cannot be read and coded just once. As we re-read our datasets, we continue to develop new codes and subcodes, and refine our understanding of the data. Each time we read our material, we gain a deeper level of understanding each time we read our transcripts. With each pass, we will notice new things, which may prompt us to read new academic articles or ask different questions. This work will in turn shape what we see and understand in our next reading of the dataset.</a:t>
            </a:r>
          </a:p>
          <a:p>
            <a:pPr marL="0" marR="0" algn="just">
              <a:lnSpc>
                <a:spcPct val="107000"/>
              </a:lnSpc>
              <a:spcBef>
                <a:spcPts val="0"/>
              </a:spcBef>
              <a:spcAft>
                <a:spcPts val="800"/>
              </a:spcAft>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NVivo is a powerful tool to help us find and explore the connections to be found within our qualitative data, but ultimately finding those connections is down to the researcher.  While in NVivo you can ‘auto code’, I hesitate to recommend this and would actively advise against auto coding until you’ve done at least 2-3 rounds of coding already. </a:t>
            </a:r>
          </a:p>
          <a:p>
            <a:endParaRPr lang="en-GB" dirty="0"/>
          </a:p>
          <a:p>
            <a:endParaRPr lang="en-GB" dirty="0"/>
          </a:p>
          <a:p>
            <a:pPr marL="0" marR="0" algn="just">
              <a:lnSpc>
                <a:spcPct val="107000"/>
              </a:lnSpc>
              <a:spcBef>
                <a:spcPts val="800"/>
              </a:spcBef>
              <a:spcAft>
                <a:spcPts val="400"/>
              </a:spcAft>
            </a:pPr>
            <a:r>
              <a:rPr lang="en-GB" sz="1800" b="1" kern="10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t>Deductive vs Inductive Coding </a:t>
            </a:r>
          </a:p>
          <a:p>
            <a:pPr marL="0" marR="0" algn="just">
              <a:lnSpc>
                <a:spcPct val="107000"/>
              </a:lnSpc>
              <a:spcBef>
                <a:spcPts val="0"/>
              </a:spcBef>
              <a:spcAft>
                <a:spcPts val="800"/>
              </a:spcAft>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In </a:t>
            </a: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deductive</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coding, you approach your dataset with a pre-established list of codes (based off existing theoretical frameworks or organizational element). This is a more top-down, etic approach that is most useful for confirming or testing existing theories, or imposing organizational and structure into your file (e.g. coding by interview guide or research questions). Conversely, </a:t>
            </a: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inductive</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coding occurs when you allow codes to emerge from your engagement with the dataset itself, with no preconceived categories. This is a bottom up, emic approach to coding. Your own approach may be heavily influenced by your discipline, research aims, and research questions. However, most work will be situated in a hybrid space between the two. </a:t>
            </a:r>
          </a:p>
          <a:p>
            <a:endParaRPr lang="en-GB" dirty="0"/>
          </a:p>
        </p:txBody>
      </p:sp>
      <p:sp>
        <p:nvSpPr>
          <p:cNvPr id="4" name="Slide Number Placeholder 3"/>
          <p:cNvSpPr>
            <a:spLocks noGrp="1"/>
          </p:cNvSpPr>
          <p:nvPr>
            <p:ph type="sldNum" sz="quarter" idx="5"/>
          </p:nvPr>
        </p:nvSpPr>
        <p:spPr/>
        <p:txBody>
          <a:bodyPr/>
          <a:lstStyle/>
          <a:p>
            <a:fld id="{9E0105DB-E0CE-43F5-9ED7-47CEE6722596}" type="slidenum">
              <a:rPr lang="en-GB" smtClean="0"/>
              <a:t>19</a:t>
            </a:fld>
            <a:endParaRPr lang="en-GB"/>
          </a:p>
        </p:txBody>
      </p:sp>
    </p:spTree>
    <p:extLst>
      <p:ext uri="{BB962C8B-B14F-4D97-AF65-F5344CB8AC3E}">
        <p14:creationId xmlns:p14="http://schemas.microsoft.com/office/powerpoint/2010/main" val="28451970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gn="just">
              <a:lnSpc>
                <a:spcPct val="107000"/>
              </a:lnSpc>
              <a:spcBef>
                <a:spcPts val="0"/>
              </a:spcBef>
              <a:spcAft>
                <a:spcPts val="800"/>
              </a:spcAft>
            </a:pPr>
            <a:r>
              <a:rPr lang="en-GB" sz="1100" kern="100" dirty="0">
                <a:effectLst/>
                <a:latin typeface="Calibri" panose="020F0502020204030204" pitchFamily="34" charset="0"/>
                <a:ea typeface="Calibri" panose="020F0502020204030204" pitchFamily="34" charset="0"/>
                <a:cs typeface="Calibri" panose="020F0502020204030204" pitchFamily="34" charset="0"/>
              </a:rPr>
              <a:t>A powerful form of coding is hierarchical tree coding. Generally, this format will emerge after initial open coding. We usually do not begin our coding by creating hierarchies/trees. Instead, between coding rounds you should reflect on your codes and the relationships between them. </a:t>
            </a:r>
            <a:endParaRPr lang="en-GB"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GB" sz="1100" kern="100" dirty="0">
                <a:effectLst/>
                <a:latin typeface="Calibri" panose="020F0502020204030204" pitchFamily="34" charset="0"/>
                <a:ea typeface="Calibri" panose="020F0502020204030204" pitchFamily="34" charset="0"/>
                <a:cs typeface="Calibri" panose="020F0502020204030204" pitchFamily="34" charset="0"/>
              </a:rPr>
              <a:t>Some questions to reflect on with examples below: </a:t>
            </a:r>
            <a:endParaRPr lang="en-GB"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gn="just">
              <a:lnSpc>
                <a:spcPct val="107000"/>
              </a:lnSpc>
              <a:spcBef>
                <a:spcPts val="0"/>
              </a:spcBef>
              <a:spcAft>
                <a:spcPts val="0"/>
              </a:spcAft>
              <a:buFont typeface="+mj-lt"/>
              <a:buAutoNum type="alphaLcParenR"/>
            </a:pPr>
            <a:r>
              <a:rPr lang="en-GB" sz="1100" kern="100" dirty="0">
                <a:effectLst/>
                <a:latin typeface="Calibri" panose="020F0502020204030204" pitchFamily="34" charset="0"/>
                <a:ea typeface="Calibri" panose="020F0502020204030204" pitchFamily="34" charset="0"/>
                <a:cs typeface="Calibri" panose="020F0502020204030204" pitchFamily="34" charset="0"/>
              </a:rPr>
              <a:t>Do any codes refer to a theme or idea that may be experienced in a number of different ways (different sources, targets, circumstances, etc.)?</a:t>
            </a:r>
            <a:endParaRPr lang="en-GB"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gn="just">
              <a:lnSpc>
                <a:spcPct val="107000"/>
              </a:lnSpc>
              <a:spcBef>
                <a:spcPts val="0"/>
              </a:spcBef>
              <a:spcAft>
                <a:spcPts val="0"/>
              </a:spcAft>
              <a:buFont typeface="+mj-lt"/>
              <a:buAutoNum type="alphaLcParenR"/>
            </a:pPr>
            <a:r>
              <a:rPr lang="en-GB" sz="1100" kern="100" dirty="0">
                <a:effectLst/>
                <a:latin typeface="Calibri" panose="020F0502020204030204" pitchFamily="34" charset="0"/>
                <a:ea typeface="Calibri" panose="020F0502020204030204" pitchFamily="34" charset="0"/>
                <a:cs typeface="Calibri" panose="020F0502020204030204" pitchFamily="34" charset="0"/>
              </a:rPr>
              <a:t>Are there any common categories that would be useful to think with across many codes and examples? </a:t>
            </a:r>
            <a:endParaRPr lang="en-GB"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gn="just">
              <a:lnSpc>
                <a:spcPct val="107000"/>
              </a:lnSpc>
              <a:spcBef>
                <a:spcPts val="0"/>
              </a:spcBef>
              <a:spcAft>
                <a:spcPts val="800"/>
              </a:spcAft>
              <a:buFont typeface="+mj-lt"/>
              <a:buAutoNum type="alphaLcParenR"/>
            </a:pPr>
            <a:r>
              <a:rPr lang="en-GB" sz="1100" kern="100" dirty="0">
                <a:effectLst/>
                <a:latin typeface="Calibri" panose="020F0502020204030204" pitchFamily="34" charset="0"/>
                <a:ea typeface="Calibri" panose="020F0502020204030204" pitchFamily="34" charset="0"/>
                <a:cs typeface="Calibri" panose="020F0502020204030204" pitchFamily="34" charset="0"/>
              </a:rPr>
              <a:t>Do some of your codes exist within a common theme that could become a parent code? </a:t>
            </a:r>
            <a:endParaRPr lang="en-GB" sz="11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GB" dirty="0"/>
          </a:p>
        </p:txBody>
      </p:sp>
      <p:sp>
        <p:nvSpPr>
          <p:cNvPr id="4" name="Slide Number Placeholder 3"/>
          <p:cNvSpPr>
            <a:spLocks noGrp="1"/>
          </p:cNvSpPr>
          <p:nvPr>
            <p:ph type="sldNum" sz="quarter" idx="5"/>
          </p:nvPr>
        </p:nvSpPr>
        <p:spPr/>
        <p:txBody>
          <a:bodyPr/>
          <a:lstStyle/>
          <a:p>
            <a:fld id="{9E0105DB-E0CE-43F5-9ED7-47CEE6722596}" type="slidenum">
              <a:rPr lang="en-GB" smtClean="0"/>
              <a:t>22</a:t>
            </a:fld>
            <a:endParaRPr lang="en-GB"/>
          </a:p>
        </p:txBody>
      </p:sp>
    </p:spTree>
    <p:extLst>
      <p:ext uri="{BB962C8B-B14F-4D97-AF65-F5344CB8AC3E}">
        <p14:creationId xmlns:p14="http://schemas.microsoft.com/office/powerpoint/2010/main" val="13611678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AFTER THIS SLIDE – pull up NVivo project and open codes </a:t>
            </a:r>
            <a:r>
              <a:rPr lang="en-GB" dirty="0">
                <a:sym typeface="Wingdings" panose="05000000000000000000" pitchFamily="2" charset="2"/>
              </a:rPr>
              <a:t> group brainstorm to look at the existing codes -&gt; </a:t>
            </a:r>
          </a:p>
          <a:p>
            <a:r>
              <a:rPr lang="en-GB" dirty="0">
                <a:sym typeface="Wingdings" panose="05000000000000000000" pitchFamily="2" charset="2"/>
              </a:rPr>
              <a:t>--can some be merged? </a:t>
            </a:r>
          </a:p>
          <a:p>
            <a:r>
              <a:rPr lang="en-GB" dirty="0">
                <a:sym typeface="Wingdings" panose="05000000000000000000" pitchFamily="2" charset="2"/>
              </a:rPr>
              <a:t>--are some related under a shared heading we can add? </a:t>
            </a:r>
          </a:p>
          <a:p>
            <a:r>
              <a:rPr lang="en-GB" dirty="0">
                <a:sym typeface="Wingdings" panose="05000000000000000000" pitchFamily="2" charset="2"/>
              </a:rPr>
              <a:t>--are some good candidates to be a top code that we dig into deeper in the next step?	</a:t>
            </a:r>
            <a:endParaRPr lang="en-GB" dirty="0"/>
          </a:p>
        </p:txBody>
      </p:sp>
      <p:sp>
        <p:nvSpPr>
          <p:cNvPr id="4" name="Slide Number Placeholder 3"/>
          <p:cNvSpPr>
            <a:spLocks noGrp="1"/>
          </p:cNvSpPr>
          <p:nvPr>
            <p:ph type="sldNum" sz="quarter" idx="5"/>
          </p:nvPr>
        </p:nvSpPr>
        <p:spPr/>
        <p:txBody>
          <a:bodyPr/>
          <a:lstStyle/>
          <a:p>
            <a:fld id="{9E0105DB-E0CE-43F5-9ED7-47CEE6722596}" type="slidenum">
              <a:rPr lang="en-GB" smtClean="0"/>
              <a:t>23</a:t>
            </a:fld>
            <a:endParaRPr lang="en-GB"/>
          </a:p>
        </p:txBody>
      </p:sp>
    </p:spTree>
    <p:extLst>
      <p:ext uri="{BB962C8B-B14F-4D97-AF65-F5344CB8AC3E}">
        <p14:creationId xmlns:p14="http://schemas.microsoft.com/office/powerpoint/2010/main" val="17256990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Right click -&gt; new annotation</a:t>
            </a:r>
          </a:p>
          <a:p>
            <a:r>
              <a:rPr lang="en-GB" b="1" dirty="0"/>
              <a:t>Or small text bubble on the edit panel</a:t>
            </a:r>
          </a:p>
          <a:p>
            <a:endParaRPr lang="en-GB"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sz="1800" b="1" i="1" kern="100" dirty="0">
                <a:effectLst/>
                <a:latin typeface="Calibri" panose="020F0502020204030204" pitchFamily="34" charset="0"/>
                <a:ea typeface="Calibri" panose="020F0502020204030204" pitchFamily="34" charset="0"/>
                <a:cs typeface="Calibri" panose="020F0502020204030204" pitchFamily="34" charset="0"/>
              </a:rPr>
              <a:t>Annotations</a:t>
            </a:r>
            <a:r>
              <a:rPr lang="en-GB" sz="1800" i="1" kern="100" dirty="0">
                <a:effectLst/>
                <a:latin typeface="Calibri" panose="020F0502020204030204" pitchFamily="34" charset="0"/>
                <a:ea typeface="Calibri" panose="020F0502020204030204" pitchFamily="34" charset="0"/>
                <a:cs typeface="Calibri" panose="020F0502020204030204" pitchFamily="34" charset="0"/>
              </a:rPr>
              <a:t> </a:t>
            </a:r>
            <a:r>
              <a:rPr lang="en-GB" sz="1800" kern="100" dirty="0">
                <a:effectLst/>
                <a:latin typeface="Calibri" panose="020F0502020204030204" pitchFamily="34" charset="0"/>
                <a:ea typeface="Calibri" panose="020F0502020204030204" pitchFamily="34" charset="0"/>
                <a:cs typeface="Calibri" panose="020F0502020204030204" pitchFamily="34" charset="0"/>
              </a:rPr>
              <a:t>act like sticky-notes that you can affix to a file to record thoughts, reflections, or questions (much like adding a comment to a Word document or PDF). Annotated sections will be highlighted and text recorded in an annotation tab at the bottom of the page.</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GB" b="1" dirty="0"/>
          </a:p>
        </p:txBody>
      </p:sp>
      <p:sp>
        <p:nvSpPr>
          <p:cNvPr id="4" name="Slide Number Placeholder 3"/>
          <p:cNvSpPr>
            <a:spLocks noGrp="1"/>
          </p:cNvSpPr>
          <p:nvPr>
            <p:ph type="sldNum" sz="quarter" idx="5"/>
          </p:nvPr>
        </p:nvSpPr>
        <p:spPr/>
        <p:txBody>
          <a:bodyPr/>
          <a:lstStyle/>
          <a:p>
            <a:fld id="{9E0105DB-E0CE-43F5-9ED7-47CEE6722596}" type="slidenum">
              <a:rPr lang="en-GB" smtClean="0"/>
              <a:t>24</a:t>
            </a:fld>
            <a:endParaRPr lang="en-GB"/>
          </a:p>
        </p:txBody>
      </p:sp>
    </p:spTree>
    <p:extLst>
      <p:ext uri="{BB962C8B-B14F-4D97-AF65-F5344CB8AC3E}">
        <p14:creationId xmlns:p14="http://schemas.microsoft.com/office/powerpoint/2010/main" val="531192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1" i="1" kern="100" dirty="0">
                <a:effectLst/>
                <a:latin typeface="Calibri" panose="020F0502020204030204" pitchFamily="34" charset="0"/>
                <a:ea typeface="Calibri" panose="020F0502020204030204" pitchFamily="34" charset="0"/>
                <a:cs typeface="Times New Roman" panose="02020603050405020304" pitchFamily="18" charset="0"/>
              </a:rPr>
              <a:t>Memos</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are separate pages you can create to </a:t>
            </a:r>
            <a:r>
              <a:rPr lang="en-GB" sz="1800" kern="100" dirty="0">
                <a:effectLst/>
                <a:latin typeface="Calibri" panose="020F0502020204030204" pitchFamily="34" charset="0"/>
                <a:ea typeface="Calibri" panose="020F0502020204030204" pitchFamily="34" charset="0"/>
                <a:cs typeface="Calibri" panose="020F0502020204030204" pitchFamily="34" charset="0"/>
              </a:rPr>
              <a:t>record the ideas, insights, interpretations/understandings of the material in your project. They provide a way to keep your analysis separate from (but linked to) the material you are analysing.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800" kern="100" dirty="0">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800" kern="100" dirty="0">
              <a:effectLst/>
              <a:latin typeface="Calibri" panose="020F0502020204030204" pitchFamily="34" charset="0"/>
              <a:ea typeface="Calibri" panose="020F0502020204030204" pitchFamily="34" charset="0"/>
              <a:cs typeface="Calibri" panose="020F0502020204030204" pitchFamily="34" charset="0"/>
            </a:endParaRPr>
          </a:p>
          <a:p>
            <a:pPr marL="0" marR="0" algn="just">
              <a:lnSpc>
                <a:spcPct val="107000"/>
              </a:lnSpc>
              <a:spcBef>
                <a:spcPts val="0"/>
              </a:spcBef>
              <a:spcAft>
                <a:spcPts val="800"/>
              </a:spcAft>
            </a:pPr>
            <a:r>
              <a:rPr lang="en-GB" sz="1100" kern="100" dirty="0">
                <a:effectLst/>
                <a:latin typeface="Calibri" panose="020F0502020204030204" pitchFamily="34" charset="0"/>
                <a:ea typeface="Calibri" panose="020F0502020204030204" pitchFamily="34" charset="0"/>
                <a:cs typeface="Calibri" panose="020F0502020204030204" pitchFamily="34" charset="0"/>
              </a:rPr>
              <a:t>Memos are a space for you to record the ideas, insights, interpretations/understandings of the material in your project. You can organize you ‘memos’ section much the way you organize your files – creating different folders and subfolders and populating them with relevant files. The main difference between this space and your ‘files’ space above is that ‘memos’ provide a way to keep your analysis separate from (but linked to) the material you are analysing.  Memos are a space for you to talk to yourself as a researcher and work though ideas, next steps, and overviews. They can be an important element of analysis and writing-up. They can also be coded. </a:t>
            </a:r>
            <a:endParaRPr lang="en-GB"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GB" sz="1100" kern="100" dirty="0">
                <a:effectLst/>
                <a:latin typeface="Calibri" panose="020F0502020204030204" pitchFamily="34" charset="0"/>
                <a:ea typeface="Calibri" panose="020F0502020204030204" pitchFamily="34" charset="0"/>
                <a:cs typeface="Calibri" panose="020F0502020204030204" pitchFamily="34" charset="0"/>
              </a:rPr>
              <a:t>Some ideas on how to use memos: </a:t>
            </a:r>
            <a:endParaRPr lang="en-GB"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mj-lt"/>
              <a:buAutoNum type="romanLcParenR"/>
            </a:pPr>
            <a:r>
              <a:rPr lang="en-GB" sz="1100" i="1" kern="100" dirty="0">
                <a:effectLst/>
                <a:latin typeface="Calibri" panose="020F0502020204030204" pitchFamily="34" charset="0"/>
                <a:ea typeface="Calibri" panose="020F0502020204030204" pitchFamily="34" charset="0"/>
                <a:cs typeface="Calibri" panose="020F0502020204030204" pitchFamily="34" charset="0"/>
              </a:rPr>
              <a:t>Project-oriented Memos. </a:t>
            </a:r>
            <a:r>
              <a:rPr lang="en-GB" sz="1100" kern="100" dirty="0">
                <a:effectLst/>
                <a:latin typeface="Calibri" panose="020F0502020204030204" pitchFamily="34" charset="0"/>
                <a:ea typeface="Calibri" panose="020F0502020204030204" pitchFamily="34" charset="0"/>
                <a:cs typeface="Calibri" panose="020F0502020204030204" pitchFamily="34" charset="0"/>
              </a:rPr>
              <a:t>Some good examples would be </a:t>
            </a:r>
            <a:endParaRPr lang="en-GB"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gn="just">
              <a:lnSpc>
                <a:spcPct val="115000"/>
              </a:lnSpc>
              <a:spcBef>
                <a:spcPts val="0"/>
              </a:spcBef>
              <a:spcAft>
                <a:spcPts val="1000"/>
              </a:spcAft>
              <a:buFont typeface="+mj-lt"/>
              <a:buAutoNum type="alphaLcPeriod"/>
            </a:pPr>
            <a:r>
              <a:rPr lang="en-GB" sz="1100" kern="100" dirty="0">
                <a:effectLst/>
                <a:latin typeface="Calibri" panose="020F0502020204030204" pitchFamily="34" charset="0"/>
                <a:ea typeface="Calibri" panose="020F0502020204030204" pitchFamily="34" charset="0"/>
                <a:cs typeface="Calibri" panose="020F0502020204030204" pitchFamily="34" charset="0"/>
              </a:rPr>
              <a:t>‘</a:t>
            </a:r>
            <a:r>
              <a:rPr lang="en-GB" sz="1100" b="1" kern="100" dirty="0">
                <a:effectLst/>
                <a:latin typeface="Calibri" panose="020F0502020204030204" pitchFamily="34" charset="0"/>
                <a:ea typeface="Calibri" panose="020F0502020204030204" pitchFamily="34" charset="0"/>
                <a:cs typeface="Calibri" panose="020F0502020204030204" pitchFamily="34" charset="0"/>
              </a:rPr>
              <a:t>Project aims and objectives</a:t>
            </a:r>
            <a:r>
              <a:rPr lang="en-GB" sz="1100" kern="100" dirty="0">
                <a:effectLst/>
                <a:latin typeface="Calibri" panose="020F0502020204030204" pitchFamily="34" charset="0"/>
                <a:ea typeface="Calibri" panose="020F0502020204030204" pitchFamily="34" charset="0"/>
                <a:cs typeface="Calibri" panose="020F0502020204030204" pitchFamily="34" charset="0"/>
              </a:rPr>
              <a:t>’ (so these are always uppermost in our minds) </a:t>
            </a:r>
            <a:endParaRPr lang="en-GB"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gn="just">
              <a:lnSpc>
                <a:spcPct val="115000"/>
              </a:lnSpc>
              <a:spcBef>
                <a:spcPts val="0"/>
              </a:spcBef>
              <a:spcAft>
                <a:spcPts val="1000"/>
              </a:spcAft>
              <a:buFont typeface="+mj-lt"/>
              <a:buAutoNum type="alphaLcPeriod"/>
            </a:pPr>
            <a:r>
              <a:rPr lang="en-GB" sz="1100" kern="100" dirty="0">
                <a:effectLst/>
                <a:latin typeface="Calibri" panose="020F0502020204030204" pitchFamily="34" charset="0"/>
                <a:ea typeface="Calibri" panose="020F0502020204030204" pitchFamily="34" charset="0"/>
                <a:cs typeface="Calibri" panose="020F0502020204030204" pitchFamily="34" charset="0"/>
              </a:rPr>
              <a:t>A ‘</a:t>
            </a:r>
            <a:r>
              <a:rPr lang="en-GB" sz="1100" b="1" kern="100" dirty="0">
                <a:effectLst/>
                <a:latin typeface="Calibri" panose="020F0502020204030204" pitchFamily="34" charset="0"/>
                <a:ea typeface="Calibri" panose="020F0502020204030204" pitchFamily="34" charset="0"/>
                <a:cs typeface="Calibri" panose="020F0502020204030204" pitchFamily="34" charset="0"/>
              </a:rPr>
              <a:t>coding journal</a:t>
            </a:r>
            <a:r>
              <a:rPr lang="en-GB" sz="1100" kern="100" dirty="0">
                <a:effectLst/>
                <a:latin typeface="Calibri" panose="020F0502020204030204" pitchFamily="34" charset="0"/>
                <a:ea typeface="Calibri" panose="020F0502020204030204" pitchFamily="34" charset="0"/>
                <a:cs typeface="Calibri" panose="020F0502020204030204" pitchFamily="34" charset="0"/>
              </a:rPr>
              <a:t>’ (to keep track of where codes come from – ‘emic’ or ‘etic’ – who developed them and what was agreed about how they would be used) </a:t>
            </a:r>
            <a:endParaRPr lang="en-GB"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gn="just">
              <a:lnSpc>
                <a:spcPct val="115000"/>
              </a:lnSpc>
              <a:spcBef>
                <a:spcPts val="0"/>
              </a:spcBef>
              <a:spcAft>
                <a:spcPts val="1000"/>
              </a:spcAft>
              <a:buFont typeface="+mj-lt"/>
              <a:buAutoNum type="alphaLcPeriod"/>
            </a:pPr>
            <a:r>
              <a:rPr lang="en-GB" sz="1100" kern="100" dirty="0">
                <a:effectLst/>
                <a:latin typeface="Calibri" panose="020F0502020204030204" pitchFamily="34" charset="0"/>
                <a:ea typeface="Calibri" panose="020F0502020204030204" pitchFamily="34" charset="0"/>
                <a:cs typeface="Calibri" panose="020F0502020204030204" pitchFamily="34" charset="0"/>
              </a:rPr>
              <a:t>A ‘</a:t>
            </a:r>
            <a:r>
              <a:rPr lang="en-GB" sz="1100" b="1" kern="100" dirty="0">
                <a:effectLst/>
                <a:latin typeface="Calibri" panose="020F0502020204030204" pitchFamily="34" charset="0"/>
                <a:ea typeface="Calibri" panose="020F0502020204030204" pitchFamily="34" charset="0"/>
                <a:cs typeface="Calibri" panose="020F0502020204030204" pitchFamily="34" charset="0"/>
              </a:rPr>
              <a:t>query log</a:t>
            </a:r>
            <a:r>
              <a:rPr lang="en-GB" sz="1100" kern="100" dirty="0">
                <a:effectLst/>
                <a:latin typeface="Calibri" panose="020F0502020204030204" pitchFamily="34" charset="0"/>
                <a:ea typeface="Calibri" panose="020F0502020204030204" pitchFamily="34" charset="0"/>
                <a:cs typeface="Calibri" panose="020F0502020204030204" pitchFamily="34" charset="0"/>
              </a:rPr>
              <a:t>’ keeping track searches and queries you’ve run (both saved and unsaved)</a:t>
            </a:r>
            <a:endParaRPr lang="en-GB"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mj-lt"/>
              <a:buAutoNum type="romanLcParenR"/>
            </a:pPr>
            <a:r>
              <a:rPr lang="en-GB" sz="1100" kern="100" dirty="0">
                <a:effectLst/>
                <a:latin typeface="Calibri" panose="020F0502020204030204" pitchFamily="34" charset="0"/>
                <a:ea typeface="Calibri" panose="020F0502020204030204" pitchFamily="34" charset="0"/>
                <a:cs typeface="Calibri" panose="020F0502020204030204" pitchFamily="34" charset="0"/>
              </a:rPr>
              <a:t>A folder on fieldnotes and observations. For example, ethnographic observations while collecting data or meetings and events related to your data-collection or interlocutors.</a:t>
            </a:r>
            <a:endParaRPr lang="en-GB"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mj-lt"/>
              <a:buAutoNum type="romanLcParenR"/>
            </a:pPr>
            <a:r>
              <a:rPr lang="en-GB" sz="1100" kern="100" dirty="0">
                <a:effectLst/>
                <a:latin typeface="Calibri" panose="020F0502020204030204" pitchFamily="34" charset="0"/>
                <a:ea typeface="Calibri" panose="020F0502020204030204" pitchFamily="34" charset="0"/>
                <a:cs typeface="Calibri" panose="020F0502020204030204" pitchFamily="34" charset="0"/>
              </a:rPr>
              <a:t>A folder for academic reflections on events (workshops, lectures, conferences) related to your project or meetings with your supervisor(s).</a:t>
            </a:r>
            <a:endParaRPr lang="en-GB"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mj-lt"/>
              <a:buAutoNum type="romanLcParenR"/>
            </a:pPr>
            <a:r>
              <a:rPr lang="en-GB" sz="1100" i="1" kern="100" dirty="0">
                <a:effectLst/>
                <a:latin typeface="Calibri" panose="020F0502020204030204" pitchFamily="34" charset="0"/>
                <a:ea typeface="Calibri" panose="020F0502020204030204" pitchFamily="34" charset="0"/>
                <a:cs typeface="Calibri" panose="020F0502020204030204" pitchFamily="34" charset="0"/>
              </a:rPr>
              <a:t>Memos on individual files</a:t>
            </a:r>
            <a:r>
              <a:rPr lang="en-GB" sz="1100" kern="100" dirty="0">
                <a:effectLst/>
                <a:latin typeface="Calibri" panose="020F0502020204030204" pitchFamily="34" charset="0"/>
                <a:ea typeface="Calibri" panose="020F0502020204030204" pitchFamily="34" charset="0"/>
                <a:cs typeface="Calibri" panose="020F0502020204030204" pitchFamily="34" charset="0"/>
              </a:rPr>
              <a:t> (e.g. a transcript). These could be fieldnotes about the interview itself and how data was collected in the field – or could be analytical comments to help our thinking and the production of reports. </a:t>
            </a:r>
            <a:endParaRPr lang="en-GB"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mj-lt"/>
              <a:buAutoNum type="romanLcParenR"/>
            </a:pPr>
            <a:r>
              <a:rPr lang="en-GB" sz="1100" i="1" kern="100" dirty="0">
                <a:effectLst/>
                <a:latin typeface="Calibri" panose="020F0502020204030204" pitchFamily="34" charset="0"/>
                <a:ea typeface="Calibri" panose="020F0502020204030204" pitchFamily="34" charset="0"/>
                <a:cs typeface="Calibri" panose="020F0502020204030204" pitchFamily="34" charset="0"/>
              </a:rPr>
              <a:t>Memos on codes</a:t>
            </a:r>
            <a:r>
              <a:rPr lang="en-GB" sz="1100" kern="100" dirty="0">
                <a:effectLst/>
                <a:latin typeface="Calibri" panose="020F0502020204030204" pitchFamily="34" charset="0"/>
                <a:ea typeface="Calibri" panose="020F0502020204030204" pitchFamily="34" charset="0"/>
                <a:cs typeface="Calibri" panose="020F0502020204030204" pitchFamily="34" charset="0"/>
              </a:rPr>
              <a:t>. These could be notes about a code and how it was created and/or analytical ideas emerging from that coding and the material it gathers together.  </a:t>
            </a:r>
            <a:endParaRPr lang="en-GB"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GB" sz="1100" kern="100" dirty="0">
                <a:effectLst/>
                <a:highlight>
                  <a:srgbClr val="00FF00"/>
                </a:highlight>
                <a:latin typeface="Calibri" panose="020F0502020204030204" pitchFamily="34" charset="0"/>
                <a:ea typeface="Calibri" panose="020F0502020204030204" pitchFamily="34" charset="0"/>
                <a:cs typeface="Calibri" panose="020F0502020204030204" pitchFamily="34" charset="0"/>
              </a:rPr>
              <a:t> </a:t>
            </a:r>
            <a:endParaRPr lang="en-GB"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800"/>
              </a:spcBef>
              <a:spcAft>
                <a:spcPts val="400"/>
              </a:spcAft>
            </a:pPr>
            <a:r>
              <a:rPr lang="en-GB" sz="1400" b="1" kern="10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t>TIPS FOR MEMOS: </a:t>
            </a:r>
          </a:p>
          <a:p>
            <a:pPr marL="342900" marR="0" lvl="0" indent="-342900" algn="just">
              <a:lnSpc>
                <a:spcPct val="107000"/>
              </a:lnSpc>
              <a:spcBef>
                <a:spcPts val="0"/>
              </a:spcBef>
              <a:spcAft>
                <a:spcPts val="0"/>
              </a:spcAft>
              <a:buFont typeface="Calibri" panose="020F0502020204030204" pitchFamily="34" charset="0"/>
              <a:buChar char="-"/>
            </a:pPr>
            <a:r>
              <a:rPr lang="en-GB" sz="1100" kern="100" dirty="0">
                <a:effectLst/>
                <a:latin typeface="Calibri" panose="020F0502020204030204" pitchFamily="34" charset="0"/>
                <a:ea typeface="Calibri" panose="020F0502020204030204" pitchFamily="34" charset="0"/>
                <a:cs typeface="Calibri" panose="020F0502020204030204" pitchFamily="34" charset="0"/>
              </a:rPr>
              <a:t>You can either ‘import’ memos or create them within NVivo. It’s good practice to </a:t>
            </a:r>
            <a:r>
              <a:rPr lang="en-GB" sz="1100" i="1" kern="100" dirty="0">
                <a:effectLst/>
                <a:latin typeface="Calibri" panose="020F0502020204030204" pitchFamily="34" charset="0"/>
                <a:ea typeface="Calibri" panose="020F0502020204030204" pitchFamily="34" charset="0"/>
                <a:cs typeface="Calibri" panose="020F0502020204030204" pitchFamily="34" charset="0"/>
              </a:rPr>
              <a:t>time/date stamp</a:t>
            </a:r>
            <a:r>
              <a:rPr lang="en-GB" sz="1100" kern="100" dirty="0">
                <a:effectLst/>
                <a:latin typeface="Calibri" panose="020F0502020204030204" pitchFamily="34" charset="0"/>
                <a:ea typeface="Calibri" panose="020F0502020204030204" pitchFamily="34" charset="0"/>
                <a:cs typeface="Calibri" panose="020F0502020204030204" pitchFamily="34" charset="0"/>
              </a:rPr>
              <a:t> your memos to help you keep control of ideas and audit when they arose: when in the memo – press </a:t>
            </a:r>
            <a:r>
              <a:rPr lang="en-GB" sz="1100" i="1" kern="100" dirty="0">
                <a:effectLst/>
                <a:latin typeface="Calibri" panose="020F0502020204030204" pitchFamily="34" charset="0"/>
                <a:ea typeface="Calibri" panose="020F0502020204030204" pitchFamily="34" charset="0"/>
                <a:cs typeface="Calibri" panose="020F0502020204030204" pitchFamily="34" charset="0"/>
              </a:rPr>
              <a:t>‘Ctrl’ ‘shift’ then ‘T’</a:t>
            </a:r>
            <a:r>
              <a:rPr lang="en-GB" sz="1100" kern="100" dirty="0">
                <a:effectLst/>
                <a:latin typeface="Calibri" panose="020F0502020204030204" pitchFamily="34" charset="0"/>
                <a:ea typeface="Calibri" panose="020F0502020204030204" pitchFamily="34" charset="0"/>
                <a:cs typeface="Calibri" panose="020F0502020204030204" pitchFamily="34" charset="0"/>
              </a:rPr>
              <a:t> (for time). Later, you can easily ‘export’ memos and incorporate them into presentations or reports.</a:t>
            </a:r>
            <a:endParaRPr lang="en-GB"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0"/>
              </a:spcAft>
              <a:buFont typeface="Calibri" panose="020F0502020204030204" pitchFamily="34" charset="0"/>
              <a:buChar char="-"/>
            </a:pPr>
            <a:r>
              <a:rPr lang="en-GB" sz="1100" kern="100" dirty="0">
                <a:effectLst/>
                <a:latin typeface="Calibri" panose="020F0502020204030204" pitchFamily="34" charset="0"/>
                <a:ea typeface="Calibri" panose="020F0502020204030204" pitchFamily="34" charset="0"/>
                <a:cs typeface="Calibri" panose="020F0502020204030204" pitchFamily="34" charset="0"/>
              </a:rPr>
              <a:t>You can link from your memo directly to other content within your NVivo project by right clicking and selecting ‘Links’ &gt; ‘See-Also Links’ &gt; ‘New See-Also Link’</a:t>
            </a:r>
            <a:endParaRPr lang="en-GB"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800"/>
              </a:spcAft>
              <a:buFont typeface="Calibri" panose="020F0502020204030204" pitchFamily="34" charset="0"/>
              <a:buChar char="-"/>
            </a:pPr>
            <a:r>
              <a:rPr lang="en-GB" sz="1100" kern="100" dirty="0">
                <a:effectLst/>
                <a:latin typeface="Calibri" panose="020F0502020204030204" pitchFamily="34" charset="0"/>
                <a:ea typeface="Calibri" panose="020F0502020204030204" pitchFamily="34" charset="0"/>
                <a:cs typeface="Times New Roman" panose="02020603050405020304" pitchFamily="18" charset="0"/>
              </a:rPr>
              <a:t>If you want to make changes inside of text files (memos – interviews), you need to toggle on the ‘edit’ feature within the detail view toolbar.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GB" dirty="0"/>
          </a:p>
        </p:txBody>
      </p:sp>
      <p:sp>
        <p:nvSpPr>
          <p:cNvPr id="4" name="Slide Number Placeholder 3"/>
          <p:cNvSpPr>
            <a:spLocks noGrp="1"/>
          </p:cNvSpPr>
          <p:nvPr>
            <p:ph type="sldNum" sz="quarter" idx="5"/>
          </p:nvPr>
        </p:nvSpPr>
        <p:spPr/>
        <p:txBody>
          <a:bodyPr/>
          <a:lstStyle/>
          <a:p>
            <a:fld id="{9E0105DB-E0CE-43F5-9ED7-47CEE6722596}" type="slidenum">
              <a:rPr lang="en-GB" smtClean="0"/>
              <a:t>25</a:t>
            </a:fld>
            <a:endParaRPr lang="en-GB"/>
          </a:p>
        </p:txBody>
      </p:sp>
    </p:spTree>
    <p:extLst>
      <p:ext uri="{BB962C8B-B14F-4D97-AF65-F5344CB8AC3E}">
        <p14:creationId xmlns:p14="http://schemas.microsoft.com/office/powerpoint/2010/main" val="34163485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27138" y="763588"/>
            <a:ext cx="4357687" cy="2451100"/>
          </a:xfrm>
        </p:spPr>
      </p:sp>
      <p:sp>
        <p:nvSpPr>
          <p:cNvPr id="3" name="Notes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34576062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309A6CD0-442B-4B42-B5E6-6BF074CE3315}" type="datetimeFigureOut">
              <a:rPr lang="en-GB" smtClean="0"/>
              <a:t>10/06/2026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C042092-B935-4459-B762-7DD9848AEEF9}" type="slidenum">
              <a:rPr lang="en-GB" smtClean="0"/>
              <a:t>‹#›</a:t>
            </a:fld>
            <a:endParaRPr lang="en-GB"/>
          </a:p>
        </p:txBody>
      </p:sp>
    </p:spTree>
    <p:extLst>
      <p:ext uri="{BB962C8B-B14F-4D97-AF65-F5344CB8AC3E}">
        <p14:creationId xmlns:p14="http://schemas.microsoft.com/office/powerpoint/2010/main" val="13950993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309A6CD0-442B-4B42-B5E6-6BF074CE3315}" type="datetimeFigureOut">
              <a:rPr lang="en-GB" smtClean="0"/>
              <a:t>10/06/2026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C042092-B935-4459-B762-7DD9848AEEF9}" type="slidenum">
              <a:rPr lang="en-GB" smtClean="0"/>
              <a:t>‹#›</a:t>
            </a:fld>
            <a:endParaRPr lang="en-GB"/>
          </a:p>
        </p:txBody>
      </p:sp>
    </p:spTree>
    <p:extLst>
      <p:ext uri="{BB962C8B-B14F-4D97-AF65-F5344CB8AC3E}">
        <p14:creationId xmlns:p14="http://schemas.microsoft.com/office/powerpoint/2010/main" val="26815080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309A6CD0-442B-4B42-B5E6-6BF074CE3315}" type="datetimeFigureOut">
              <a:rPr lang="en-GB" smtClean="0"/>
              <a:t>10/06/2026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C042092-B935-4459-B762-7DD9848AEEF9}" type="slidenum">
              <a:rPr lang="en-GB" smtClean="0"/>
              <a:t>‹#›</a:t>
            </a:fld>
            <a:endParaRPr lang="en-GB"/>
          </a:p>
        </p:txBody>
      </p:sp>
    </p:spTree>
    <p:extLst>
      <p:ext uri="{BB962C8B-B14F-4D97-AF65-F5344CB8AC3E}">
        <p14:creationId xmlns:p14="http://schemas.microsoft.com/office/powerpoint/2010/main" val="25055284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p:cNvSpPr>
            <a:spLocks noGrp="1"/>
          </p:cNvSpPr>
          <p:nvPr>
            <p:ph type="dt" sz="half" idx="10"/>
          </p:nvPr>
        </p:nvSpPr>
        <p:spPr/>
        <p:txBody>
          <a:bodyPr/>
          <a:lstStyle/>
          <a:p>
            <a:fld id="{309A6CD0-442B-4B42-B5E6-6BF074CE3315}" type="datetimeFigureOut">
              <a:rPr lang="en-GB" smtClean="0"/>
              <a:t>10/06/2026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BC042092-B935-4459-B762-7DD9848AEEF9}" type="slidenum">
              <a:rPr lang="en-GB" smtClean="0"/>
              <a:t>‹#›</a:t>
            </a:fld>
            <a:endParaRPr lang="en-GB"/>
          </a:p>
        </p:txBody>
      </p:sp>
    </p:spTree>
    <p:extLst>
      <p:ext uri="{BB962C8B-B14F-4D97-AF65-F5344CB8AC3E}">
        <p14:creationId xmlns:p14="http://schemas.microsoft.com/office/powerpoint/2010/main" val="12053696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p:cNvSpPr>
            <a:spLocks noGrp="1"/>
          </p:cNvSpPr>
          <p:nvPr>
            <p:ph type="dt" sz="half" idx="10"/>
          </p:nvPr>
        </p:nvSpPr>
        <p:spPr/>
        <p:txBody>
          <a:bodyPr/>
          <a:lstStyle/>
          <a:p>
            <a:fld id="{309A6CD0-442B-4B42-B5E6-6BF074CE3315}" type="datetimeFigureOut">
              <a:rPr lang="en-GB" smtClean="0"/>
              <a:t>10/06/2026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BC042092-B935-4459-B762-7DD9848AEEF9}" type="slidenum">
              <a:rPr lang="en-GB" smtClean="0"/>
              <a:t>‹#›</a:t>
            </a:fld>
            <a:endParaRPr lang="en-GB"/>
          </a:p>
        </p:txBody>
      </p:sp>
    </p:spTree>
    <p:extLst>
      <p:ext uri="{BB962C8B-B14F-4D97-AF65-F5344CB8AC3E}">
        <p14:creationId xmlns:p14="http://schemas.microsoft.com/office/powerpoint/2010/main" val="30553147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Date Placeholder 2"/>
          <p:cNvSpPr>
            <a:spLocks noGrp="1"/>
          </p:cNvSpPr>
          <p:nvPr>
            <p:ph type="dt" sz="half" idx="10"/>
          </p:nvPr>
        </p:nvSpPr>
        <p:spPr/>
        <p:txBody>
          <a:bodyPr/>
          <a:lstStyle/>
          <a:p>
            <a:fld id="{309A6CD0-442B-4B42-B5E6-6BF074CE3315}" type="datetimeFigureOut">
              <a:rPr lang="en-GB" smtClean="0"/>
              <a:t>10/06/2026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BC042092-B935-4459-B762-7DD9848AEEF9}" type="slidenum">
              <a:rPr lang="en-GB" smtClean="0"/>
              <a:t>‹#›</a:t>
            </a:fld>
            <a:endParaRPr lang="en-GB"/>
          </a:p>
        </p:txBody>
      </p:sp>
    </p:spTree>
    <p:extLst>
      <p:ext uri="{BB962C8B-B14F-4D97-AF65-F5344CB8AC3E}">
        <p14:creationId xmlns:p14="http://schemas.microsoft.com/office/powerpoint/2010/main" val="35771799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9A6CD0-442B-4B42-B5E6-6BF074CE3315}" type="datetimeFigureOut">
              <a:rPr lang="en-GB" smtClean="0"/>
              <a:t>10/06/2026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BC042092-B935-4459-B762-7DD9848AEEF9}" type="slidenum">
              <a:rPr lang="en-GB" smtClean="0"/>
              <a:t>‹#›</a:t>
            </a:fld>
            <a:endParaRPr lang="en-GB"/>
          </a:p>
        </p:txBody>
      </p:sp>
    </p:spTree>
    <p:extLst>
      <p:ext uri="{BB962C8B-B14F-4D97-AF65-F5344CB8AC3E}">
        <p14:creationId xmlns:p14="http://schemas.microsoft.com/office/powerpoint/2010/main" val="177479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309A6CD0-442B-4B42-B5E6-6BF074CE3315}" type="datetimeFigureOut">
              <a:rPr lang="en-GB" smtClean="0"/>
              <a:t>10/06/2026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BC042092-B935-4459-B762-7DD9848AEEF9}" type="slidenum">
              <a:rPr lang="en-GB" smtClean="0"/>
              <a:t>‹#›</a:t>
            </a:fld>
            <a:endParaRPr lang="en-GB"/>
          </a:p>
        </p:txBody>
      </p:sp>
    </p:spTree>
    <p:extLst>
      <p:ext uri="{BB962C8B-B14F-4D97-AF65-F5344CB8AC3E}">
        <p14:creationId xmlns:p14="http://schemas.microsoft.com/office/powerpoint/2010/main" val="2221070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309A6CD0-442B-4B42-B5E6-6BF074CE3315}" type="datetimeFigureOut">
              <a:rPr lang="en-GB" smtClean="0"/>
              <a:t>10/06/2026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BC042092-B935-4459-B762-7DD9848AEEF9}" type="slidenum">
              <a:rPr lang="en-GB" smtClean="0"/>
              <a:t>‹#›</a:t>
            </a:fld>
            <a:endParaRPr lang="en-GB"/>
          </a:p>
        </p:txBody>
      </p:sp>
    </p:spTree>
    <p:extLst>
      <p:ext uri="{BB962C8B-B14F-4D97-AF65-F5344CB8AC3E}">
        <p14:creationId xmlns:p14="http://schemas.microsoft.com/office/powerpoint/2010/main" val="31789222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309A6CD0-442B-4B42-B5E6-6BF074CE3315}" type="datetimeFigureOut">
              <a:rPr lang="en-GB" smtClean="0"/>
              <a:t>10/06/2026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C042092-B935-4459-B762-7DD9848AEEF9}" type="slidenum">
              <a:rPr lang="en-GB" smtClean="0"/>
              <a:t>‹#›</a:t>
            </a:fld>
            <a:endParaRPr lang="en-GB"/>
          </a:p>
        </p:txBody>
      </p:sp>
    </p:spTree>
    <p:extLst>
      <p:ext uri="{BB962C8B-B14F-4D97-AF65-F5344CB8AC3E}">
        <p14:creationId xmlns:p14="http://schemas.microsoft.com/office/powerpoint/2010/main" val="42537250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309A6CD0-442B-4B42-B5E6-6BF074CE3315}" type="datetimeFigureOut">
              <a:rPr lang="en-GB" smtClean="0"/>
              <a:t>10/06/2026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C042092-B935-4459-B762-7DD9848AEEF9}" type="slidenum">
              <a:rPr lang="en-GB" smtClean="0"/>
              <a:t>‹#›</a:t>
            </a:fld>
            <a:endParaRPr lang="en-GB"/>
          </a:p>
        </p:txBody>
      </p:sp>
    </p:spTree>
    <p:extLst>
      <p:ext uri="{BB962C8B-B14F-4D97-AF65-F5344CB8AC3E}">
        <p14:creationId xmlns:p14="http://schemas.microsoft.com/office/powerpoint/2010/main" val="30703810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half">
  <p:cSld name="Title only half">
    <p:bg>
      <p:bgPr>
        <a:solidFill>
          <a:srgbClr val="EDF2F6"/>
        </a:solidFill>
        <a:effectLst/>
      </p:bgPr>
    </p:bg>
    <p:spTree>
      <p:nvGrpSpPr>
        <p:cNvPr id="1" name="Shape 55"/>
        <p:cNvGrpSpPr/>
        <p:nvPr/>
      </p:nvGrpSpPr>
      <p:grpSpPr>
        <a:xfrm>
          <a:off x="0" y="0"/>
          <a:ext cx="0" cy="0"/>
          <a:chOff x="0" y="0"/>
          <a:chExt cx="0" cy="0"/>
        </a:xfrm>
      </p:grpSpPr>
      <p:sp>
        <p:nvSpPr>
          <p:cNvPr id="56" name="Google Shape;56;p10"/>
          <p:cNvSpPr/>
          <p:nvPr/>
        </p:nvSpPr>
        <p:spPr>
          <a:xfrm>
            <a:off x="0" y="-65"/>
            <a:ext cx="6104000" cy="6858000"/>
          </a:xfrm>
          <a:prstGeom prst="rect">
            <a:avLst/>
          </a:prstGeom>
          <a:solidFill>
            <a:srgbClr val="073B59"/>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4911"/>
          </a:p>
        </p:txBody>
      </p:sp>
      <p:sp>
        <p:nvSpPr>
          <p:cNvPr id="57" name="Google Shape;57;p10"/>
          <p:cNvSpPr txBox="1">
            <a:spLocks noGrp="1"/>
          </p:cNvSpPr>
          <p:nvPr>
            <p:ph type="title"/>
          </p:nvPr>
        </p:nvSpPr>
        <p:spPr>
          <a:xfrm>
            <a:off x="1107287" y="334580"/>
            <a:ext cx="4302400" cy="11432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FFFFFF"/>
              </a:buClr>
              <a:buSzPts val="2600"/>
              <a:buNone/>
              <a:defRPr>
                <a:solidFill>
                  <a:srgbClr val="FFFFFF"/>
                </a:solidFill>
              </a:defRPr>
            </a:lvl1pPr>
            <a:lvl2pPr lvl="1" rtl="0">
              <a:spcBef>
                <a:spcPts val="0"/>
              </a:spcBef>
              <a:spcAft>
                <a:spcPts val="0"/>
              </a:spcAft>
              <a:buClr>
                <a:srgbClr val="FFFFFF"/>
              </a:buClr>
              <a:buSzPts val="2600"/>
              <a:buNone/>
              <a:defRPr>
                <a:solidFill>
                  <a:srgbClr val="FFFFFF"/>
                </a:solidFill>
              </a:defRPr>
            </a:lvl2pPr>
            <a:lvl3pPr lvl="2" rtl="0">
              <a:spcBef>
                <a:spcPts val="0"/>
              </a:spcBef>
              <a:spcAft>
                <a:spcPts val="0"/>
              </a:spcAft>
              <a:buClr>
                <a:srgbClr val="FFFFFF"/>
              </a:buClr>
              <a:buSzPts val="2600"/>
              <a:buNone/>
              <a:defRPr>
                <a:solidFill>
                  <a:srgbClr val="FFFFFF"/>
                </a:solidFill>
              </a:defRPr>
            </a:lvl3pPr>
            <a:lvl4pPr lvl="3" rtl="0">
              <a:spcBef>
                <a:spcPts val="0"/>
              </a:spcBef>
              <a:spcAft>
                <a:spcPts val="0"/>
              </a:spcAft>
              <a:buClr>
                <a:srgbClr val="FFFFFF"/>
              </a:buClr>
              <a:buSzPts val="2600"/>
              <a:buNone/>
              <a:defRPr>
                <a:solidFill>
                  <a:srgbClr val="FFFFFF"/>
                </a:solidFill>
              </a:defRPr>
            </a:lvl4pPr>
            <a:lvl5pPr lvl="4" rtl="0">
              <a:spcBef>
                <a:spcPts val="0"/>
              </a:spcBef>
              <a:spcAft>
                <a:spcPts val="0"/>
              </a:spcAft>
              <a:buClr>
                <a:srgbClr val="FFFFFF"/>
              </a:buClr>
              <a:buSzPts val="2600"/>
              <a:buNone/>
              <a:defRPr>
                <a:solidFill>
                  <a:srgbClr val="FFFFFF"/>
                </a:solidFill>
              </a:defRPr>
            </a:lvl5pPr>
            <a:lvl6pPr lvl="5" rtl="0">
              <a:spcBef>
                <a:spcPts val="0"/>
              </a:spcBef>
              <a:spcAft>
                <a:spcPts val="0"/>
              </a:spcAft>
              <a:buClr>
                <a:srgbClr val="FFFFFF"/>
              </a:buClr>
              <a:buSzPts val="2600"/>
              <a:buNone/>
              <a:defRPr>
                <a:solidFill>
                  <a:srgbClr val="FFFFFF"/>
                </a:solidFill>
              </a:defRPr>
            </a:lvl6pPr>
            <a:lvl7pPr lvl="6" rtl="0">
              <a:spcBef>
                <a:spcPts val="0"/>
              </a:spcBef>
              <a:spcAft>
                <a:spcPts val="0"/>
              </a:spcAft>
              <a:buClr>
                <a:srgbClr val="FFFFFF"/>
              </a:buClr>
              <a:buSzPts val="2600"/>
              <a:buNone/>
              <a:defRPr>
                <a:solidFill>
                  <a:srgbClr val="FFFFFF"/>
                </a:solidFill>
              </a:defRPr>
            </a:lvl7pPr>
            <a:lvl8pPr lvl="7" rtl="0">
              <a:spcBef>
                <a:spcPts val="0"/>
              </a:spcBef>
              <a:spcAft>
                <a:spcPts val="0"/>
              </a:spcAft>
              <a:buClr>
                <a:srgbClr val="FFFFFF"/>
              </a:buClr>
              <a:buSzPts val="2600"/>
              <a:buNone/>
              <a:defRPr>
                <a:solidFill>
                  <a:srgbClr val="FFFFFF"/>
                </a:solidFill>
              </a:defRPr>
            </a:lvl8pPr>
            <a:lvl9pPr lvl="8" rtl="0">
              <a:spcBef>
                <a:spcPts val="0"/>
              </a:spcBef>
              <a:spcAft>
                <a:spcPts val="0"/>
              </a:spcAft>
              <a:buClr>
                <a:srgbClr val="FFFFFF"/>
              </a:buClr>
              <a:buSzPts val="2600"/>
              <a:buNone/>
              <a:defRPr>
                <a:solidFill>
                  <a:srgbClr val="FFFFFF"/>
                </a:solidFill>
              </a:defRPr>
            </a:lvl9pPr>
          </a:lstStyle>
          <a:p>
            <a:r>
              <a:rPr lang="en-GB"/>
              <a:t>Click to edit Master title style</a:t>
            </a:r>
            <a:endParaRPr/>
          </a:p>
        </p:txBody>
      </p:sp>
      <p:sp>
        <p:nvSpPr>
          <p:cNvPr id="58" name="Google Shape;58;p10"/>
          <p:cNvSpPr/>
          <p:nvPr/>
        </p:nvSpPr>
        <p:spPr>
          <a:xfrm>
            <a:off x="714663" y="334580"/>
            <a:ext cx="72400" cy="900800"/>
          </a:xfrm>
          <a:prstGeom prst="rect">
            <a:avLst/>
          </a:prstGeom>
          <a:solidFill>
            <a:srgbClr val="BE62A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4911">
              <a:solidFill>
                <a:srgbClr val="BE62AB"/>
              </a:solidFill>
            </a:endParaRPr>
          </a:p>
        </p:txBody>
      </p:sp>
      <p:sp>
        <p:nvSpPr>
          <p:cNvPr id="59" name="Google Shape;59;p10"/>
          <p:cNvSpPr/>
          <p:nvPr/>
        </p:nvSpPr>
        <p:spPr>
          <a:xfrm>
            <a:off x="12119600" y="0"/>
            <a:ext cx="72400" cy="6858000"/>
          </a:xfrm>
          <a:prstGeom prst="rect">
            <a:avLst/>
          </a:prstGeom>
          <a:solidFill>
            <a:srgbClr val="BE62A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4911"/>
          </a:p>
        </p:txBody>
      </p:sp>
      <p:sp>
        <p:nvSpPr>
          <p:cNvPr id="60" name="Google Shape;60;p10"/>
          <p:cNvSpPr txBox="1">
            <a:spLocks noGrp="1"/>
          </p:cNvSpPr>
          <p:nvPr>
            <p:ph type="sldNum" idx="12"/>
          </p:nvPr>
        </p:nvSpPr>
        <p:spPr>
          <a:xfrm>
            <a:off x="11307445" y="6333135"/>
            <a:ext cx="731600" cy="524800"/>
          </a:xfrm>
          <a:prstGeom prst="rect">
            <a:avLst/>
          </a:prstGeom>
        </p:spPr>
        <p:txBody>
          <a:bodyPr spcFirstLastPara="1" wrap="square" lIns="91425" tIns="91425" rIns="91425" bIns="91425" anchor="t" anchorCtr="0">
            <a:noAutofit/>
          </a:bodyPr>
          <a:lstStyle>
            <a:lvl1pPr lvl="0">
              <a:buNone/>
              <a:defRPr>
                <a:solidFill>
                  <a:srgbClr val="BE62AB"/>
                </a:solidFill>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0143601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type="title">
  <p:cSld name="Title">
    <p:bg>
      <p:bgPr>
        <a:solidFill>
          <a:srgbClr val="FFFFFF"/>
        </a:solidFill>
        <a:effectLst/>
      </p:bgPr>
    </p:bg>
    <p:spTree>
      <p:nvGrpSpPr>
        <p:cNvPr id="1" name="Shape 9"/>
        <p:cNvGrpSpPr/>
        <p:nvPr/>
      </p:nvGrpSpPr>
      <p:grpSpPr>
        <a:xfrm>
          <a:off x="0" y="0"/>
          <a:ext cx="0" cy="0"/>
          <a:chOff x="0" y="0"/>
          <a:chExt cx="0" cy="0"/>
        </a:xfrm>
      </p:grpSpPr>
      <p:sp>
        <p:nvSpPr>
          <p:cNvPr id="10" name="Google Shape;10;p2"/>
          <p:cNvSpPr/>
          <p:nvPr/>
        </p:nvSpPr>
        <p:spPr>
          <a:xfrm>
            <a:off x="0" y="0"/>
            <a:ext cx="12192000" cy="4994400"/>
          </a:xfrm>
          <a:prstGeom prst="rect">
            <a:avLst/>
          </a:prstGeom>
          <a:solidFill>
            <a:srgbClr val="073B59"/>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4911"/>
          </a:p>
        </p:txBody>
      </p:sp>
      <p:sp>
        <p:nvSpPr>
          <p:cNvPr id="11" name="Google Shape;11;p2"/>
          <p:cNvSpPr/>
          <p:nvPr/>
        </p:nvSpPr>
        <p:spPr>
          <a:xfrm>
            <a:off x="772000" y="2560600"/>
            <a:ext cx="72400" cy="1589200"/>
          </a:xfrm>
          <a:prstGeom prst="rect">
            <a:avLst/>
          </a:prstGeom>
          <a:solidFill>
            <a:srgbClr val="FFFFF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4911">
              <a:solidFill>
                <a:srgbClr val="FFFFFF"/>
              </a:solidFill>
            </a:endParaRPr>
          </a:p>
        </p:txBody>
      </p:sp>
      <p:sp>
        <p:nvSpPr>
          <p:cNvPr id="12" name="Google Shape;12;p2"/>
          <p:cNvSpPr txBox="1">
            <a:spLocks noGrp="1"/>
          </p:cNvSpPr>
          <p:nvPr>
            <p:ph type="ctrTitle"/>
          </p:nvPr>
        </p:nvSpPr>
        <p:spPr>
          <a:xfrm>
            <a:off x="914400" y="2554167"/>
            <a:ext cx="7216400" cy="1546400"/>
          </a:xfrm>
          <a:prstGeom prst="rect">
            <a:avLst/>
          </a:prstGeom>
        </p:spPr>
        <p:txBody>
          <a:bodyPr spcFirstLastPara="1" wrap="square" lIns="91425" tIns="91425" rIns="91425" bIns="91425" anchor="ctr" anchorCtr="0">
            <a:noAutofit/>
          </a:bodyPr>
          <a:lstStyle>
            <a:lvl1pPr lvl="0">
              <a:spcBef>
                <a:spcPts val="0"/>
              </a:spcBef>
              <a:spcAft>
                <a:spcPts val="0"/>
              </a:spcAft>
              <a:buClr>
                <a:srgbClr val="FFFFFF"/>
              </a:buClr>
              <a:buSzPts val="4800"/>
              <a:buNone/>
              <a:defRPr sz="6400">
                <a:solidFill>
                  <a:srgbClr val="FFFFFF"/>
                </a:solidFill>
              </a:defRPr>
            </a:lvl1pPr>
            <a:lvl2pPr lvl="1">
              <a:spcBef>
                <a:spcPts val="0"/>
              </a:spcBef>
              <a:spcAft>
                <a:spcPts val="0"/>
              </a:spcAft>
              <a:buClr>
                <a:srgbClr val="FFFFFF"/>
              </a:buClr>
              <a:buSzPts val="4800"/>
              <a:buNone/>
              <a:defRPr sz="6400">
                <a:solidFill>
                  <a:srgbClr val="FFFFFF"/>
                </a:solidFill>
              </a:defRPr>
            </a:lvl2pPr>
            <a:lvl3pPr lvl="2">
              <a:spcBef>
                <a:spcPts val="0"/>
              </a:spcBef>
              <a:spcAft>
                <a:spcPts val="0"/>
              </a:spcAft>
              <a:buClr>
                <a:srgbClr val="FFFFFF"/>
              </a:buClr>
              <a:buSzPts val="4800"/>
              <a:buNone/>
              <a:defRPr sz="6400">
                <a:solidFill>
                  <a:srgbClr val="FFFFFF"/>
                </a:solidFill>
              </a:defRPr>
            </a:lvl3pPr>
            <a:lvl4pPr lvl="3">
              <a:spcBef>
                <a:spcPts val="0"/>
              </a:spcBef>
              <a:spcAft>
                <a:spcPts val="0"/>
              </a:spcAft>
              <a:buClr>
                <a:srgbClr val="FFFFFF"/>
              </a:buClr>
              <a:buSzPts val="4800"/>
              <a:buNone/>
              <a:defRPr sz="6400">
                <a:solidFill>
                  <a:srgbClr val="FFFFFF"/>
                </a:solidFill>
              </a:defRPr>
            </a:lvl4pPr>
            <a:lvl5pPr lvl="4">
              <a:spcBef>
                <a:spcPts val="0"/>
              </a:spcBef>
              <a:spcAft>
                <a:spcPts val="0"/>
              </a:spcAft>
              <a:buClr>
                <a:srgbClr val="FFFFFF"/>
              </a:buClr>
              <a:buSzPts val="4800"/>
              <a:buNone/>
              <a:defRPr sz="6400">
                <a:solidFill>
                  <a:srgbClr val="FFFFFF"/>
                </a:solidFill>
              </a:defRPr>
            </a:lvl5pPr>
            <a:lvl6pPr lvl="5">
              <a:spcBef>
                <a:spcPts val="0"/>
              </a:spcBef>
              <a:spcAft>
                <a:spcPts val="0"/>
              </a:spcAft>
              <a:buClr>
                <a:srgbClr val="FFFFFF"/>
              </a:buClr>
              <a:buSzPts val="4800"/>
              <a:buNone/>
              <a:defRPr sz="6400">
                <a:solidFill>
                  <a:srgbClr val="FFFFFF"/>
                </a:solidFill>
              </a:defRPr>
            </a:lvl6pPr>
            <a:lvl7pPr lvl="6">
              <a:spcBef>
                <a:spcPts val="0"/>
              </a:spcBef>
              <a:spcAft>
                <a:spcPts val="0"/>
              </a:spcAft>
              <a:buClr>
                <a:srgbClr val="FFFFFF"/>
              </a:buClr>
              <a:buSzPts val="4800"/>
              <a:buNone/>
              <a:defRPr sz="6400">
                <a:solidFill>
                  <a:srgbClr val="FFFFFF"/>
                </a:solidFill>
              </a:defRPr>
            </a:lvl7pPr>
            <a:lvl8pPr lvl="7">
              <a:spcBef>
                <a:spcPts val="0"/>
              </a:spcBef>
              <a:spcAft>
                <a:spcPts val="0"/>
              </a:spcAft>
              <a:buClr>
                <a:srgbClr val="FFFFFF"/>
              </a:buClr>
              <a:buSzPts val="4800"/>
              <a:buNone/>
              <a:defRPr sz="6400">
                <a:solidFill>
                  <a:srgbClr val="FFFFFF"/>
                </a:solidFill>
              </a:defRPr>
            </a:lvl8pPr>
            <a:lvl9pPr lvl="8">
              <a:spcBef>
                <a:spcPts val="0"/>
              </a:spcBef>
              <a:spcAft>
                <a:spcPts val="0"/>
              </a:spcAft>
              <a:buClr>
                <a:srgbClr val="FFFFFF"/>
              </a:buClr>
              <a:buSzPts val="4800"/>
              <a:buNone/>
              <a:defRPr sz="6400">
                <a:solidFill>
                  <a:srgbClr val="FFFFFF"/>
                </a:solidFill>
              </a:defRPr>
            </a:lvl9pPr>
          </a:lstStyle>
          <a:p>
            <a:r>
              <a:rPr lang="en-GB"/>
              <a:t>Click to edit Master title style</a:t>
            </a:r>
            <a:endParaRPr/>
          </a:p>
        </p:txBody>
      </p:sp>
      <p:pic>
        <p:nvPicPr>
          <p:cNvPr id="5" name="Pictur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93286" y="5851109"/>
            <a:ext cx="758341" cy="747784"/>
          </a:xfrm>
          <a:prstGeom prst="rect">
            <a:avLst/>
          </a:prstGeom>
          <a:noFill/>
          <a:ln>
            <a:noFill/>
          </a:ln>
          <a:effectLst/>
        </p:spPr>
      </p:pic>
    </p:spTree>
    <p:extLst>
      <p:ext uri="{BB962C8B-B14F-4D97-AF65-F5344CB8AC3E}">
        <p14:creationId xmlns:p14="http://schemas.microsoft.com/office/powerpoint/2010/main" val="34356743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 1 column" type="tx">
  <p:cSld name="Title + 1 column">
    <p:spTree>
      <p:nvGrpSpPr>
        <p:cNvPr id="1" name="Shape 24"/>
        <p:cNvGrpSpPr/>
        <p:nvPr/>
      </p:nvGrpSpPr>
      <p:grpSpPr>
        <a:xfrm>
          <a:off x="0" y="0"/>
          <a:ext cx="0" cy="0"/>
          <a:chOff x="0" y="0"/>
          <a:chExt cx="0" cy="0"/>
        </a:xfrm>
      </p:grpSpPr>
      <p:sp>
        <p:nvSpPr>
          <p:cNvPr id="25" name="Google Shape;25;p5"/>
          <p:cNvSpPr txBox="1">
            <a:spLocks noGrp="1"/>
          </p:cNvSpPr>
          <p:nvPr>
            <p:ph type="title"/>
          </p:nvPr>
        </p:nvSpPr>
        <p:spPr>
          <a:xfrm>
            <a:off x="1125900" y="334580"/>
            <a:ext cx="4302400" cy="900800"/>
          </a:xfrm>
          <a:prstGeom prst="rect">
            <a:avLst/>
          </a:prstGeom>
        </p:spPr>
        <p:txBody>
          <a:bodyPr spcFirstLastPara="1" wrap="square" lIns="91425" tIns="91425" rIns="91425" bIns="91425" anchor="t" anchorCtr="0">
            <a:noAutofit/>
          </a:bodyPr>
          <a:lstStyle>
            <a:lvl1pPr lvl="0">
              <a:spcBef>
                <a:spcPts val="0"/>
              </a:spcBef>
              <a:spcAft>
                <a:spcPts val="0"/>
              </a:spcAft>
              <a:buSzPts val="2600"/>
              <a:buNone/>
              <a:defRPr/>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a:endParaRPr/>
          </a:p>
        </p:txBody>
      </p:sp>
      <p:sp>
        <p:nvSpPr>
          <p:cNvPr id="26" name="Google Shape;26;p5"/>
          <p:cNvSpPr txBox="1">
            <a:spLocks noGrp="1"/>
          </p:cNvSpPr>
          <p:nvPr>
            <p:ph type="body" idx="1"/>
          </p:nvPr>
        </p:nvSpPr>
        <p:spPr>
          <a:xfrm>
            <a:off x="1125900" y="2115100"/>
            <a:ext cx="7962000" cy="4198000"/>
          </a:xfrm>
          <a:prstGeom prst="rect">
            <a:avLst/>
          </a:prstGeom>
        </p:spPr>
        <p:txBody>
          <a:bodyPr spcFirstLastPara="1" wrap="square" lIns="91425" tIns="91425" rIns="91425" bIns="91425" anchor="t" anchorCtr="0">
            <a:noAutofit/>
          </a:bodyPr>
          <a:lstStyle>
            <a:lvl1pPr marL="609549" lvl="0" indent="-457162">
              <a:spcBef>
                <a:spcPts val="800"/>
              </a:spcBef>
              <a:spcAft>
                <a:spcPts val="0"/>
              </a:spcAft>
              <a:buClr>
                <a:schemeClr val="accent1"/>
              </a:buClr>
              <a:buSzPts val="1800"/>
              <a:buChar char="▪"/>
              <a:defRPr/>
            </a:lvl1pPr>
            <a:lvl2pPr marL="1219096" lvl="1" indent="-457162">
              <a:spcBef>
                <a:spcPts val="0"/>
              </a:spcBef>
              <a:spcAft>
                <a:spcPts val="0"/>
              </a:spcAft>
              <a:buSzPts val="1800"/>
              <a:buChar char="▫"/>
              <a:defRPr/>
            </a:lvl2pPr>
            <a:lvl3pPr marL="1828645" lvl="2" indent="-457162">
              <a:spcBef>
                <a:spcPts val="0"/>
              </a:spcBef>
              <a:spcAft>
                <a:spcPts val="0"/>
              </a:spcAft>
              <a:buSzPts val="1800"/>
              <a:buChar char="▸"/>
              <a:defRPr/>
            </a:lvl3pPr>
            <a:lvl4pPr marL="2438194" lvl="3" indent="-457162">
              <a:spcBef>
                <a:spcPts val="0"/>
              </a:spcBef>
              <a:spcAft>
                <a:spcPts val="0"/>
              </a:spcAft>
              <a:buSzPts val="1800"/>
              <a:buChar char="▹"/>
              <a:defRPr/>
            </a:lvl4pPr>
            <a:lvl5pPr marL="3047741" lvl="4" indent="-457162">
              <a:spcBef>
                <a:spcPts val="0"/>
              </a:spcBef>
              <a:spcAft>
                <a:spcPts val="0"/>
              </a:spcAft>
              <a:buSzPts val="1800"/>
              <a:buChar char="▹"/>
              <a:defRPr/>
            </a:lvl5pPr>
            <a:lvl6pPr marL="3657290" lvl="5" indent="-457162">
              <a:spcBef>
                <a:spcPts val="0"/>
              </a:spcBef>
              <a:spcAft>
                <a:spcPts val="0"/>
              </a:spcAft>
              <a:buSzPts val="1800"/>
              <a:buChar char="▹"/>
              <a:defRPr/>
            </a:lvl6pPr>
            <a:lvl7pPr marL="4266839" lvl="6" indent="-457162">
              <a:spcBef>
                <a:spcPts val="0"/>
              </a:spcBef>
              <a:spcAft>
                <a:spcPts val="0"/>
              </a:spcAft>
              <a:buSzPts val="1800"/>
              <a:buChar char="▹"/>
              <a:defRPr/>
            </a:lvl7pPr>
            <a:lvl8pPr marL="4876386" lvl="7" indent="-457162">
              <a:spcBef>
                <a:spcPts val="0"/>
              </a:spcBef>
              <a:spcAft>
                <a:spcPts val="0"/>
              </a:spcAft>
              <a:buSzPts val="1800"/>
              <a:buChar char="▹"/>
              <a:defRPr/>
            </a:lvl8pPr>
            <a:lvl9pPr marL="5485935" lvl="8" indent="-457162">
              <a:spcBef>
                <a:spcPts val="0"/>
              </a:spcBef>
              <a:spcAft>
                <a:spcPts val="0"/>
              </a:spcAft>
              <a:buSzPts val="1800"/>
              <a:buChar char="▹"/>
              <a:defRPr/>
            </a:lvl9pPr>
          </a:lstStyle>
          <a:p>
            <a:endParaRPr/>
          </a:p>
        </p:txBody>
      </p:sp>
      <p:sp>
        <p:nvSpPr>
          <p:cNvPr id="27" name="Google Shape;27;p5"/>
          <p:cNvSpPr/>
          <p:nvPr/>
        </p:nvSpPr>
        <p:spPr>
          <a:xfrm>
            <a:off x="706853" y="334580"/>
            <a:ext cx="72400" cy="900800"/>
          </a:xfrm>
          <a:prstGeom prst="rect">
            <a:avLst/>
          </a:prstGeom>
          <a:solidFill>
            <a:srgbClr val="BE62A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4911"/>
          </a:p>
        </p:txBody>
      </p:sp>
      <p:sp>
        <p:nvSpPr>
          <p:cNvPr id="28" name="Google Shape;28;p5"/>
          <p:cNvSpPr/>
          <p:nvPr/>
        </p:nvSpPr>
        <p:spPr>
          <a:xfrm>
            <a:off x="12127893" y="0"/>
            <a:ext cx="72400" cy="6858000"/>
          </a:xfrm>
          <a:prstGeom prst="rect">
            <a:avLst/>
          </a:prstGeom>
          <a:solidFill>
            <a:srgbClr val="BE62A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4911"/>
          </a:p>
        </p:txBody>
      </p:sp>
      <p:sp>
        <p:nvSpPr>
          <p:cNvPr id="29" name="Google Shape;29;p5"/>
          <p:cNvSpPr txBox="1">
            <a:spLocks noGrp="1"/>
          </p:cNvSpPr>
          <p:nvPr>
            <p:ph type="sldNum" idx="12"/>
          </p:nvPr>
        </p:nvSpPr>
        <p:spPr>
          <a:xfrm>
            <a:off x="11307445" y="6333135"/>
            <a:ext cx="731600" cy="5248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6335840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lank" type="blank" preserve="1">
  <p:cSld name="1_Blank">
    <p:bg>
      <p:bgPr>
        <a:solidFill>
          <a:srgbClr val="FFFFFF"/>
        </a:solidFill>
        <a:effectLst/>
      </p:bgPr>
    </p:bg>
    <p:spTree>
      <p:nvGrpSpPr>
        <p:cNvPr id="1" name="Shape 69"/>
        <p:cNvGrpSpPr/>
        <p:nvPr/>
      </p:nvGrpSpPr>
      <p:grpSpPr>
        <a:xfrm>
          <a:off x="0" y="0"/>
          <a:ext cx="0" cy="0"/>
          <a:chOff x="0" y="0"/>
          <a:chExt cx="0" cy="0"/>
        </a:xfrm>
      </p:grpSpPr>
      <p:sp>
        <p:nvSpPr>
          <p:cNvPr id="70" name="Google Shape;70;p13"/>
          <p:cNvSpPr/>
          <p:nvPr/>
        </p:nvSpPr>
        <p:spPr>
          <a:xfrm>
            <a:off x="12119600" y="0"/>
            <a:ext cx="72400" cy="6858000"/>
          </a:xfrm>
          <a:prstGeom prst="rect">
            <a:avLst/>
          </a:prstGeom>
          <a:solidFill>
            <a:srgbClr val="BE62A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4911"/>
          </a:p>
        </p:txBody>
      </p:sp>
      <p:sp>
        <p:nvSpPr>
          <p:cNvPr id="71" name="Google Shape;71;p13"/>
          <p:cNvSpPr txBox="1">
            <a:spLocks noGrp="1"/>
          </p:cNvSpPr>
          <p:nvPr>
            <p:ph type="sldNum" idx="12"/>
          </p:nvPr>
        </p:nvSpPr>
        <p:spPr>
          <a:xfrm>
            <a:off x="11307445" y="6333135"/>
            <a:ext cx="731600" cy="5248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535197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125900" y="563334"/>
            <a:ext cx="4302400" cy="1272143"/>
          </a:xfrm>
        </p:spPr>
        <p:txBody>
          <a:bodyPr/>
          <a:lstStyle/>
          <a:p>
            <a:r>
              <a:rPr lang="en-US"/>
              <a:t>Click to edit Master title style</a:t>
            </a:r>
            <a:endParaRPr lang="en-GB"/>
          </a:p>
        </p:txBody>
      </p:sp>
      <p:sp>
        <p:nvSpPr>
          <p:cNvPr id="3" name="Content Placeholder 2"/>
          <p:cNvSpPr>
            <a:spLocks noGrp="1"/>
          </p:cNvSpPr>
          <p:nvPr>
            <p:ph idx="1"/>
          </p:nvPr>
        </p:nvSpPr>
        <p:spPr>
          <a:xfrm>
            <a:off x="965064" y="2115100"/>
            <a:ext cx="8122800" cy="16414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489E166F-EEF9-4F7B-A960-8892E2BCB33C}" type="datetimeFigureOut">
              <a:rPr lang="en-GB" smtClean="0"/>
              <a:t>10/06/2026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C485C26-B9B2-4E3E-BE8A-D4481638AD7E}" type="slidenum">
              <a:rPr lang="en-GB" smtClean="0"/>
              <a:t>‹#›</a:t>
            </a:fld>
            <a:endParaRPr lang="en-GB"/>
          </a:p>
        </p:txBody>
      </p:sp>
    </p:spTree>
    <p:extLst>
      <p:ext uri="{BB962C8B-B14F-4D97-AF65-F5344CB8AC3E}">
        <p14:creationId xmlns:p14="http://schemas.microsoft.com/office/powerpoint/2010/main" val="15777148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lank color">
  <p:cSld name="Blank color">
    <p:bg>
      <p:bgPr>
        <a:solidFill>
          <a:srgbClr val="EDF2F6"/>
        </a:solidFill>
        <a:effectLst/>
      </p:bgPr>
    </p:bg>
    <p:spTree>
      <p:nvGrpSpPr>
        <p:cNvPr id="1" name="Shape 72"/>
        <p:cNvGrpSpPr/>
        <p:nvPr/>
      </p:nvGrpSpPr>
      <p:grpSpPr>
        <a:xfrm>
          <a:off x="0" y="0"/>
          <a:ext cx="0" cy="0"/>
          <a:chOff x="0" y="0"/>
          <a:chExt cx="0" cy="0"/>
        </a:xfrm>
      </p:grpSpPr>
      <p:sp>
        <p:nvSpPr>
          <p:cNvPr id="73" name="Google Shape;73;p14"/>
          <p:cNvSpPr/>
          <p:nvPr/>
        </p:nvSpPr>
        <p:spPr>
          <a:xfrm>
            <a:off x="0" y="0"/>
            <a:ext cx="12192000" cy="3458000"/>
          </a:xfrm>
          <a:prstGeom prst="rect">
            <a:avLst/>
          </a:prstGeom>
          <a:solidFill>
            <a:srgbClr val="073B59"/>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4911"/>
          </a:p>
        </p:txBody>
      </p:sp>
      <p:sp>
        <p:nvSpPr>
          <p:cNvPr id="74" name="Google Shape;74;p14"/>
          <p:cNvSpPr txBox="1">
            <a:spLocks noGrp="1"/>
          </p:cNvSpPr>
          <p:nvPr>
            <p:ph type="sldNum" idx="12"/>
          </p:nvPr>
        </p:nvSpPr>
        <p:spPr>
          <a:xfrm>
            <a:off x="11307445" y="6333135"/>
            <a:ext cx="731600" cy="524800"/>
          </a:xfrm>
          <a:prstGeom prst="rect">
            <a:avLst/>
          </a:prstGeom>
        </p:spPr>
        <p:txBody>
          <a:bodyPr spcFirstLastPara="1" wrap="square" lIns="91425" tIns="91425" rIns="91425" bIns="91425" anchor="t" anchorCtr="0">
            <a:noAutofit/>
          </a:bodyPr>
          <a:lstStyle>
            <a:lvl1pPr lvl="0">
              <a:buNone/>
              <a:defRPr>
                <a:solidFill>
                  <a:srgbClr val="BE62AB"/>
                </a:solidFill>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pic>
        <p:nvPicPr>
          <p:cNvPr id="4" name="Pictur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93286" y="5851109"/>
            <a:ext cx="758341" cy="747784"/>
          </a:xfrm>
          <a:prstGeom prst="rect">
            <a:avLst/>
          </a:prstGeom>
          <a:noFill/>
          <a:ln>
            <a:noFill/>
          </a:ln>
          <a:effectLst/>
        </p:spPr>
      </p:pic>
    </p:spTree>
    <p:extLst>
      <p:ext uri="{BB962C8B-B14F-4D97-AF65-F5344CB8AC3E}">
        <p14:creationId xmlns:p14="http://schemas.microsoft.com/office/powerpoint/2010/main" val="209634348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 2 columns" type="twoColTx">
  <p:cSld name="Title + 2 columns">
    <p:bg>
      <p:bgPr>
        <a:solidFill>
          <a:srgbClr val="EDF2F6"/>
        </a:solidFill>
        <a:effectLst/>
      </p:bgPr>
    </p:bg>
    <p:spTree>
      <p:nvGrpSpPr>
        <p:cNvPr id="1" name="Shape 30"/>
        <p:cNvGrpSpPr/>
        <p:nvPr/>
      </p:nvGrpSpPr>
      <p:grpSpPr>
        <a:xfrm>
          <a:off x="0" y="0"/>
          <a:ext cx="0" cy="0"/>
          <a:chOff x="0" y="0"/>
          <a:chExt cx="0" cy="0"/>
        </a:xfrm>
      </p:grpSpPr>
      <p:sp>
        <p:nvSpPr>
          <p:cNvPr id="31" name="Google Shape;31;p6"/>
          <p:cNvSpPr txBox="1">
            <a:spLocks noGrp="1"/>
          </p:cNvSpPr>
          <p:nvPr>
            <p:ph type="title"/>
          </p:nvPr>
        </p:nvSpPr>
        <p:spPr>
          <a:xfrm>
            <a:off x="1125900" y="51045"/>
            <a:ext cx="4302400" cy="900800"/>
          </a:xfrm>
          <a:prstGeom prst="rect">
            <a:avLst/>
          </a:prstGeom>
        </p:spPr>
        <p:txBody>
          <a:bodyPr spcFirstLastPara="1" wrap="square" lIns="91425" tIns="91425" rIns="91425" bIns="91425" anchor="t" anchorCtr="0">
            <a:noAutofit/>
          </a:bodyPr>
          <a:lstStyle>
            <a:lvl1pPr lvl="0">
              <a:spcBef>
                <a:spcPts val="0"/>
              </a:spcBef>
              <a:spcAft>
                <a:spcPts val="0"/>
              </a:spcAft>
              <a:buSzPts val="2600"/>
              <a:buNone/>
              <a:defRPr>
                <a:solidFill>
                  <a:srgbClr val="073B59"/>
                </a:solidFill>
              </a:defRPr>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a:endParaRPr/>
          </a:p>
        </p:txBody>
      </p:sp>
      <p:sp>
        <p:nvSpPr>
          <p:cNvPr id="32" name="Google Shape;32;p6"/>
          <p:cNvSpPr txBox="1">
            <a:spLocks noGrp="1"/>
          </p:cNvSpPr>
          <p:nvPr>
            <p:ph type="body" idx="1"/>
          </p:nvPr>
        </p:nvSpPr>
        <p:spPr>
          <a:xfrm>
            <a:off x="1125900" y="2112933"/>
            <a:ext cx="4356400" cy="4292000"/>
          </a:xfrm>
          <a:prstGeom prst="rect">
            <a:avLst/>
          </a:prstGeom>
        </p:spPr>
        <p:txBody>
          <a:bodyPr spcFirstLastPara="1" wrap="square" lIns="91425" tIns="91425" rIns="91425" bIns="91425" anchor="t" anchorCtr="0">
            <a:noAutofit/>
          </a:bodyPr>
          <a:lstStyle>
            <a:lvl1pPr marL="609549" lvl="0" indent="-457162">
              <a:spcBef>
                <a:spcPts val="800"/>
              </a:spcBef>
              <a:spcAft>
                <a:spcPts val="0"/>
              </a:spcAft>
              <a:buClr>
                <a:srgbClr val="BE62AB"/>
              </a:buClr>
              <a:buSzPts val="1800"/>
              <a:buChar char="▪"/>
              <a:defRPr>
                <a:solidFill>
                  <a:srgbClr val="073B59"/>
                </a:solidFill>
              </a:defRPr>
            </a:lvl1pPr>
            <a:lvl2pPr marL="1219096" lvl="1" indent="-457162">
              <a:spcBef>
                <a:spcPts val="0"/>
              </a:spcBef>
              <a:spcAft>
                <a:spcPts val="0"/>
              </a:spcAft>
              <a:buSzPts val="1800"/>
              <a:buChar char="▫"/>
              <a:defRPr/>
            </a:lvl2pPr>
            <a:lvl3pPr marL="1828645" lvl="2" indent="-457162">
              <a:spcBef>
                <a:spcPts val="0"/>
              </a:spcBef>
              <a:spcAft>
                <a:spcPts val="0"/>
              </a:spcAft>
              <a:buSzPts val="1800"/>
              <a:buChar char="▸"/>
              <a:defRPr/>
            </a:lvl3pPr>
            <a:lvl4pPr marL="2438194" lvl="3" indent="-457162">
              <a:spcBef>
                <a:spcPts val="0"/>
              </a:spcBef>
              <a:spcAft>
                <a:spcPts val="0"/>
              </a:spcAft>
              <a:buSzPts val="1800"/>
              <a:buChar char="▹"/>
              <a:defRPr/>
            </a:lvl4pPr>
            <a:lvl5pPr marL="3047741" lvl="4" indent="-457162">
              <a:spcBef>
                <a:spcPts val="0"/>
              </a:spcBef>
              <a:spcAft>
                <a:spcPts val="0"/>
              </a:spcAft>
              <a:buSzPts val="1800"/>
              <a:buChar char="▹"/>
              <a:defRPr/>
            </a:lvl5pPr>
            <a:lvl6pPr marL="3657290" lvl="5" indent="-457162">
              <a:spcBef>
                <a:spcPts val="0"/>
              </a:spcBef>
              <a:spcAft>
                <a:spcPts val="0"/>
              </a:spcAft>
              <a:buSzPts val="1800"/>
              <a:buChar char="▹"/>
              <a:defRPr/>
            </a:lvl6pPr>
            <a:lvl7pPr marL="4266839" lvl="6" indent="-457162">
              <a:spcBef>
                <a:spcPts val="0"/>
              </a:spcBef>
              <a:spcAft>
                <a:spcPts val="0"/>
              </a:spcAft>
              <a:buSzPts val="1800"/>
              <a:buChar char="▹"/>
              <a:defRPr/>
            </a:lvl7pPr>
            <a:lvl8pPr marL="4876386" lvl="7" indent="-457162">
              <a:spcBef>
                <a:spcPts val="0"/>
              </a:spcBef>
              <a:spcAft>
                <a:spcPts val="0"/>
              </a:spcAft>
              <a:buSzPts val="1800"/>
              <a:buChar char="▹"/>
              <a:defRPr/>
            </a:lvl8pPr>
            <a:lvl9pPr marL="5485935" lvl="8" indent="-457162">
              <a:spcBef>
                <a:spcPts val="0"/>
              </a:spcBef>
              <a:spcAft>
                <a:spcPts val="0"/>
              </a:spcAft>
              <a:buSzPts val="1800"/>
              <a:buChar char="▹"/>
              <a:defRPr/>
            </a:lvl9pPr>
          </a:lstStyle>
          <a:p>
            <a:endParaRPr/>
          </a:p>
        </p:txBody>
      </p:sp>
      <p:sp>
        <p:nvSpPr>
          <p:cNvPr id="33" name="Google Shape;33;p6"/>
          <p:cNvSpPr txBox="1">
            <a:spLocks noGrp="1"/>
          </p:cNvSpPr>
          <p:nvPr>
            <p:ph type="body" idx="2"/>
          </p:nvPr>
        </p:nvSpPr>
        <p:spPr>
          <a:xfrm>
            <a:off x="5744664" y="2112933"/>
            <a:ext cx="4356400" cy="4292000"/>
          </a:xfrm>
          <a:prstGeom prst="rect">
            <a:avLst/>
          </a:prstGeom>
        </p:spPr>
        <p:txBody>
          <a:bodyPr spcFirstLastPara="1" wrap="square" lIns="91425" tIns="91425" rIns="91425" bIns="91425" anchor="t" anchorCtr="0">
            <a:noAutofit/>
          </a:bodyPr>
          <a:lstStyle>
            <a:lvl1pPr marL="609549" lvl="0" indent="-457162">
              <a:spcBef>
                <a:spcPts val="800"/>
              </a:spcBef>
              <a:spcAft>
                <a:spcPts val="0"/>
              </a:spcAft>
              <a:buClr>
                <a:srgbClr val="BE62AB"/>
              </a:buClr>
              <a:buSzPts val="1800"/>
              <a:buChar char="▪"/>
              <a:defRPr>
                <a:solidFill>
                  <a:srgbClr val="073B59"/>
                </a:solidFill>
              </a:defRPr>
            </a:lvl1pPr>
            <a:lvl2pPr marL="1219096" lvl="1" indent="-457162">
              <a:spcBef>
                <a:spcPts val="0"/>
              </a:spcBef>
              <a:spcAft>
                <a:spcPts val="0"/>
              </a:spcAft>
              <a:buSzPts val="1800"/>
              <a:buChar char="▫"/>
              <a:defRPr/>
            </a:lvl2pPr>
            <a:lvl3pPr marL="1828645" lvl="2" indent="-457162">
              <a:spcBef>
                <a:spcPts val="0"/>
              </a:spcBef>
              <a:spcAft>
                <a:spcPts val="0"/>
              </a:spcAft>
              <a:buSzPts val="1800"/>
              <a:buChar char="▸"/>
              <a:defRPr/>
            </a:lvl3pPr>
            <a:lvl4pPr marL="2438194" lvl="3" indent="-457162">
              <a:spcBef>
                <a:spcPts val="0"/>
              </a:spcBef>
              <a:spcAft>
                <a:spcPts val="0"/>
              </a:spcAft>
              <a:buSzPts val="1800"/>
              <a:buChar char="▹"/>
              <a:defRPr/>
            </a:lvl4pPr>
            <a:lvl5pPr marL="3047741" lvl="4" indent="-457162">
              <a:spcBef>
                <a:spcPts val="0"/>
              </a:spcBef>
              <a:spcAft>
                <a:spcPts val="0"/>
              </a:spcAft>
              <a:buSzPts val="1800"/>
              <a:buChar char="▹"/>
              <a:defRPr/>
            </a:lvl5pPr>
            <a:lvl6pPr marL="3657290" lvl="5" indent="-457162">
              <a:spcBef>
                <a:spcPts val="0"/>
              </a:spcBef>
              <a:spcAft>
                <a:spcPts val="0"/>
              </a:spcAft>
              <a:buSzPts val="1800"/>
              <a:buChar char="▹"/>
              <a:defRPr/>
            </a:lvl6pPr>
            <a:lvl7pPr marL="4266839" lvl="6" indent="-457162">
              <a:spcBef>
                <a:spcPts val="0"/>
              </a:spcBef>
              <a:spcAft>
                <a:spcPts val="0"/>
              </a:spcAft>
              <a:buSzPts val="1800"/>
              <a:buChar char="▹"/>
              <a:defRPr/>
            </a:lvl7pPr>
            <a:lvl8pPr marL="4876386" lvl="7" indent="-457162">
              <a:spcBef>
                <a:spcPts val="0"/>
              </a:spcBef>
              <a:spcAft>
                <a:spcPts val="0"/>
              </a:spcAft>
              <a:buSzPts val="1800"/>
              <a:buChar char="▹"/>
              <a:defRPr/>
            </a:lvl8pPr>
            <a:lvl9pPr marL="5485935" lvl="8" indent="-457162">
              <a:spcBef>
                <a:spcPts val="0"/>
              </a:spcBef>
              <a:spcAft>
                <a:spcPts val="0"/>
              </a:spcAft>
              <a:buSzPts val="1800"/>
              <a:buChar char="▹"/>
              <a:defRPr/>
            </a:lvl9pPr>
          </a:lstStyle>
          <a:p>
            <a:endParaRPr/>
          </a:p>
        </p:txBody>
      </p:sp>
      <p:sp>
        <p:nvSpPr>
          <p:cNvPr id="35" name="Google Shape;35;p6"/>
          <p:cNvSpPr/>
          <p:nvPr/>
        </p:nvSpPr>
        <p:spPr>
          <a:xfrm>
            <a:off x="12119600" y="0"/>
            <a:ext cx="72400" cy="6858000"/>
          </a:xfrm>
          <a:prstGeom prst="rect">
            <a:avLst/>
          </a:prstGeom>
          <a:solidFill>
            <a:srgbClr val="073B59"/>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4911"/>
          </a:p>
        </p:txBody>
      </p:sp>
      <p:sp>
        <p:nvSpPr>
          <p:cNvPr id="36" name="Google Shape;36;p6"/>
          <p:cNvSpPr txBox="1">
            <a:spLocks noGrp="1"/>
          </p:cNvSpPr>
          <p:nvPr>
            <p:ph type="sldNum" idx="12"/>
          </p:nvPr>
        </p:nvSpPr>
        <p:spPr>
          <a:xfrm>
            <a:off x="11307445" y="6333135"/>
            <a:ext cx="731600" cy="524800"/>
          </a:xfrm>
          <a:prstGeom prst="rect">
            <a:avLst/>
          </a:prstGeom>
        </p:spPr>
        <p:txBody>
          <a:bodyPr spcFirstLastPara="1" wrap="square" lIns="91425" tIns="91425" rIns="91425" bIns="91425" anchor="t" anchorCtr="0">
            <a:noAutofit/>
          </a:bodyPr>
          <a:lstStyle>
            <a:lvl1pPr lvl="0">
              <a:buNone/>
              <a:defRPr>
                <a:solidFill>
                  <a:srgbClr val="BE62AB"/>
                </a:solidFill>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
        <p:nvSpPr>
          <p:cNvPr id="9" name="Google Shape;27;p5"/>
          <p:cNvSpPr/>
          <p:nvPr userDrawn="1"/>
        </p:nvSpPr>
        <p:spPr>
          <a:xfrm>
            <a:off x="706853" y="334580"/>
            <a:ext cx="72400" cy="900800"/>
          </a:xfrm>
          <a:prstGeom prst="rect">
            <a:avLst/>
          </a:prstGeom>
          <a:solidFill>
            <a:srgbClr val="073B59"/>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4911"/>
          </a:p>
        </p:txBody>
      </p:sp>
    </p:spTree>
    <p:extLst>
      <p:ext uri="{BB962C8B-B14F-4D97-AF65-F5344CB8AC3E}">
        <p14:creationId xmlns:p14="http://schemas.microsoft.com/office/powerpoint/2010/main" val="88027044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A1DFE-AD95-CC24-F104-01114183A3D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7FD68423-42CE-A858-40D1-3790FA45294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5F148E67-53D4-8AD8-7897-5AFBDE4E8281}"/>
              </a:ext>
            </a:extLst>
          </p:cNvPr>
          <p:cNvSpPr>
            <a:spLocks noGrp="1"/>
          </p:cNvSpPr>
          <p:nvPr>
            <p:ph type="dt" sz="half" idx="10"/>
          </p:nvPr>
        </p:nvSpPr>
        <p:spPr/>
        <p:txBody>
          <a:bodyPr/>
          <a:lstStyle/>
          <a:p>
            <a:fld id="{F25A64A5-A9D6-9B47-A69D-524A28E4B92B}" type="datetimeFigureOut">
              <a:rPr lang="en-US" smtClean="0"/>
              <a:t>6/10/26</a:t>
            </a:fld>
            <a:endParaRPr lang="en-US"/>
          </a:p>
        </p:txBody>
      </p:sp>
      <p:sp>
        <p:nvSpPr>
          <p:cNvPr id="5" name="Footer Placeholder 4">
            <a:extLst>
              <a:ext uri="{FF2B5EF4-FFF2-40B4-BE49-F238E27FC236}">
                <a16:creationId xmlns:a16="http://schemas.microsoft.com/office/drawing/2014/main" id="{66562B8F-4211-3756-3E0D-F4666DC971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962518-875E-F401-46D1-CA9B8347BD70}"/>
              </a:ext>
            </a:extLst>
          </p:cNvPr>
          <p:cNvSpPr>
            <a:spLocks noGrp="1"/>
          </p:cNvSpPr>
          <p:nvPr>
            <p:ph type="sldNum" sz="quarter" idx="12"/>
          </p:nvPr>
        </p:nvSpPr>
        <p:spPr/>
        <p:txBody>
          <a:bodyPr/>
          <a:lstStyle/>
          <a:p>
            <a:fld id="{AF8720EB-664B-B448-A292-EB1281D95C72}" type="slidenum">
              <a:rPr lang="en-US" smtClean="0"/>
              <a:t>‹#›</a:t>
            </a:fld>
            <a:endParaRPr lang="en-US"/>
          </a:p>
        </p:txBody>
      </p:sp>
    </p:spTree>
    <p:extLst>
      <p:ext uri="{BB962C8B-B14F-4D97-AF65-F5344CB8AC3E}">
        <p14:creationId xmlns:p14="http://schemas.microsoft.com/office/powerpoint/2010/main" val="3012482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16.xml"/><Relationship Id="rId7"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9A6CD0-442B-4B42-B5E6-6BF074CE3315}" type="datetimeFigureOut">
              <a:rPr lang="en-GB" smtClean="0"/>
              <a:t>10/06/2026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C042092-B935-4459-B762-7DD9848AEEF9}" type="slidenum">
              <a:rPr lang="en-GB" smtClean="0"/>
              <a:t>‹#›</a:t>
            </a:fld>
            <a:endParaRPr lang="en-GB"/>
          </a:p>
        </p:txBody>
      </p:sp>
    </p:spTree>
    <p:extLst>
      <p:ext uri="{BB962C8B-B14F-4D97-AF65-F5344CB8AC3E}">
        <p14:creationId xmlns:p14="http://schemas.microsoft.com/office/powerpoint/2010/main" val="52917230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706"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EDF2F6"/>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125900" y="563333"/>
            <a:ext cx="4302400" cy="666786"/>
          </a:xfrm>
          <a:prstGeom prst="rect">
            <a:avLst/>
          </a:prstGeom>
          <a:noFill/>
        </p:spPr>
        <p:txBody>
          <a:bodyPr wrap="square" rtlCol="0">
            <a:spAutoFit/>
          </a:bodyPr>
          <a:lstStyle/>
          <a:p>
            <a:pPr lvl="0"/>
            <a:endParaRPr/>
          </a:p>
        </p:txBody>
      </p:sp>
      <p:sp>
        <p:nvSpPr>
          <p:cNvPr id="7" name="Google Shape;7;p1"/>
          <p:cNvSpPr txBox="1">
            <a:spLocks noGrp="1"/>
          </p:cNvSpPr>
          <p:nvPr>
            <p:ph type="body" idx="1"/>
          </p:nvPr>
        </p:nvSpPr>
        <p:spPr>
          <a:xfrm>
            <a:off x="965064" y="2115101"/>
            <a:ext cx="8122800" cy="461665"/>
          </a:xfrm>
          <a:prstGeom prst="rect">
            <a:avLst/>
          </a:prstGeom>
          <a:noFill/>
        </p:spPr>
        <p:txBody>
          <a:bodyPr wrap="square" rtlCol="0">
            <a:spAutoFit/>
          </a:bodyPr>
          <a:lstStyle/>
          <a:p>
            <a:pPr marL="380968" lvl="0" indent="-380968">
              <a:buChar char="•"/>
            </a:pPr>
            <a:endParaRPr/>
          </a:p>
        </p:txBody>
      </p:sp>
      <p:sp>
        <p:nvSpPr>
          <p:cNvPr id="8" name="Google Shape;8;p1"/>
          <p:cNvSpPr txBox="1">
            <a:spLocks noGrp="1"/>
          </p:cNvSpPr>
          <p:nvPr>
            <p:ph type="sldNum" idx="12"/>
          </p:nvPr>
        </p:nvSpPr>
        <p:spPr>
          <a:xfrm>
            <a:off x="11307445" y="6333135"/>
            <a:ext cx="731600" cy="524800"/>
          </a:xfrm>
          <a:prstGeom prst="rect">
            <a:avLst/>
          </a:prstGeom>
          <a:noFill/>
          <a:ln>
            <a:noFill/>
          </a:ln>
        </p:spPr>
        <p:txBody>
          <a:bodyPr spcFirstLastPara="1" wrap="square" lIns="91425" tIns="91425" rIns="91425" bIns="91425" anchor="t" anchorCtr="0">
            <a:noAutofit/>
          </a:bodyPr>
          <a:lstStyle>
            <a:lvl1pPr lvl="0" algn="r">
              <a:buNone/>
              <a:defRPr sz="1600" b="1">
                <a:solidFill>
                  <a:srgbClr val="BE62AB"/>
                </a:solidFill>
                <a:latin typeface="Calibri" panose="020F0502020204030204" pitchFamily="34" charset="0"/>
                <a:ea typeface="Calibri" panose="020F0502020204030204" pitchFamily="34" charset="0"/>
                <a:cs typeface="Calibri" panose="020F0502020204030204" pitchFamily="34" charset="0"/>
                <a:sym typeface="Titillium Web"/>
              </a:defRPr>
            </a:lvl1pPr>
            <a:lvl2pPr lvl="1" algn="r">
              <a:buNone/>
              <a:defRPr sz="1600" b="1">
                <a:solidFill>
                  <a:srgbClr val="FF004E"/>
                </a:solidFill>
                <a:latin typeface="Titillium Web"/>
                <a:ea typeface="Titillium Web"/>
                <a:cs typeface="Titillium Web"/>
                <a:sym typeface="Titillium Web"/>
              </a:defRPr>
            </a:lvl2pPr>
            <a:lvl3pPr lvl="2" algn="r">
              <a:buNone/>
              <a:defRPr sz="1600" b="1">
                <a:solidFill>
                  <a:srgbClr val="FF004E"/>
                </a:solidFill>
                <a:latin typeface="Titillium Web"/>
                <a:ea typeface="Titillium Web"/>
                <a:cs typeface="Titillium Web"/>
                <a:sym typeface="Titillium Web"/>
              </a:defRPr>
            </a:lvl3pPr>
            <a:lvl4pPr lvl="3" algn="r">
              <a:buNone/>
              <a:defRPr sz="1600" b="1">
                <a:solidFill>
                  <a:srgbClr val="FF004E"/>
                </a:solidFill>
                <a:latin typeface="Titillium Web"/>
                <a:ea typeface="Titillium Web"/>
                <a:cs typeface="Titillium Web"/>
                <a:sym typeface="Titillium Web"/>
              </a:defRPr>
            </a:lvl4pPr>
            <a:lvl5pPr lvl="4" algn="r">
              <a:buNone/>
              <a:defRPr sz="1600" b="1">
                <a:solidFill>
                  <a:srgbClr val="FF004E"/>
                </a:solidFill>
                <a:latin typeface="Titillium Web"/>
                <a:ea typeface="Titillium Web"/>
                <a:cs typeface="Titillium Web"/>
                <a:sym typeface="Titillium Web"/>
              </a:defRPr>
            </a:lvl5pPr>
            <a:lvl6pPr lvl="5" algn="r">
              <a:buNone/>
              <a:defRPr sz="1600" b="1">
                <a:solidFill>
                  <a:srgbClr val="FF004E"/>
                </a:solidFill>
                <a:latin typeface="Titillium Web"/>
                <a:ea typeface="Titillium Web"/>
                <a:cs typeface="Titillium Web"/>
                <a:sym typeface="Titillium Web"/>
              </a:defRPr>
            </a:lvl6pPr>
            <a:lvl7pPr lvl="6" algn="r">
              <a:buNone/>
              <a:defRPr sz="1600" b="1">
                <a:solidFill>
                  <a:srgbClr val="FF004E"/>
                </a:solidFill>
                <a:latin typeface="Titillium Web"/>
                <a:ea typeface="Titillium Web"/>
                <a:cs typeface="Titillium Web"/>
                <a:sym typeface="Titillium Web"/>
              </a:defRPr>
            </a:lvl7pPr>
            <a:lvl8pPr lvl="7" algn="r">
              <a:buNone/>
              <a:defRPr sz="1600" b="1">
                <a:solidFill>
                  <a:srgbClr val="FF004E"/>
                </a:solidFill>
                <a:latin typeface="Titillium Web"/>
                <a:ea typeface="Titillium Web"/>
                <a:cs typeface="Titillium Web"/>
                <a:sym typeface="Titillium Web"/>
              </a:defRPr>
            </a:lvl8pPr>
            <a:lvl9pPr lvl="8" algn="r">
              <a:buNone/>
              <a:defRPr sz="1600" b="1">
                <a:solidFill>
                  <a:srgbClr val="FF004E"/>
                </a:solidFill>
                <a:latin typeface="Titillium Web"/>
                <a:ea typeface="Titillium Web"/>
                <a:cs typeface="Titillium Web"/>
                <a:sym typeface="Titillium Web"/>
              </a:defRPr>
            </a:lvl9pPr>
          </a:lstStyle>
          <a:p>
            <a:fld id="{00000000-1234-1234-1234-123412341234}" type="slidenum">
              <a:rPr lang="en" smtClean="0"/>
              <a:pPr/>
              <a:t>‹#›</a:t>
            </a:fld>
            <a:endParaRPr lang="en"/>
          </a:p>
        </p:txBody>
      </p:sp>
      <p:pic>
        <p:nvPicPr>
          <p:cNvPr id="4" name="Picture 3"/>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10964271" y="273204"/>
            <a:ext cx="758341" cy="747784"/>
          </a:xfrm>
          <a:prstGeom prst="rect">
            <a:avLst/>
          </a:prstGeom>
          <a:noFill/>
          <a:ln>
            <a:noFill/>
          </a:ln>
          <a:effectLst/>
        </p:spPr>
      </p:pic>
    </p:spTree>
    <p:extLst>
      <p:ext uri="{BB962C8B-B14F-4D97-AF65-F5344CB8AC3E}">
        <p14:creationId xmlns:p14="http://schemas.microsoft.com/office/powerpoint/2010/main" val="338098984"/>
      </p:ext>
    </p:extLst>
  </p:cSld>
  <p:clrMap bg1="lt1" tx1="dk1" bg2="dk2" tx2="lt2" accent1="accent1" accent2="accent2" accent3="accent3" accent4="accent4" accent5="accent5" accent6="accent6" hlink="hlink" folHlink="folHlink"/>
  <p:sldLayoutIdLst>
    <p:sldLayoutId id="2147483687" r:id="rId1"/>
    <p:sldLayoutId id="2147483689" r:id="rId2"/>
    <p:sldLayoutId id="2147483691" r:id="rId3"/>
    <p:sldLayoutId id="2147483707" r:id="rId4"/>
    <p:sldLayoutId id="2147483708" r:id="rId5"/>
    <p:sldLayoutId id="2147483709" r:id="rId6"/>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733" b="1" i="0" u="none" strike="noStrike" cap="none" dirty="0">
          <a:solidFill>
            <a:srgbClr val="073B59"/>
          </a:solidFill>
          <a:latin typeface="+mj-lt"/>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L="152387" marR="0" lvl="0" indent="0" algn="l" rtl="0">
        <a:lnSpc>
          <a:spcPct val="100000"/>
        </a:lnSpc>
        <a:spcBef>
          <a:spcPts val="0"/>
        </a:spcBef>
        <a:spcAft>
          <a:spcPts val="0"/>
        </a:spcAft>
        <a:buClr>
          <a:srgbClr val="BE62AB"/>
        </a:buClr>
        <a:buSzPct val="75000"/>
        <a:buFont typeface="Arial" panose="020B0604020202020204" pitchFamily="34" charset="0"/>
        <a:buNone/>
        <a:defRPr sz="2400" b="0" i="0" u="none" strike="noStrike" cap="none" dirty="0">
          <a:solidFill>
            <a:srgbClr val="073B59"/>
          </a:solidFill>
          <a:latin typeface="+mn-lt"/>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sgsssonline.github.io/nvivo-guidance/" TargetMode="External"/><Relationship Id="rId1" Type="http://schemas.openxmlformats.org/officeDocument/2006/relationships/slideLayout" Target="../slideLayouts/slideLayout12.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4.xml"/><Relationship Id="rId1" Type="http://schemas.openxmlformats.org/officeDocument/2006/relationships/slideLayout" Target="../slideLayouts/slideLayout18.xml"/><Relationship Id="rId4" Type="http://schemas.openxmlformats.org/officeDocument/2006/relationships/image" Target="../media/image10.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8" Type="http://schemas.openxmlformats.org/officeDocument/2006/relationships/hyperlink" Target="https://help-nv.qsrinternational.com/14/mac/Content/welcome.htm" TargetMode="External"/><Relationship Id="rId3" Type="http://schemas.openxmlformats.org/officeDocument/2006/relationships/hyperlink" Target="https://help-nv.qsrinternational.com/20/win/Content/welcome.htm" TargetMode="External"/><Relationship Id="rId7" Type="http://schemas.openxmlformats.org/officeDocument/2006/relationships/hyperlink" Target="https://help-nv.qsrinternational.com/20/mac/Content/welcome.htm" TargetMode="External"/><Relationship Id="rId2" Type="http://schemas.openxmlformats.org/officeDocument/2006/relationships/hyperlink" Target="https://help-nv.qsrinternational.com/12/win/v12.1.115-d3ea61/Content/welcome.htm" TargetMode="External"/><Relationship Id="rId1" Type="http://schemas.openxmlformats.org/officeDocument/2006/relationships/slideLayout" Target="../slideLayouts/slideLayout16.xml"/><Relationship Id="rId6" Type="http://schemas.openxmlformats.org/officeDocument/2006/relationships/hyperlink" Target="https://help-nv.qsrinternational.com/12/mac/v12.1.115-d3ea61/Content/welcome.htm" TargetMode="External"/><Relationship Id="rId5" Type="http://schemas.openxmlformats.org/officeDocument/2006/relationships/hyperlink" Target="https://help-nv.qsrinternational.com/15/win/Content/welcome.htm" TargetMode="External"/><Relationship Id="rId4" Type="http://schemas.openxmlformats.org/officeDocument/2006/relationships/hyperlink" Target="https://help-nv.qsrinternational.com/14/win/Content/welcome.htm" TargetMode="External"/><Relationship Id="rId9" Type="http://schemas.openxmlformats.org/officeDocument/2006/relationships/hyperlink" Target="https://help-nv.qsrinternational.com/15/mac/Content/welcome.htm"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9.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3" Type="http://schemas.openxmlformats.org/officeDocument/2006/relationships/hyperlink" Target="https://qesb.info/" TargetMode="External"/><Relationship Id="rId2" Type="http://schemas.openxmlformats.org/officeDocument/2006/relationships/image" Target="../media/image11.jpeg"/><Relationship Id="rId1" Type="http://schemas.openxmlformats.org/officeDocument/2006/relationships/slideLayout" Target="../slideLayouts/slideLayout16.xml"/><Relationship Id="rId5" Type="http://schemas.openxmlformats.org/officeDocument/2006/relationships/image" Target="../media/image13.png"/><Relationship Id="rId4" Type="http://schemas.openxmlformats.org/officeDocument/2006/relationships/image" Target="../media/image12.jpeg"/></Relationships>
</file>

<file path=ppt/slides/_rels/slide13.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svg"/><Relationship Id="rId1" Type="http://schemas.openxmlformats.org/officeDocument/2006/relationships/slideLayout" Target="../slideLayouts/slideLayout16.xml"/><Relationship Id="rId6" Type="http://schemas.openxmlformats.org/officeDocument/2006/relationships/image" Target="../media/image18.jpeg"/><Relationship Id="rId5" Type="http://schemas.openxmlformats.org/officeDocument/2006/relationships/image" Target="../media/image17.png"/><Relationship Id="rId4" Type="http://schemas.openxmlformats.org/officeDocument/2006/relationships/image" Target="../media/image16.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16.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16.xml"/><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hyperlink" Target="https://sgsssonline.github.io/nvivo-guidance/Getting%20started.html" TargetMode="External"/><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3" Type="http://schemas.openxmlformats.org/officeDocument/2006/relationships/hyperlink" Target="https://sgsssonline.github.io/nvivo-guidance/" TargetMode="External"/><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2" name="Rectangle 1"/>
          <p:cNvSpPr/>
          <p:nvPr/>
        </p:nvSpPr>
        <p:spPr>
          <a:xfrm>
            <a:off x="0" y="4982401"/>
            <a:ext cx="12192000" cy="191399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4911"/>
          </a:p>
        </p:txBody>
      </p:sp>
      <p:sp>
        <p:nvSpPr>
          <p:cNvPr id="79" name="Google Shape;79;p15"/>
          <p:cNvSpPr txBox="1">
            <a:spLocks noGrp="1"/>
          </p:cNvSpPr>
          <p:nvPr>
            <p:ph type="ctrTitle"/>
          </p:nvPr>
        </p:nvSpPr>
        <p:spPr>
          <a:xfrm>
            <a:off x="1878429" y="1688130"/>
            <a:ext cx="11010348" cy="1546400"/>
          </a:xfrm>
          <a:prstGeom prst="rect">
            <a:avLst/>
          </a:prstGeom>
        </p:spPr>
        <p:txBody>
          <a:bodyPr spcFirstLastPara="1" vert="horz" wrap="square" lIns="121900" tIns="121900" rIns="121900" bIns="121900" rtlCol="0" anchor="ctr" anchorCtr="0">
            <a:noAutofit/>
          </a:bodyPr>
          <a:lstStyle/>
          <a:p>
            <a:pPr marL="101591"/>
            <a:br>
              <a:rPr lang="en-GB" sz="4000" b="1" dirty="0">
                <a:solidFill>
                  <a:schemeClr val="bg1"/>
                </a:solidFill>
              </a:rPr>
            </a:br>
            <a:br>
              <a:rPr lang="en-GB" sz="4000" b="1" dirty="0">
                <a:solidFill>
                  <a:schemeClr val="bg1"/>
                </a:solidFill>
              </a:rPr>
            </a:br>
            <a:r>
              <a:rPr lang="en-GB" sz="4000" b="1" dirty="0">
                <a:solidFill>
                  <a:schemeClr val="bg1"/>
                </a:solidFill>
              </a:rPr>
              <a:t>Introduction to Qualitative Analysis </a:t>
            </a:r>
            <a:br>
              <a:rPr lang="en-GB" sz="4000" b="1" dirty="0">
                <a:solidFill>
                  <a:schemeClr val="bg1"/>
                </a:solidFill>
              </a:rPr>
            </a:br>
            <a:r>
              <a:rPr lang="en-GB" sz="4000" b="1" dirty="0">
                <a:solidFill>
                  <a:schemeClr val="bg1"/>
                </a:solidFill>
              </a:rPr>
              <a:t>Projects in Nvivo </a:t>
            </a:r>
            <a:br>
              <a:rPr lang="en-GB" sz="4000" b="1" dirty="0">
                <a:solidFill>
                  <a:schemeClr val="bg1"/>
                </a:solidFill>
              </a:rPr>
            </a:br>
            <a:br>
              <a:rPr lang="en-GB" sz="4000" b="1" dirty="0">
                <a:solidFill>
                  <a:schemeClr val="bg1"/>
                </a:solidFill>
              </a:rPr>
            </a:br>
            <a:r>
              <a:rPr lang="en-GB" sz="2800" b="1" dirty="0">
                <a:solidFill>
                  <a:schemeClr val="bg1"/>
                </a:solidFill>
              </a:rPr>
              <a:t>Katy Keenan, Dr Alasdair Stewart , Dalia Avello Vega, </a:t>
            </a:r>
            <a:br>
              <a:rPr lang="en-GB" sz="2800" b="1" dirty="0">
                <a:solidFill>
                  <a:schemeClr val="bg1"/>
                </a:solidFill>
              </a:rPr>
            </a:br>
            <a:r>
              <a:rPr lang="en-GB" sz="2800" b="1" dirty="0">
                <a:solidFill>
                  <a:schemeClr val="bg1"/>
                </a:solidFill>
              </a:rPr>
              <a:t>with material from Dr </a:t>
            </a:r>
            <a:r>
              <a:rPr lang="en-GB" sz="2800" b="1">
                <a:solidFill>
                  <a:schemeClr val="bg1"/>
                </a:solidFill>
              </a:rPr>
              <a:t>Kathryn Fredricks </a:t>
            </a:r>
            <a:endParaRPr lang="en-US" sz="4000" dirty="0">
              <a:solidFill>
                <a:schemeClr val="bg1"/>
              </a:solidFill>
            </a:endParaRP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67629" y="5351095"/>
            <a:ext cx="3024712" cy="1065435"/>
          </a:xfrm>
          <a:prstGeom prst="rect">
            <a:avLst/>
          </a:prstGeom>
        </p:spPr>
      </p:pic>
      <p:pic>
        <p:nvPicPr>
          <p:cNvPr id="5" name="Picture 4"/>
          <p:cNvPicPr>
            <a:picLocks noChangeAspect="1"/>
          </p:cNvPicPr>
          <p:nvPr/>
        </p:nvPicPr>
        <p:blipFill>
          <a:blip r:embed="rId4"/>
          <a:srcRect/>
          <a:stretch/>
        </p:blipFill>
        <p:spPr>
          <a:xfrm>
            <a:off x="366073" y="5610219"/>
            <a:ext cx="3024712" cy="769509"/>
          </a:xfrm>
          <a:prstGeom prst="rect">
            <a:avLst/>
          </a:prstGeom>
        </p:spPr>
      </p:pic>
      <p:pic>
        <p:nvPicPr>
          <p:cNvPr id="7" name="Picture 7" descr="A close up of a sign&#10;&#10;Description automatically generated">
            <a:extLst>
              <a:ext uri="{FF2B5EF4-FFF2-40B4-BE49-F238E27FC236}">
                <a16:creationId xmlns:a16="http://schemas.microsoft.com/office/drawing/2014/main" id="{4C240980-7D4D-4083-B8F4-7814A2705687}"/>
              </a:ext>
            </a:extLst>
          </p:cNvPr>
          <p:cNvPicPr>
            <a:picLocks noChangeAspect="1"/>
          </p:cNvPicPr>
          <p:nvPr/>
        </p:nvPicPr>
        <p:blipFill>
          <a:blip r:embed="rId5"/>
          <a:stretch>
            <a:fillRect/>
          </a:stretch>
        </p:blipFill>
        <p:spPr>
          <a:xfrm>
            <a:off x="4391762" y="5509285"/>
            <a:ext cx="3408476" cy="870444"/>
          </a:xfrm>
          <a:prstGeom prst="rect">
            <a:avLst/>
          </a:prstGeom>
        </p:spPr>
      </p:pic>
      <p:pic>
        <p:nvPicPr>
          <p:cNvPr id="8" name="Picture 7" descr="Icon&#10;&#10;Description automatically generated">
            <a:extLst>
              <a:ext uri="{FF2B5EF4-FFF2-40B4-BE49-F238E27FC236}">
                <a16:creationId xmlns:a16="http://schemas.microsoft.com/office/drawing/2014/main" id="{D5EF3250-62E0-40CB-A83B-777425B38D81}"/>
              </a:ext>
            </a:extLst>
          </p:cNvPr>
          <p:cNvPicPr>
            <a:picLocks noChangeAspect="1"/>
          </p:cNvPicPr>
          <p:nvPr/>
        </p:nvPicPr>
        <p:blipFill>
          <a:blip r:embed="rId6"/>
          <a:stretch>
            <a:fillRect/>
          </a:stretch>
        </p:blipFill>
        <p:spPr>
          <a:xfrm>
            <a:off x="283588" y="260282"/>
            <a:ext cx="1248000" cy="122637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2" name="Rectangle 1"/>
          <p:cNvSpPr/>
          <p:nvPr/>
        </p:nvSpPr>
        <p:spPr>
          <a:xfrm>
            <a:off x="6068501" y="0"/>
            <a:ext cx="638361" cy="6858000"/>
          </a:xfrm>
          <a:prstGeom prst="rect">
            <a:avLst/>
          </a:prstGeom>
          <a:solidFill>
            <a:srgbClr val="073B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4911"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3" name="Google Shape;153;p24"/>
          <p:cNvSpPr txBox="1">
            <a:spLocks noGrp="1"/>
          </p:cNvSpPr>
          <p:nvPr>
            <p:ph type="title"/>
          </p:nvPr>
        </p:nvSpPr>
        <p:spPr>
          <a:xfrm>
            <a:off x="869540" y="424018"/>
            <a:ext cx="5837322" cy="851311"/>
          </a:xfrm>
          <a:prstGeom prst="rect">
            <a:avLst/>
          </a:prstGeom>
        </p:spPr>
        <p:txBody>
          <a:bodyPr spcFirstLastPara="1" vert="horz" wrap="square" lIns="121900" tIns="121900" rIns="121900" bIns="121900" rtlCol="0" anchor="t" anchorCtr="0">
            <a:noAutofit/>
          </a:bodyPr>
          <a:lstStyle/>
          <a:p>
            <a:r>
              <a:rPr lang="en-US" sz="3200" b="1" dirty="0">
                <a:solidFill>
                  <a:schemeClr val="bg1"/>
                </a:solidFill>
              </a:rPr>
              <a:t>The aims of this workshop </a:t>
            </a:r>
            <a:endParaRPr sz="3200" b="1" dirty="0">
              <a:solidFill>
                <a:schemeClr val="bg1"/>
              </a:solidFill>
              <a:latin typeface="Inter" panose="02000503000000020004" pitchFamily="2" charset="0"/>
              <a:ea typeface="Inter" panose="02000503000000020004" pitchFamily="2" charset="0"/>
            </a:endParaRPr>
          </a:p>
        </p:txBody>
      </p:sp>
      <p:sp>
        <p:nvSpPr>
          <p:cNvPr id="156" name="Google Shape;156;p24"/>
          <p:cNvSpPr txBox="1">
            <a:spLocks noGrp="1"/>
          </p:cNvSpPr>
          <p:nvPr>
            <p:ph type="sldNum" idx="12"/>
          </p:nvPr>
        </p:nvSpPr>
        <p:spPr>
          <a:prstGeom prst="rect">
            <a:avLst/>
          </a:prstGeom>
        </p:spPr>
        <p:txBody>
          <a:bodyPr spcFirstLastPara="1" vert="horz" wrap="square" lIns="121900" tIns="121900" rIns="121900" bIns="121900" rtlCol="0" anchor="t"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en" sz="1200" b="0" i="0" u="none" strike="noStrike" kern="1200" cap="none" spc="0" normalizeH="0" baseline="0" noProof="0">
                <a:ln>
                  <a:noFill/>
                </a:ln>
                <a:solidFill>
                  <a:srgbClr val="FFFFFF"/>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sz="1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54" name="Google Shape;154;p24"/>
          <p:cNvSpPr txBox="1">
            <a:spLocks noGrp="1"/>
          </p:cNvSpPr>
          <p:nvPr>
            <p:ph type="body" idx="4294967295"/>
          </p:nvPr>
        </p:nvSpPr>
        <p:spPr>
          <a:xfrm>
            <a:off x="152955" y="1488662"/>
            <a:ext cx="6407131" cy="5156005"/>
          </a:xfrm>
          <a:prstGeom prst="rect">
            <a:avLst/>
          </a:prstGeom>
        </p:spPr>
        <p:txBody>
          <a:bodyPr spcFirstLastPara="1" vert="horz" wrap="square" lIns="121900" tIns="121900" rIns="121900" bIns="121900" rtlCol="0" anchor="t" anchorCtr="0">
            <a:noAutofit/>
          </a:bodyPr>
          <a:lstStyle/>
          <a:p>
            <a:pPr>
              <a:lnSpc>
                <a:spcPct val="100000"/>
              </a:lnSpc>
              <a:buFont typeface="Wingdings" pitchFamily="2" charset="2"/>
              <a:buChar char="§"/>
            </a:pPr>
            <a:r>
              <a:rPr lang="en-US" sz="2400" dirty="0">
                <a:solidFill>
                  <a:schemeClr val="bg1"/>
                </a:solidFill>
              </a:rPr>
              <a:t>Introduce you to how to use </a:t>
            </a:r>
            <a:r>
              <a:rPr lang="en-US" sz="2400" dirty="0" err="1">
                <a:solidFill>
                  <a:schemeClr val="bg1"/>
                </a:solidFill>
              </a:rPr>
              <a:t>Nvivo</a:t>
            </a:r>
            <a:r>
              <a:rPr lang="en-US" sz="2400" dirty="0">
                <a:solidFill>
                  <a:schemeClr val="bg1"/>
                </a:solidFill>
              </a:rPr>
              <a:t> projects for managing data and organizing your PhD project </a:t>
            </a:r>
          </a:p>
          <a:p>
            <a:pPr marL="0" indent="0">
              <a:lnSpc>
                <a:spcPct val="100000"/>
              </a:lnSpc>
              <a:buNone/>
            </a:pPr>
            <a:endParaRPr lang="en-US" sz="2400" dirty="0">
              <a:solidFill>
                <a:schemeClr val="bg1"/>
              </a:solidFill>
            </a:endParaRPr>
          </a:p>
          <a:p>
            <a:pPr>
              <a:lnSpc>
                <a:spcPct val="100000"/>
              </a:lnSpc>
              <a:buFont typeface="Wingdings" pitchFamily="2" charset="2"/>
              <a:buChar char="§"/>
            </a:pPr>
            <a:r>
              <a:rPr lang="en-US" sz="2400" dirty="0">
                <a:solidFill>
                  <a:schemeClr val="bg1"/>
                </a:solidFill>
              </a:rPr>
              <a:t>How to use Nvivo for coding</a:t>
            </a:r>
          </a:p>
          <a:p>
            <a:pPr marL="0" indent="0">
              <a:lnSpc>
                <a:spcPct val="100000"/>
              </a:lnSpc>
              <a:buNone/>
            </a:pPr>
            <a:endParaRPr lang="en-US" sz="2400" dirty="0">
              <a:solidFill>
                <a:schemeClr val="bg1"/>
              </a:solidFill>
            </a:endParaRPr>
          </a:p>
          <a:p>
            <a:pPr>
              <a:lnSpc>
                <a:spcPct val="100000"/>
              </a:lnSpc>
              <a:buFont typeface="Wingdings" pitchFamily="2" charset="2"/>
              <a:buChar char="§"/>
            </a:pPr>
            <a:r>
              <a:rPr lang="en-US" sz="2400" dirty="0">
                <a:solidFill>
                  <a:schemeClr val="bg1"/>
                </a:solidFill>
              </a:rPr>
              <a:t>Aimed at those who are complete beginners or who have limited exposure</a:t>
            </a:r>
          </a:p>
          <a:p>
            <a:pPr marL="0" indent="0">
              <a:lnSpc>
                <a:spcPct val="100000"/>
              </a:lnSpc>
              <a:buNone/>
            </a:pPr>
            <a:endParaRPr lang="en-US" sz="2400" dirty="0">
              <a:solidFill>
                <a:schemeClr val="bg1"/>
              </a:solidFill>
            </a:endParaRPr>
          </a:p>
          <a:p>
            <a:pPr marL="380365" indent="-380365">
              <a:spcBef>
                <a:spcPts val="800"/>
              </a:spcBef>
              <a:buClr>
                <a:schemeClr val="bg1"/>
              </a:buClr>
              <a:buSzPct val="125000"/>
            </a:pPr>
            <a:endParaRPr sz="2400" dirty="0">
              <a:solidFill>
                <a:srgbClr val="FFFFFF"/>
              </a:solidFill>
              <a:ea typeface="Calibri" panose="020F0502020204030204"/>
              <a:cs typeface="Calibri" panose="020F0502020204030204"/>
            </a:endParaRPr>
          </a:p>
        </p:txBody>
      </p:sp>
      <p:graphicFrame>
        <p:nvGraphicFramePr>
          <p:cNvPr id="4" name="Diagram 3">
            <a:extLst>
              <a:ext uri="{FF2B5EF4-FFF2-40B4-BE49-F238E27FC236}">
                <a16:creationId xmlns:a16="http://schemas.microsoft.com/office/drawing/2014/main" id="{C8DB933D-2E23-CFEE-10BD-F2112441CBC5}"/>
              </a:ext>
            </a:extLst>
          </p:cNvPr>
          <p:cNvGraphicFramePr/>
          <p:nvPr>
            <p:extLst>
              <p:ext uri="{D42A27DB-BD31-4B8C-83A1-F6EECF244321}">
                <p14:modId xmlns:p14="http://schemas.microsoft.com/office/powerpoint/2010/main" val="533516132"/>
              </p:ext>
            </p:extLst>
          </p:nvPr>
        </p:nvGraphicFramePr>
        <p:xfrm>
          <a:off x="8019394" y="719666"/>
          <a:ext cx="2981434" cy="592500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Double Bracket 2">
            <a:extLst>
              <a:ext uri="{FF2B5EF4-FFF2-40B4-BE49-F238E27FC236}">
                <a16:creationId xmlns:a16="http://schemas.microsoft.com/office/drawing/2014/main" id="{F12679CE-90E3-02FF-4623-E83E20875CBD}"/>
              </a:ext>
            </a:extLst>
          </p:cNvPr>
          <p:cNvSpPr/>
          <p:nvPr/>
        </p:nvSpPr>
        <p:spPr>
          <a:xfrm>
            <a:off x="7596554" y="534572"/>
            <a:ext cx="3882683" cy="3727939"/>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Double Bracket 4">
            <a:extLst>
              <a:ext uri="{FF2B5EF4-FFF2-40B4-BE49-F238E27FC236}">
                <a16:creationId xmlns:a16="http://schemas.microsoft.com/office/drawing/2014/main" id="{9CE6EB7D-C720-E584-45DA-7ACDF9DA3703}"/>
              </a:ext>
            </a:extLst>
          </p:cNvPr>
          <p:cNvSpPr/>
          <p:nvPr/>
        </p:nvSpPr>
        <p:spPr>
          <a:xfrm>
            <a:off x="7596554" y="4693919"/>
            <a:ext cx="3882683" cy="1753800"/>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TextBox 5">
            <a:extLst>
              <a:ext uri="{FF2B5EF4-FFF2-40B4-BE49-F238E27FC236}">
                <a16:creationId xmlns:a16="http://schemas.microsoft.com/office/drawing/2014/main" id="{D4EDA2EB-8BC7-D44B-5423-3143AC067BA2}"/>
              </a:ext>
            </a:extLst>
          </p:cNvPr>
          <p:cNvSpPr txBox="1"/>
          <p:nvPr/>
        </p:nvSpPr>
        <p:spPr>
          <a:xfrm>
            <a:off x="9129879" y="303739"/>
            <a:ext cx="2110154" cy="461665"/>
          </a:xfrm>
          <a:prstGeom prst="rect">
            <a:avLst/>
          </a:prstGeom>
          <a:noFill/>
        </p:spPr>
        <p:txBody>
          <a:bodyPr wrap="square" rtlCol="0">
            <a:spAutoFit/>
          </a:bodyPr>
          <a:lstStyle/>
          <a:p>
            <a:r>
              <a:rPr lang="en-US" sz="2400" dirty="0"/>
              <a:t>AM </a:t>
            </a:r>
          </a:p>
        </p:txBody>
      </p:sp>
      <p:sp>
        <p:nvSpPr>
          <p:cNvPr id="7" name="TextBox 6">
            <a:extLst>
              <a:ext uri="{FF2B5EF4-FFF2-40B4-BE49-F238E27FC236}">
                <a16:creationId xmlns:a16="http://schemas.microsoft.com/office/drawing/2014/main" id="{56227C76-DE62-88F6-801D-6BF1F060800F}"/>
              </a:ext>
            </a:extLst>
          </p:cNvPr>
          <p:cNvSpPr txBox="1"/>
          <p:nvPr/>
        </p:nvSpPr>
        <p:spPr>
          <a:xfrm>
            <a:off x="9197291" y="3412646"/>
            <a:ext cx="2110154" cy="461665"/>
          </a:xfrm>
          <a:prstGeom prst="rect">
            <a:avLst/>
          </a:prstGeom>
          <a:noFill/>
        </p:spPr>
        <p:txBody>
          <a:bodyPr wrap="square" rtlCol="0">
            <a:spAutoFit/>
          </a:bodyPr>
          <a:lstStyle/>
          <a:p>
            <a:r>
              <a:rPr lang="en-US" sz="2400" dirty="0"/>
              <a:t>PM</a:t>
            </a:r>
          </a:p>
        </p:txBody>
      </p:sp>
    </p:spTree>
    <p:extLst>
      <p:ext uri="{BB962C8B-B14F-4D97-AF65-F5344CB8AC3E}">
        <p14:creationId xmlns:p14="http://schemas.microsoft.com/office/powerpoint/2010/main" val="29628359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9A7F9-8B36-16B3-048B-320E8EAB4B54}"/>
              </a:ext>
            </a:extLst>
          </p:cNvPr>
          <p:cNvSpPr>
            <a:spLocks noGrp="1"/>
          </p:cNvSpPr>
          <p:nvPr>
            <p:ph type="title"/>
          </p:nvPr>
        </p:nvSpPr>
        <p:spPr>
          <a:xfrm>
            <a:off x="1107287" y="334580"/>
            <a:ext cx="6264184" cy="1072189"/>
          </a:xfrm>
        </p:spPr>
        <p:txBody>
          <a:bodyPr/>
          <a:lstStyle/>
          <a:p>
            <a:r>
              <a:rPr lang="en-US" dirty="0"/>
              <a:t>Workshop Materials </a:t>
            </a:r>
          </a:p>
        </p:txBody>
      </p:sp>
      <p:sp>
        <p:nvSpPr>
          <p:cNvPr id="5" name="TextBox 4">
            <a:extLst>
              <a:ext uri="{FF2B5EF4-FFF2-40B4-BE49-F238E27FC236}">
                <a16:creationId xmlns:a16="http://schemas.microsoft.com/office/drawing/2014/main" id="{93CE0B34-D1E2-30DC-32D3-562E15E928CC}"/>
              </a:ext>
            </a:extLst>
          </p:cNvPr>
          <p:cNvSpPr txBox="1"/>
          <p:nvPr/>
        </p:nvSpPr>
        <p:spPr>
          <a:xfrm>
            <a:off x="239151" y="1406770"/>
            <a:ext cx="5528603" cy="4801314"/>
          </a:xfrm>
          <a:prstGeom prst="rect">
            <a:avLst/>
          </a:prstGeom>
          <a:noFill/>
        </p:spPr>
        <p:txBody>
          <a:bodyPr wrap="square" rtlCol="0">
            <a:spAutoFit/>
          </a:bodyPr>
          <a:lstStyle/>
          <a:p>
            <a:r>
              <a:rPr lang="en-US" sz="3200" dirty="0">
                <a:solidFill>
                  <a:schemeClr val="bg1"/>
                </a:solidFill>
              </a:rPr>
              <a:t>Access full walk through for the session here: </a:t>
            </a:r>
          </a:p>
          <a:p>
            <a:endParaRPr lang="en-US" sz="3200" dirty="0">
              <a:solidFill>
                <a:schemeClr val="bg1"/>
              </a:solidFill>
            </a:endParaRPr>
          </a:p>
          <a:p>
            <a:r>
              <a:rPr lang="en-US" sz="3200" dirty="0">
                <a:solidFill>
                  <a:schemeClr val="bg1"/>
                </a:solidFill>
                <a:hlinkClick r:id="rId2"/>
              </a:rPr>
              <a:t>https://sgsssonline.github.io/nvivo-guidance/</a:t>
            </a:r>
            <a:endParaRPr lang="en-US" sz="3200" dirty="0">
              <a:solidFill>
                <a:schemeClr val="bg1"/>
              </a:solidFill>
            </a:endParaRPr>
          </a:p>
          <a:p>
            <a:endParaRPr lang="en-US" sz="3200" dirty="0">
              <a:solidFill>
                <a:schemeClr val="bg1"/>
              </a:solidFill>
            </a:endParaRPr>
          </a:p>
          <a:p>
            <a:endParaRPr lang="en-US" sz="3200" dirty="0">
              <a:solidFill>
                <a:schemeClr val="bg1"/>
              </a:solidFill>
            </a:endParaRPr>
          </a:p>
          <a:p>
            <a:r>
              <a:rPr lang="en-US" sz="3200" dirty="0">
                <a:solidFill>
                  <a:schemeClr val="bg1"/>
                </a:solidFill>
              </a:rPr>
              <a:t>Data files can be downloaded from link in the email sent </a:t>
            </a:r>
          </a:p>
          <a:p>
            <a:r>
              <a:rPr lang="en-US" dirty="0"/>
              <a:t>\</a:t>
            </a:r>
          </a:p>
        </p:txBody>
      </p:sp>
      <p:pic>
        <p:nvPicPr>
          <p:cNvPr id="9" name="Picture 8" descr="A screenshot of a web page&#10;&#10;AI-generated content may be incorrect.">
            <a:extLst>
              <a:ext uri="{FF2B5EF4-FFF2-40B4-BE49-F238E27FC236}">
                <a16:creationId xmlns:a16="http://schemas.microsoft.com/office/drawing/2014/main" id="{6F8014C2-965B-9FF1-E2BA-F1D97AC2C9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03473" y="3807347"/>
            <a:ext cx="5849376" cy="3129330"/>
          </a:xfrm>
          <a:prstGeom prst="rect">
            <a:avLst/>
          </a:prstGeom>
        </p:spPr>
      </p:pic>
      <p:pic>
        <p:nvPicPr>
          <p:cNvPr id="11" name="Picture 10" descr="A screenshot of a computer&#10;&#10;AI-generated content may be incorrect.">
            <a:extLst>
              <a:ext uri="{FF2B5EF4-FFF2-40B4-BE49-F238E27FC236}">
                <a16:creationId xmlns:a16="http://schemas.microsoft.com/office/drawing/2014/main" id="{CF5AD1B2-BA6B-AAE4-66CE-C2B5E1F552B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85095" y="350916"/>
            <a:ext cx="5767754" cy="3078084"/>
          </a:xfrm>
          <a:prstGeom prst="rect">
            <a:avLst/>
          </a:prstGeom>
        </p:spPr>
      </p:pic>
    </p:spTree>
    <p:extLst>
      <p:ext uri="{BB962C8B-B14F-4D97-AF65-F5344CB8AC3E}">
        <p14:creationId xmlns:p14="http://schemas.microsoft.com/office/powerpoint/2010/main" val="22787473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9DF442-0AE8-2EC9-336A-B57A1172BC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2EE6C3-FB66-8212-971B-97384D4A8BFE}"/>
              </a:ext>
            </a:extLst>
          </p:cNvPr>
          <p:cNvSpPr>
            <a:spLocks noGrp="1"/>
          </p:cNvSpPr>
          <p:nvPr>
            <p:ph type="title"/>
          </p:nvPr>
        </p:nvSpPr>
        <p:spPr>
          <a:xfrm>
            <a:off x="1125900" y="410063"/>
            <a:ext cx="6510641" cy="900800"/>
          </a:xfrm>
        </p:spPr>
        <p:txBody>
          <a:bodyPr/>
          <a:lstStyle/>
          <a:p>
            <a:r>
              <a:rPr lang="en-GB" sz="3600" dirty="0">
                <a:solidFill>
                  <a:srgbClr val="002060"/>
                </a:solidFill>
              </a:rPr>
              <a:t>Over to you </a:t>
            </a:r>
          </a:p>
        </p:txBody>
      </p:sp>
      <p:sp>
        <p:nvSpPr>
          <p:cNvPr id="5" name="Slide Number Placeholder 4">
            <a:extLst>
              <a:ext uri="{FF2B5EF4-FFF2-40B4-BE49-F238E27FC236}">
                <a16:creationId xmlns:a16="http://schemas.microsoft.com/office/drawing/2014/main" id="{46B8D1CC-285C-95A1-0A18-A5D22D4E2E8C}"/>
              </a:ext>
            </a:extLst>
          </p:cNvPr>
          <p:cNvSpPr>
            <a:spLocks noGrp="1"/>
          </p:cNvSpPr>
          <p:nvPr>
            <p:ph type="sldNum" idx="12"/>
          </p:nvPr>
        </p:nvSpPr>
        <p:spPr/>
        <p:txBody>
          <a:bodyPr/>
          <a:lstStyle/>
          <a:p>
            <a:fld id="{00000000-1234-1234-1234-123412341234}" type="slidenum">
              <a:rPr lang="en" dirty="0" smtClean="0"/>
              <a:pPr/>
              <a:t>4</a:t>
            </a:fld>
            <a:endParaRPr lang="en"/>
          </a:p>
        </p:txBody>
      </p:sp>
      <p:grpSp>
        <p:nvGrpSpPr>
          <p:cNvPr id="7" name="Google Shape;692;p42">
            <a:extLst>
              <a:ext uri="{FF2B5EF4-FFF2-40B4-BE49-F238E27FC236}">
                <a16:creationId xmlns:a16="http://schemas.microsoft.com/office/drawing/2014/main" id="{82E9DB73-4D73-E5D2-4415-35175FAC4B46}"/>
              </a:ext>
            </a:extLst>
          </p:cNvPr>
          <p:cNvGrpSpPr/>
          <p:nvPr/>
        </p:nvGrpSpPr>
        <p:grpSpPr>
          <a:xfrm rot="1274327">
            <a:off x="11308578" y="1357590"/>
            <a:ext cx="450396" cy="426495"/>
            <a:chOff x="5973900" y="318475"/>
            <a:chExt cx="401900" cy="380575"/>
          </a:xfrm>
        </p:grpSpPr>
        <p:sp>
          <p:nvSpPr>
            <p:cNvPr id="8" name="Google Shape;693;p42">
              <a:extLst>
                <a:ext uri="{FF2B5EF4-FFF2-40B4-BE49-F238E27FC236}">
                  <a16:creationId xmlns:a16="http://schemas.microsoft.com/office/drawing/2014/main" id="{C5BE590E-BDF8-6D53-D96A-70FE93B5707C}"/>
                </a:ext>
              </a:extLst>
            </p:cNvPr>
            <p:cNvSpPr/>
            <p:nvPr/>
          </p:nvSpPr>
          <p:spPr>
            <a:xfrm>
              <a:off x="5973900" y="337975"/>
              <a:ext cx="401900" cy="67000"/>
            </a:xfrm>
            <a:custGeom>
              <a:avLst/>
              <a:gdLst/>
              <a:ahLst/>
              <a:cxnLst/>
              <a:rect l="l" t="t" r="r" b="b"/>
              <a:pathLst>
                <a:path w="16076" h="2680" fill="none" extrusionOk="0">
                  <a:moveTo>
                    <a:pt x="16075" y="2679"/>
                  </a:moveTo>
                  <a:lnTo>
                    <a:pt x="16075" y="0"/>
                  </a:lnTo>
                  <a:lnTo>
                    <a:pt x="1" y="0"/>
                  </a:lnTo>
                  <a:lnTo>
                    <a:pt x="1" y="2679"/>
                  </a:lnTo>
                </a:path>
              </a:pathLst>
            </a:custGeom>
            <a:noFill/>
            <a:ln w="9525" cap="rnd" cmpd="sng">
              <a:solidFill>
                <a:schemeClr val="bg1"/>
              </a:solidFill>
              <a:prstDash val="solid"/>
              <a:round/>
              <a:headEnd type="none" w="sm" len="sm"/>
              <a:tailEnd type="none" w="sm" len="sm"/>
            </a:ln>
          </p:spPr>
          <p:txBody>
            <a:bodyPr spcFirstLastPara="1" wrap="square" lIns="121900" tIns="121900" rIns="121900" bIns="121900" anchor="ctr" anchorCtr="0">
              <a:noAutofit/>
            </a:bodyPr>
            <a:lstStyle/>
            <a:p>
              <a:endParaRPr sz="4911"/>
            </a:p>
          </p:txBody>
        </p:sp>
        <p:sp>
          <p:nvSpPr>
            <p:cNvPr id="9" name="Google Shape;694;p42">
              <a:extLst>
                <a:ext uri="{FF2B5EF4-FFF2-40B4-BE49-F238E27FC236}">
                  <a16:creationId xmlns:a16="http://schemas.microsoft.com/office/drawing/2014/main" id="{7371902A-461A-FA6C-8C43-1BF8E5FAC6A9}"/>
                </a:ext>
              </a:extLst>
            </p:cNvPr>
            <p:cNvSpPr/>
            <p:nvPr/>
          </p:nvSpPr>
          <p:spPr>
            <a:xfrm>
              <a:off x="6024450" y="348325"/>
              <a:ext cx="45075" cy="45075"/>
            </a:xfrm>
            <a:custGeom>
              <a:avLst/>
              <a:gdLst/>
              <a:ahLst/>
              <a:cxnLst/>
              <a:rect l="l" t="t" r="r" b="b"/>
              <a:pathLst>
                <a:path w="1803" h="1803" fill="none" extrusionOk="0">
                  <a:moveTo>
                    <a:pt x="902" y="1803"/>
                  </a:moveTo>
                  <a:lnTo>
                    <a:pt x="902" y="1803"/>
                  </a:lnTo>
                  <a:lnTo>
                    <a:pt x="731" y="1778"/>
                  </a:lnTo>
                  <a:lnTo>
                    <a:pt x="561" y="1729"/>
                  </a:lnTo>
                  <a:lnTo>
                    <a:pt x="390" y="1632"/>
                  </a:lnTo>
                  <a:lnTo>
                    <a:pt x="268" y="1535"/>
                  </a:lnTo>
                  <a:lnTo>
                    <a:pt x="147" y="1388"/>
                  </a:lnTo>
                  <a:lnTo>
                    <a:pt x="73" y="1242"/>
                  </a:lnTo>
                  <a:lnTo>
                    <a:pt x="25" y="1072"/>
                  </a:lnTo>
                  <a:lnTo>
                    <a:pt x="0" y="901"/>
                  </a:lnTo>
                  <a:lnTo>
                    <a:pt x="0" y="901"/>
                  </a:lnTo>
                  <a:lnTo>
                    <a:pt x="25" y="707"/>
                  </a:lnTo>
                  <a:lnTo>
                    <a:pt x="73" y="536"/>
                  </a:lnTo>
                  <a:lnTo>
                    <a:pt x="147" y="390"/>
                  </a:lnTo>
                  <a:lnTo>
                    <a:pt x="268" y="244"/>
                  </a:lnTo>
                  <a:lnTo>
                    <a:pt x="390" y="146"/>
                  </a:lnTo>
                  <a:lnTo>
                    <a:pt x="561" y="49"/>
                  </a:lnTo>
                  <a:lnTo>
                    <a:pt x="731" y="0"/>
                  </a:lnTo>
                  <a:lnTo>
                    <a:pt x="902" y="0"/>
                  </a:lnTo>
                  <a:lnTo>
                    <a:pt x="902" y="0"/>
                  </a:lnTo>
                  <a:lnTo>
                    <a:pt x="1072" y="0"/>
                  </a:lnTo>
                  <a:lnTo>
                    <a:pt x="1242" y="49"/>
                  </a:lnTo>
                  <a:lnTo>
                    <a:pt x="1413" y="146"/>
                  </a:lnTo>
                  <a:lnTo>
                    <a:pt x="1535" y="244"/>
                  </a:lnTo>
                  <a:lnTo>
                    <a:pt x="1657" y="390"/>
                  </a:lnTo>
                  <a:lnTo>
                    <a:pt x="1730" y="536"/>
                  </a:lnTo>
                  <a:lnTo>
                    <a:pt x="1778" y="707"/>
                  </a:lnTo>
                  <a:lnTo>
                    <a:pt x="1803" y="901"/>
                  </a:lnTo>
                  <a:lnTo>
                    <a:pt x="1803" y="901"/>
                  </a:lnTo>
                  <a:lnTo>
                    <a:pt x="1778" y="1072"/>
                  </a:lnTo>
                  <a:lnTo>
                    <a:pt x="1730" y="1242"/>
                  </a:lnTo>
                  <a:lnTo>
                    <a:pt x="1657" y="1388"/>
                  </a:lnTo>
                  <a:lnTo>
                    <a:pt x="1535" y="1535"/>
                  </a:lnTo>
                  <a:lnTo>
                    <a:pt x="1413" y="1632"/>
                  </a:lnTo>
                  <a:lnTo>
                    <a:pt x="1242" y="1729"/>
                  </a:lnTo>
                  <a:lnTo>
                    <a:pt x="1072" y="1778"/>
                  </a:lnTo>
                  <a:lnTo>
                    <a:pt x="902" y="1803"/>
                  </a:lnTo>
                  <a:lnTo>
                    <a:pt x="902" y="1803"/>
                  </a:lnTo>
                </a:path>
              </a:pathLst>
            </a:custGeom>
            <a:noFill/>
            <a:ln w="9525" cap="rnd" cmpd="sng">
              <a:solidFill>
                <a:schemeClr val="bg1"/>
              </a:solidFill>
              <a:prstDash val="solid"/>
              <a:round/>
              <a:headEnd type="none" w="sm" len="sm"/>
              <a:tailEnd type="none" w="sm" len="sm"/>
            </a:ln>
          </p:spPr>
          <p:txBody>
            <a:bodyPr spcFirstLastPara="1" wrap="square" lIns="121900" tIns="121900" rIns="121900" bIns="121900" anchor="ctr" anchorCtr="0">
              <a:noAutofit/>
            </a:bodyPr>
            <a:lstStyle/>
            <a:p>
              <a:endParaRPr sz="4911"/>
            </a:p>
          </p:txBody>
        </p:sp>
        <p:sp>
          <p:nvSpPr>
            <p:cNvPr id="10" name="Google Shape;695;p42">
              <a:extLst>
                <a:ext uri="{FF2B5EF4-FFF2-40B4-BE49-F238E27FC236}">
                  <a16:creationId xmlns:a16="http://schemas.microsoft.com/office/drawing/2014/main" id="{C4CB8667-D641-0DAB-0A78-872291539964}"/>
                </a:ext>
              </a:extLst>
            </p:cNvPr>
            <p:cNvSpPr/>
            <p:nvPr/>
          </p:nvSpPr>
          <p:spPr>
            <a:xfrm>
              <a:off x="6280175" y="348325"/>
              <a:ext cx="45075" cy="45075"/>
            </a:xfrm>
            <a:custGeom>
              <a:avLst/>
              <a:gdLst/>
              <a:ahLst/>
              <a:cxnLst/>
              <a:rect l="l" t="t" r="r" b="b"/>
              <a:pathLst>
                <a:path w="1803" h="1803" fill="none" extrusionOk="0">
                  <a:moveTo>
                    <a:pt x="902" y="1803"/>
                  </a:moveTo>
                  <a:lnTo>
                    <a:pt x="902" y="1803"/>
                  </a:lnTo>
                  <a:lnTo>
                    <a:pt x="731" y="1778"/>
                  </a:lnTo>
                  <a:lnTo>
                    <a:pt x="561" y="1729"/>
                  </a:lnTo>
                  <a:lnTo>
                    <a:pt x="390" y="1632"/>
                  </a:lnTo>
                  <a:lnTo>
                    <a:pt x="268" y="1535"/>
                  </a:lnTo>
                  <a:lnTo>
                    <a:pt x="147" y="1388"/>
                  </a:lnTo>
                  <a:lnTo>
                    <a:pt x="74" y="1242"/>
                  </a:lnTo>
                  <a:lnTo>
                    <a:pt x="25" y="1072"/>
                  </a:lnTo>
                  <a:lnTo>
                    <a:pt x="0" y="901"/>
                  </a:lnTo>
                  <a:lnTo>
                    <a:pt x="0" y="901"/>
                  </a:lnTo>
                  <a:lnTo>
                    <a:pt x="25" y="707"/>
                  </a:lnTo>
                  <a:lnTo>
                    <a:pt x="74" y="536"/>
                  </a:lnTo>
                  <a:lnTo>
                    <a:pt x="147" y="390"/>
                  </a:lnTo>
                  <a:lnTo>
                    <a:pt x="268" y="244"/>
                  </a:lnTo>
                  <a:lnTo>
                    <a:pt x="390" y="146"/>
                  </a:lnTo>
                  <a:lnTo>
                    <a:pt x="561" y="49"/>
                  </a:lnTo>
                  <a:lnTo>
                    <a:pt x="731" y="0"/>
                  </a:lnTo>
                  <a:lnTo>
                    <a:pt x="902" y="0"/>
                  </a:lnTo>
                  <a:lnTo>
                    <a:pt x="902" y="0"/>
                  </a:lnTo>
                  <a:lnTo>
                    <a:pt x="1072" y="0"/>
                  </a:lnTo>
                  <a:lnTo>
                    <a:pt x="1243" y="49"/>
                  </a:lnTo>
                  <a:lnTo>
                    <a:pt x="1413" y="146"/>
                  </a:lnTo>
                  <a:lnTo>
                    <a:pt x="1535" y="244"/>
                  </a:lnTo>
                  <a:lnTo>
                    <a:pt x="1657" y="390"/>
                  </a:lnTo>
                  <a:lnTo>
                    <a:pt x="1730" y="536"/>
                  </a:lnTo>
                  <a:lnTo>
                    <a:pt x="1778" y="707"/>
                  </a:lnTo>
                  <a:lnTo>
                    <a:pt x="1803" y="901"/>
                  </a:lnTo>
                  <a:lnTo>
                    <a:pt x="1803" y="901"/>
                  </a:lnTo>
                  <a:lnTo>
                    <a:pt x="1778" y="1072"/>
                  </a:lnTo>
                  <a:lnTo>
                    <a:pt x="1730" y="1242"/>
                  </a:lnTo>
                  <a:lnTo>
                    <a:pt x="1657" y="1388"/>
                  </a:lnTo>
                  <a:lnTo>
                    <a:pt x="1535" y="1535"/>
                  </a:lnTo>
                  <a:lnTo>
                    <a:pt x="1413" y="1632"/>
                  </a:lnTo>
                  <a:lnTo>
                    <a:pt x="1243" y="1729"/>
                  </a:lnTo>
                  <a:lnTo>
                    <a:pt x="1072" y="1778"/>
                  </a:lnTo>
                  <a:lnTo>
                    <a:pt x="902" y="1803"/>
                  </a:lnTo>
                  <a:lnTo>
                    <a:pt x="902" y="1803"/>
                  </a:lnTo>
                </a:path>
              </a:pathLst>
            </a:custGeom>
            <a:noFill/>
            <a:ln w="9525" cap="rnd" cmpd="sng">
              <a:solidFill>
                <a:schemeClr val="bg1"/>
              </a:solidFill>
              <a:prstDash val="solid"/>
              <a:round/>
              <a:headEnd type="none" w="sm" len="sm"/>
              <a:tailEnd type="none" w="sm" len="sm"/>
            </a:ln>
          </p:spPr>
          <p:txBody>
            <a:bodyPr spcFirstLastPara="1" wrap="square" lIns="121900" tIns="121900" rIns="121900" bIns="121900" anchor="ctr" anchorCtr="0">
              <a:noAutofit/>
            </a:bodyPr>
            <a:lstStyle/>
            <a:p>
              <a:endParaRPr sz="4911"/>
            </a:p>
          </p:txBody>
        </p:sp>
        <p:sp>
          <p:nvSpPr>
            <p:cNvPr id="11" name="Google Shape;696;p42">
              <a:extLst>
                <a:ext uri="{FF2B5EF4-FFF2-40B4-BE49-F238E27FC236}">
                  <a16:creationId xmlns:a16="http://schemas.microsoft.com/office/drawing/2014/main" id="{184FCA6D-0051-5DC3-18D8-8944F8F8F378}"/>
                </a:ext>
              </a:extLst>
            </p:cNvPr>
            <p:cNvSpPr/>
            <p:nvPr/>
          </p:nvSpPr>
          <p:spPr>
            <a:xfrm>
              <a:off x="5973900" y="667375"/>
              <a:ext cx="401900" cy="31675"/>
            </a:xfrm>
            <a:custGeom>
              <a:avLst/>
              <a:gdLst/>
              <a:ahLst/>
              <a:cxnLst/>
              <a:rect l="l" t="t" r="r" b="b"/>
              <a:pathLst>
                <a:path w="16076" h="1267" fill="none" extrusionOk="0">
                  <a:moveTo>
                    <a:pt x="1" y="0"/>
                  </a:moveTo>
                  <a:lnTo>
                    <a:pt x="1" y="487"/>
                  </a:lnTo>
                  <a:lnTo>
                    <a:pt x="1" y="487"/>
                  </a:lnTo>
                  <a:lnTo>
                    <a:pt x="25" y="658"/>
                  </a:lnTo>
                  <a:lnTo>
                    <a:pt x="74" y="804"/>
                  </a:lnTo>
                  <a:lnTo>
                    <a:pt x="147" y="926"/>
                  </a:lnTo>
                  <a:lnTo>
                    <a:pt x="220" y="1048"/>
                  </a:lnTo>
                  <a:lnTo>
                    <a:pt x="342" y="1145"/>
                  </a:lnTo>
                  <a:lnTo>
                    <a:pt x="488" y="1218"/>
                  </a:lnTo>
                  <a:lnTo>
                    <a:pt x="634" y="1267"/>
                  </a:lnTo>
                  <a:lnTo>
                    <a:pt x="780" y="1267"/>
                  </a:lnTo>
                  <a:lnTo>
                    <a:pt x="15296" y="1267"/>
                  </a:lnTo>
                  <a:lnTo>
                    <a:pt x="15296" y="1267"/>
                  </a:lnTo>
                  <a:lnTo>
                    <a:pt x="15442" y="1267"/>
                  </a:lnTo>
                  <a:lnTo>
                    <a:pt x="15588" y="1218"/>
                  </a:lnTo>
                  <a:lnTo>
                    <a:pt x="15734" y="1145"/>
                  </a:lnTo>
                  <a:lnTo>
                    <a:pt x="15856" y="1048"/>
                  </a:lnTo>
                  <a:lnTo>
                    <a:pt x="15929" y="926"/>
                  </a:lnTo>
                  <a:lnTo>
                    <a:pt x="16002" y="804"/>
                  </a:lnTo>
                  <a:lnTo>
                    <a:pt x="16051" y="658"/>
                  </a:lnTo>
                  <a:lnTo>
                    <a:pt x="16075" y="487"/>
                  </a:lnTo>
                  <a:lnTo>
                    <a:pt x="16075" y="0"/>
                  </a:lnTo>
                </a:path>
              </a:pathLst>
            </a:custGeom>
            <a:noFill/>
            <a:ln w="9525" cap="rnd" cmpd="sng">
              <a:solidFill>
                <a:schemeClr val="bg1"/>
              </a:solidFill>
              <a:prstDash val="solid"/>
              <a:round/>
              <a:headEnd type="none" w="sm" len="sm"/>
              <a:tailEnd type="none" w="sm" len="sm"/>
            </a:ln>
          </p:spPr>
          <p:txBody>
            <a:bodyPr spcFirstLastPara="1" wrap="square" lIns="121900" tIns="121900" rIns="121900" bIns="121900" anchor="ctr" anchorCtr="0">
              <a:noAutofit/>
            </a:bodyPr>
            <a:lstStyle/>
            <a:p>
              <a:endParaRPr sz="4911"/>
            </a:p>
          </p:txBody>
        </p:sp>
        <p:sp>
          <p:nvSpPr>
            <p:cNvPr id="12" name="Google Shape;697;p42">
              <a:extLst>
                <a:ext uri="{FF2B5EF4-FFF2-40B4-BE49-F238E27FC236}">
                  <a16:creationId xmlns:a16="http://schemas.microsoft.com/office/drawing/2014/main" id="{785BBDCE-7EB8-6E37-89DE-D1ECC2202B75}"/>
                </a:ext>
              </a:extLst>
            </p:cNvPr>
            <p:cNvSpPr/>
            <p:nvPr/>
          </p:nvSpPr>
          <p:spPr>
            <a:xfrm>
              <a:off x="6302700" y="318475"/>
              <a:ext cx="28650" cy="63350"/>
            </a:xfrm>
            <a:custGeom>
              <a:avLst/>
              <a:gdLst/>
              <a:ahLst/>
              <a:cxnLst/>
              <a:rect l="l" t="t" r="r" b="b"/>
              <a:pathLst>
                <a:path w="1146" h="2534" fill="none" extrusionOk="0">
                  <a:moveTo>
                    <a:pt x="634" y="2534"/>
                  </a:moveTo>
                  <a:lnTo>
                    <a:pt x="488" y="2534"/>
                  </a:lnTo>
                  <a:lnTo>
                    <a:pt x="488" y="2534"/>
                  </a:lnTo>
                  <a:lnTo>
                    <a:pt x="390" y="2534"/>
                  </a:lnTo>
                  <a:lnTo>
                    <a:pt x="293" y="2485"/>
                  </a:lnTo>
                  <a:lnTo>
                    <a:pt x="220" y="2461"/>
                  </a:lnTo>
                  <a:lnTo>
                    <a:pt x="147" y="2388"/>
                  </a:lnTo>
                  <a:lnTo>
                    <a:pt x="74" y="2315"/>
                  </a:lnTo>
                  <a:lnTo>
                    <a:pt x="49" y="2242"/>
                  </a:lnTo>
                  <a:lnTo>
                    <a:pt x="1" y="2144"/>
                  </a:lnTo>
                  <a:lnTo>
                    <a:pt x="1" y="2047"/>
                  </a:lnTo>
                  <a:lnTo>
                    <a:pt x="1" y="488"/>
                  </a:lnTo>
                  <a:lnTo>
                    <a:pt x="1" y="488"/>
                  </a:lnTo>
                  <a:lnTo>
                    <a:pt x="1" y="391"/>
                  </a:lnTo>
                  <a:lnTo>
                    <a:pt x="49" y="293"/>
                  </a:lnTo>
                  <a:lnTo>
                    <a:pt x="74" y="220"/>
                  </a:lnTo>
                  <a:lnTo>
                    <a:pt x="147" y="147"/>
                  </a:lnTo>
                  <a:lnTo>
                    <a:pt x="220" y="74"/>
                  </a:lnTo>
                  <a:lnTo>
                    <a:pt x="293" y="50"/>
                  </a:lnTo>
                  <a:lnTo>
                    <a:pt x="390" y="1"/>
                  </a:lnTo>
                  <a:lnTo>
                    <a:pt x="488" y="1"/>
                  </a:lnTo>
                  <a:lnTo>
                    <a:pt x="683" y="1"/>
                  </a:lnTo>
                  <a:lnTo>
                    <a:pt x="683" y="1"/>
                  </a:lnTo>
                  <a:lnTo>
                    <a:pt x="780" y="1"/>
                  </a:lnTo>
                  <a:lnTo>
                    <a:pt x="877" y="50"/>
                  </a:lnTo>
                  <a:lnTo>
                    <a:pt x="950" y="74"/>
                  </a:lnTo>
                  <a:lnTo>
                    <a:pt x="1024" y="147"/>
                  </a:lnTo>
                  <a:lnTo>
                    <a:pt x="1072" y="220"/>
                  </a:lnTo>
                  <a:lnTo>
                    <a:pt x="1121" y="293"/>
                  </a:lnTo>
                  <a:lnTo>
                    <a:pt x="1145" y="391"/>
                  </a:lnTo>
                  <a:lnTo>
                    <a:pt x="1145" y="488"/>
                  </a:lnTo>
                </a:path>
              </a:pathLst>
            </a:custGeom>
            <a:noFill/>
            <a:ln w="9525" cap="rnd" cmpd="sng">
              <a:solidFill>
                <a:schemeClr val="bg1"/>
              </a:solidFill>
              <a:prstDash val="solid"/>
              <a:round/>
              <a:headEnd type="none" w="sm" len="sm"/>
              <a:tailEnd type="none" w="sm" len="sm"/>
            </a:ln>
          </p:spPr>
          <p:txBody>
            <a:bodyPr spcFirstLastPara="1" wrap="square" lIns="121900" tIns="121900" rIns="121900" bIns="121900" anchor="ctr" anchorCtr="0">
              <a:noAutofit/>
            </a:bodyPr>
            <a:lstStyle/>
            <a:p>
              <a:endParaRPr sz="4911"/>
            </a:p>
          </p:txBody>
        </p:sp>
        <p:sp>
          <p:nvSpPr>
            <p:cNvPr id="13" name="Google Shape;698;p42">
              <a:extLst>
                <a:ext uri="{FF2B5EF4-FFF2-40B4-BE49-F238E27FC236}">
                  <a16:creationId xmlns:a16="http://schemas.microsoft.com/office/drawing/2014/main" id="{7906FDC5-0A3C-944B-45B6-9030C0C581D5}"/>
                </a:ext>
              </a:extLst>
            </p:cNvPr>
            <p:cNvSpPr/>
            <p:nvPr/>
          </p:nvSpPr>
          <p:spPr>
            <a:xfrm>
              <a:off x="6046975" y="318475"/>
              <a:ext cx="28650" cy="63350"/>
            </a:xfrm>
            <a:custGeom>
              <a:avLst/>
              <a:gdLst/>
              <a:ahLst/>
              <a:cxnLst/>
              <a:rect l="l" t="t" r="r" b="b"/>
              <a:pathLst>
                <a:path w="1146" h="2534" fill="none" extrusionOk="0">
                  <a:moveTo>
                    <a:pt x="634" y="2534"/>
                  </a:moveTo>
                  <a:lnTo>
                    <a:pt x="488" y="2534"/>
                  </a:lnTo>
                  <a:lnTo>
                    <a:pt x="488" y="2534"/>
                  </a:lnTo>
                  <a:lnTo>
                    <a:pt x="390" y="2534"/>
                  </a:lnTo>
                  <a:lnTo>
                    <a:pt x="293" y="2485"/>
                  </a:lnTo>
                  <a:lnTo>
                    <a:pt x="220" y="2461"/>
                  </a:lnTo>
                  <a:lnTo>
                    <a:pt x="147" y="2388"/>
                  </a:lnTo>
                  <a:lnTo>
                    <a:pt x="74" y="2315"/>
                  </a:lnTo>
                  <a:lnTo>
                    <a:pt x="49" y="2242"/>
                  </a:lnTo>
                  <a:lnTo>
                    <a:pt x="1" y="2144"/>
                  </a:lnTo>
                  <a:lnTo>
                    <a:pt x="1" y="2047"/>
                  </a:lnTo>
                  <a:lnTo>
                    <a:pt x="1" y="488"/>
                  </a:lnTo>
                  <a:lnTo>
                    <a:pt x="1" y="488"/>
                  </a:lnTo>
                  <a:lnTo>
                    <a:pt x="1" y="391"/>
                  </a:lnTo>
                  <a:lnTo>
                    <a:pt x="49" y="293"/>
                  </a:lnTo>
                  <a:lnTo>
                    <a:pt x="74" y="220"/>
                  </a:lnTo>
                  <a:lnTo>
                    <a:pt x="147" y="147"/>
                  </a:lnTo>
                  <a:lnTo>
                    <a:pt x="220" y="74"/>
                  </a:lnTo>
                  <a:lnTo>
                    <a:pt x="293" y="50"/>
                  </a:lnTo>
                  <a:lnTo>
                    <a:pt x="390" y="1"/>
                  </a:lnTo>
                  <a:lnTo>
                    <a:pt x="488" y="1"/>
                  </a:lnTo>
                  <a:lnTo>
                    <a:pt x="682" y="1"/>
                  </a:lnTo>
                  <a:lnTo>
                    <a:pt x="682" y="1"/>
                  </a:lnTo>
                  <a:lnTo>
                    <a:pt x="780" y="1"/>
                  </a:lnTo>
                  <a:lnTo>
                    <a:pt x="877" y="50"/>
                  </a:lnTo>
                  <a:lnTo>
                    <a:pt x="950" y="74"/>
                  </a:lnTo>
                  <a:lnTo>
                    <a:pt x="1023" y="147"/>
                  </a:lnTo>
                  <a:lnTo>
                    <a:pt x="1072" y="220"/>
                  </a:lnTo>
                  <a:lnTo>
                    <a:pt x="1121" y="293"/>
                  </a:lnTo>
                  <a:lnTo>
                    <a:pt x="1145" y="391"/>
                  </a:lnTo>
                  <a:lnTo>
                    <a:pt x="1145" y="488"/>
                  </a:lnTo>
                </a:path>
              </a:pathLst>
            </a:custGeom>
            <a:noFill/>
            <a:ln w="9525" cap="rnd" cmpd="sng">
              <a:solidFill>
                <a:schemeClr val="bg1"/>
              </a:solidFill>
              <a:prstDash val="solid"/>
              <a:round/>
              <a:headEnd type="none" w="sm" len="sm"/>
              <a:tailEnd type="none" w="sm" len="sm"/>
            </a:ln>
          </p:spPr>
          <p:txBody>
            <a:bodyPr spcFirstLastPara="1" wrap="square" lIns="121900" tIns="121900" rIns="121900" bIns="121900" anchor="ctr" anchorCtr="0">
              <a:noAutofit/>
            </a:bodyPr>
            <a:lstStyle/>
            <a:p>
              <a:endParaRPr sz="4911"/>
            </a:p>
          </p:txBody>
        </p:sp>
        <p:sp>
          <p:nvSpPr>
            <p:cNvPr id="14" name="Google Shape;699;p42">
              <a:extLst>
                <a:ext uri="{FF2B5EF4-FFF2-40B4-BE49-F238E27FC236}">
                  <a16:creationId xmlns:a16="http://schemas.microsoft.com/office/drawing/2014/main" id="{462A20D9-934E-A990-347F-2A61196432F2}"/>
                </a:ext>
              </a:extLst>
            </p:cNvPr>
            <p:cNvSpPr/>
            <p:nvPr/>
          </p:nvSpPr>
          <p:spPr>
            <a:xfrm>
              <a:off x="5973900" y="407375"/>
              <a:ext cx="401900" cy="272200"/>
            </a:xfrm>
            <a:custGeom>
              <a:avLst/>
              <a:gdLst/>
              <a:ahLst/>
              <a:cxnLst/>
              <a:rect l="l" t="t" r="r" b="b"/>
              <a:pathLst>
                <a:path w="16076" h="10888" fill="none" extrusionOk="0">
                  <a:moveTo>
                    <a:pt x="1" y="1"/>
                  </a:moveTo>
                  <a:lnTo>
                    <a:pt x="1" y="10303"/>
                  </a:lnTo>
                  <a:lnTo>
                    <a:pt x="1" y="10303"/>
                  </a:lnTo>
                  <a:lnTo>
                    <a:pt x="25" y="10400"/>
                  </a:lnTo>
                  <a:lnTo>
                    <a:pt x="74" y="10498"/>
                  </a:lnTo>
                  <a:lnTo>
                    <a:pt x="147" y="10595"/>
                  </a:lnTo>
                  <a:lnTo>
                    <a:pt x="220" y="10693"/>
                  </a:lnTo>
                  <a:lnTo>
                    <a:pt x="342" y="10766"/>
                  </a:lnTo>
                  <a:lnTo>
                    <a:pt x="488" y="10839"/>
                  </a:lnTo>
                  <a:lnTo>
                    <a:pt x="634" y="10887"/>
                  </a:lnTo>
                  <a:lnTo>
                    <a:pt x="780" y="10887"/>
                  </a:lnTo>
                  <a:lnTo>
                    <a:pt x="15296" y="10887"/>
                  </a:lnTo>
                  <a:lnTo>
                    <a:pt x="15296" y="10887"/>
                  </a:lnTo>
                  <a:lnTo>
                    <a:pt x="15442" y="10887"/>
                  </a:lnTo>
                  <a:lnTo>
                    <a:pt x="15588" y="10839"/>
                  </a:lnTo>
                  <a:lnTo>
                    <a:pt x="15734" y="10766"/>
                  </a:lnTo>
                  <a:lnTo>
                    <a:pt x="15856" y="10668"/>
                  </a:lnTo>
                  <a:lnTo>
                    <a:pt x="15929" y="10546"/>
                  </a:lnTo>
                  <a:lnTo>
                    <a:pt x="16002" y="10425"/>
                  </a:lnTo>
                  <a:lnTo>
                    <a:pt x="16051" y="10278"/>
                  </a:lnTo>
                  <a:lnTo>
                    <a:pt x="16075" y="10108"/>
                  </a:lnTo>
                  <a:lnTo>
                    <a:pt x="16075" y="1"/>
                  </a:lnTo>
                  <a:lnTo>
                    <a:pt x="1" y="1"/>
                  </a:lnTo>
                  <a:close/>
                </a:path>
              </a:pathLst>
            </a:custGeom>
            <a:noFill/>
            <a:ln w="9525" cap="rnd" cmpd="sng">
              <a:solidFill>
                <a:schemeClr val="bg1"/>
              </a:solidFill>
              <a:prstDash val="solid"/>
              <a:round/>
              <a:headEnd type="none" w="sm" len="sm"/>
              <a:tailEnd type="none" w="sm" len="sm"/>
            </a:ln>
          </p:spPr>
          <p:txBody>
            <a:bodyPr spcFirstLastPara="1" wrap="square" lIns="121900" tIns="121900" rIns="121900" bIns="121900" anchor="ctr" anchorCtr="0">
              <a:noAutofit/>
            </a:bodyPr>
            <a:lstStyle/>
            <a:p>
              <a:endParaRPr sz="4911"/>
            </a:p>
          </p:txBody>
        </p:sp>
        <p:sp>
          <p:nvSpPr>
            <p:cNvPr id="15" name="Google Shape;700;p42">
              <a:extLst>
                <a:ext uri="{FF2B5EF4-FFF2-40B4-BE49-F238E27FC236}">
                  <a16:creationId xmlns:a16="http://schemas.microsoft.com/office/drawing/2014/main" id="{8B400120-9439-48FB-87A4-E05D51BEFF97}"/>
                </a:ext>
              </a:extLst>
            </p:cNvPr>
            <p:cNvSpPr/>
            <p:nvPr/>
          </p:nvSpPr>
          <p:spPr>
            <a:xfrm>
              <a:off x="6024450" y="456100"/>
              <a:ext cx="300800" cy="175375"/>
            </a:xfrm>
            <a:custGeom>
              <a:avLst/>
              <a:gdLst/>
              <a:ahLst/>
              <a:cxnLst/>
              <a:rect l="l" t="t" r="r" b="b"/>
              <a:pathLst>
                <a:path w="12032" h="7015" fill="none" extrusionOk="0">
                  <a:moveTo>
                    <a:pt x="0" y="0"/>
                  </a:moveTo>
                  <a:lnTo>
                    <a:pt x="12032" y="0"/>
                  </a:lnTo>
                  <a:lnTo>
                    <a:pt x="12032" y="7014"/>
                  </a:lnTo>
                  <a:lnTo>
                    <a:pt x="0" y="7014"/>
                  </a:lnTo>
                  <a:lnTo>
                    <a:pt x="0" y="0"/>
                  </a:lnTo>
                  <a:close/>
                </a:path>
              </a:pathLst>
            </a:custGeom>
            <a:noFill/>
            <a:ln w="9525" cap="rnd" cmpd="sng">
              <a:solidFill>
                <a:schemeClr val="bg1"/>
              </a:solidFill>
              <a:prstDash val="solid"/>
              <a:round/>
              <a:headEnd type="none" w="sm" len="sm"/>
              <a:tailEnd type="none" w="sm" len="sm"/>
            </a:ln>
          </p:spPr>
          <p:txBody>
            <a:bodyPr spcFirstLastPara="1" wrap="square" lIns="121900" tIns="121900" rIns="121900" bIns="121900" anchor="ctr" anchorCtr="0">
              <a:noAutofit/>
            </a:bodyPr>
            <a:lstStyle/>
            <a:p>
              <a:endParaRPr sz="4911"/>
            </a:p>
          </p:txBody>
        </p:sp>
        <p:sp>
          <p:nvSpPr>
            <p:cNvPr id="16" name="Google Shape;701;p42">
              <a:extLst>
                <a:ext uri="{FF2B5EF4-FFF2-40B4-BE49-F238E27FC236}">
                  <a16:creationId xmlns:a16="http://schemas.microsoft.com/office/drawing/2014/main" id="{F9C82834-7241-663C-3C06-64940275BAC0}"/>
                </a:ext>
              </a:extLst>
            </p:cNvPr>
            <p:cNvSpPr/>
            <p:nvPr/>
          </p:nvSpPr>
          <p:spPr>
            <a:xfrm>
              <a:off x="6024450" y="573000"/>
              <a:ext cx="300800" cy="25"/>
            </a:xfrm>
            <a:custGeom>
              <a:avLst/>
              <a:gdLst/>
              <a:ahLst/>
              <a:cxnLst/>
              <a:rect l="l" t="t" r="r" b="b"/>
              <a:pathLst>
                <a:path w="12032" h="1" fill="none" extrusionOk="0">
                  <a:moveTo>
                    <a:pt x="0" y="0"/>
                  </a:moveTo>
                  <a:lnTo>
                    <a:pt x="12032" y="0"/>
                  </a:lnTo>
                </a:path>
              </a:pathLst>
            </a:custGeom>
            <a:noFill/>
            <a:ln w="9525" cap="rnd" cmpd="sng">
              <a:solidFill>
                <a:schemeClr val="bg1"/>
              </a:solidFill>
              <a:prstDash val="solid"/>
              <a:round/>
              <a:headEnd type="none" w="sm" len="sm"/>
              <a:tailEnd type="none" w="sm" len="sm"/>
            </a:ln>
          </p:spPr>
          <p:txBody>
            <a:bodyPr spcFirstLastPara="1" wrap="square" lIns="121900" tIns="121900" rIns="121900" bIns="121900" anchor="ctr" anchorCtr="0">
              <a:noAutofit/>
            </a:bodyPr>
            <a:lstStyle/>
            <a:p>
              <a:endParaRPr sz="4911"/>
            </a:p>
          </p:txBody>
        </p:sp>
        <p:sp>
          <p:nvSpPr>
            <p:cNvPr id="17" name="Google Shape;702;p42">
              <a:extLst>
                <a:ext uri="{FF2B5EF4-FFF2-40B4-BE49-F238E27FC236}">
                  <a16:creationId xmlns:a16="http://schemas.microsoft.com/office/drawing/2014/main" id="{9D841B37-8BDC-C2A3-912D-6D59AD4E3161}"/>
                </a:ext>
              </a:extLst>
            </p:cNvPr>
            <p:cNvSpPr/>
            <p:nvPr/>
          </p:nvSpPr>
          <p:spPr>
            <a:xfrm>
              <a:off x="6024450" y="514550"/>
              <a:ext cx="300800" cy="25"/>
            </a:xfrm>
            <a:custGeom>
              <a:avLst/>
              <a:gdLst/>
              <a:ahLst/>
              <a:cxnLst/>
              <a:rect l="l" t="t" r="r" b="b"/>
              <a:pathLst>
                <a:path w="12032" h="1" fill="none" extrusionOk="0">
                  <a:moveTo>
                    <a:pt x="0" y="0"/>
                  </a:moveTo>
                  <a:lnTo>
                    <a:pt x="12032" y="0"/>
                  </a:lnTo>
                </a:path>
              </a:pathLst>
            </a:custGeom>
            <a:noFill/>
            <a:ln w="9525" cap="rnd" cmpd="sng">
              <a:solidFill>
                <a:schemeClr val="bg1"/>
              </a:solidFill>
              <a:prstDash val="solid"/>
              <a:round/>
              <a:headEnd type="none" w="sm" len="sm"/>
              <a:tailEnd type="none" w="sm" len="sm"/>
            </a:ln>
          </p:spPr>
          <p:txBody>
            <a:bodyPr spcFirstLastPara="1" wrap="square" lIns="121900" tIns="121900" rIns="121900" bIns="121900" anchor="ctr" anchorCtr="0">
              <a:noAutofit/>
            </a:bodyPr>
            <a:lstStyle/>
            <a:p>
              <a:endParaRPr sz="4911"/>
            </a:p>
          </p:txBody>
        </p:sp>
        <p:sp>
          <p:nvSpPr>
            <p:cNvPr id="18" name="Google Shape;703;p42">
              <a:extLst>
                <a:ext uri="{FF2B5EF4-FFF2-40B4-BE49-F238E27FC236}">
                  <a16:creationId xmlns:a16="http://schemas.microsoft.com/office/drawing/2014/main" id="{A6DD49A5-4C3B-D037-E771-2E4147CAC0E3}"/>
                </a:ext>
              </a:extLst>
            </p:cNvPr>
            <p:cNvSpPr/>
            <p:nvPr/>
          </p:nvSpPr>
          <p:spPr>
            <a:xfrm>
              <a:off x="6264950" y="456100"/>
              <a:ext cx="25" cy="175375"/>
            </a:xfrm>
            <a:custGeom>
              <a:avLst/>
              <a:gdLst/>
              <a:ahLst/>
              <a:cxnLst/>
              <a:rect l="l" t="t" r="r" b="b"/>
              <a:pathLst>
                <a:path w="1" h="7015" fill="none" extrusionOk="0">
                  <a:moveTo>
                    <a:pt x="1" y="0"/>
                  </a:moveTo>
                  <a:lnTo>
                    <a:pt x="1" y="7014"/>
                  </a:lnTo>
                </a:path>
              </a:pathLst>
            </a:custGeom>
            <a:noFill/>
            <a:ln w="9525" cap="rnd" cmpd="sng">
              <a:solidFill>
                <a:schemeClr val="bg1"/>
              </a:solidFill>
              <a:prstDash val="solid"/>
              <a:round/>
              <a:headEnd type="none" w="sm" len="sm"/>
              <a:tailEnd type="none" w="sm" len="sm"/>
            </a:ln>
          </p:spPr>
          <p:txBody>
            <a:bodyPr spcFirstLastPara="1" wrap="square" lIns="121900" tIns="121900" rIns="121900" bIns="121900" anchor="ctr" anchorCtr="0">
              <a:noAutofit/>
            </a:bodyPr>
            <a:lstStyle/>
            <a:p>
              <a:endParaRPr sz="4911"/>
            </a:p>
          </p:txBody>
        </p:sp>
        <p:sp>
          <p:nvSpPr>
            <p:cNvPr id="19" name="Google Shape;704;p42">
              <a:extLst>
                <a:ext uri="{FF2B5EF4-FFF2-40B4-BE49-F238E27FC236}">
                  <a16:creationId xmlns:a16="http://schemas.microsoft.com/office/drawing/2014/main" id="{88D6E29F-A69C-5E0E-609A-E930ED1F6679}"/>
                </a:ext>
              </a:extLst>
            </p:cNvPr>
            <p:cNvSpPr/>
            <p:nvPr/>
          </p:nvSpPr>
          <p:spPr>
            <a:xfrm>
              <a:off x="6204675" y="456100"/>
              <a:ext cx="25" cy="175375"/>
            </a:xfrm>
            <a:custGeom>
              <a:avLst/>
              <a:gdLst/>
              <a:ahLst/>
              <a:cxnLst/>
              <a:rect l="l" t="t" r="r" b="b"/>
              <a:pathLst>
                <a:path w="1" h="7015" fill="none" extrusionOk="0">
                  <a:moveTo>
                    <a:pt x="0" y="0"/>
                  </a:moveTo>
                  <a:lnTo>
                    <a:pt x="0" y="7014"/>
                  </a:lnTo>
                </a:path>
              </a:pathLst>
            </a:custGeom>
            <a:noFill/>
            <a:ln w="9525" cap="rnd" cmpd="sng">
              <a:solidFill>
                <a:schemeClr val="bg1"/>
              </a:solidFill>
              <a:prstDash val="solid"/>
              <a:round/>
              <a:headEnd type="none" w="sm" len="sm"/>
              <a:tailEnd type="none" w="sm" len="sm"/>
            </a:ln>
          </p:spPr>
          <p:txBody>
            <a:bodyPr spcFirstLastPara="1" wrap="square" lIns="121900" tIns="121900" rIns="121900" bIns="121900" anchor="ctr" anchorCtr="0">
              <a:noAutofit/>
            </a:bodyPr>
            <a:lstStyle/>
            <a:p>
              <a:endParaRPr sz="4911"/>
            </a:p>
          </p:txBody>
        </p:sp>
        <p:sp>
          <p:nvSpPr>
            <p:cNvPr id="20" name="Google Shape;705;p42">
              <a:extLst>
                <a:ext uri="{FF2B5EF4-FFF2-40B4-BE49-F238E27FC236}">
                  <a16:creationId xmlns:a16="http://schemas.microsoft.com/office/drawing/2014/main" id="{B8C65A6D-0148-D741-A604-01FC5AB0D24A}"/>
                </a:ext>
              </a:extLst>
            </p:cNvPr>
            <p:cNvSpPr/>
            <p:nvPr/>
          </p:nvSpPr>
          <p:spPr>
            <a:xfrm>
              <a:off x="6145000" y="456100"/>
              <a:ext cx="25" cy="175375"/>
            </a:xfrm>
            <a:custGeom>
              <a:avLst/>
              <a:gdLst/>
              <a:ahLst/>
              <a:cxnLst/>
              <a:rect l="l" t="t" r="r" b="b"/>
              <a:pathLst>
                <a:path w="1" h="7015" fill="none" extrusionOk="0">
                  <a:moveTo>
                    <a:pt x="1" y="0"/>
                  </a:moveTo>
                  <a:lnTo>
                    <a:pt x="1" y="7014"/>
                  </a:lnTo>
                </a:path>
              </a:pathLst>
            </a:custGeom>
            <a:noFill/>
            <a:ln w="9525" cap="rnd" cmpd="sng">
              <a:solidFill>
                <a:schemeClr val="bg1"/>
              </a:solidFill>
              <a:prstDash val="solid"/>
              <a:round/>
              <a:headEnd type="none" w="sm" len="sm"/>
              <a:tailEnd type="none" w="sm" len="sm"/>
            </a:ln>
          </p:spPr>
          <p:txBody>
            <a:bodyPr spcFirstLastPara="1" wrap="square" lIns="121900" tIns="121900" rIns="121900" bIns="121900" anchor="ctr" anchorCtr="0">
              <a:noAutofit/>
            </a:bodyPr>
            <a:lstStyle/>
            <a:p>
              <a:endParaRPr sz="4911"/>
            </a:p>
          </p:txBody>
        </p:sp>
        <p:sp>
          <p:nvSpPr>
            <p:cNvPr id="21" name="Google Shape;706;p42">
              <a:extLst>
                <a:ext uri="{FF2B5EF4-FFF2-40B4-BE49-F238E27FC236}">
                  <a16:creationId xmlns:a16="http://schemas.microsoft.com/office/drawing/2014/main" id="{231208A2-9495-AE38-8234-6C68321DFA02}"/>
                </a:ext>
              </a:extLst>
            </p:cNvPr>
            <p:cNvSpPr/>
            <p:nvPr/>
          </p:nvSpPr>
          <p:spPr>
            <a:xfrm>
              <a:off x="6084725" y="456100"/>
              <a:ext cx="25" cy="175375"/>
            </a:xfrm>
            <a:custGeom>
              <a:avLst/>
              <a:gdLst/>
              <a:ahLst/>
              <a:cxnLst/>
              <a:rect l="l" t="t" r="r" b="b"/>
              <a:pathLst>
                <a:path w="1" h="7015" fill="none" extrusionOk="0">
                  <a:moveTo>
                    <a:pt x="1" y="0"/>
                  </a:moveTo>
                  <a:lnTo>
                    <a:pt x="1" y="7014"/>
                  </a:lnTo>
                </a:path>
              </a:pathLst>
            </a:custGeom>
            <a:noFill/>
            <a:ln w="9525" cap="rnd" cmpd="sng">
              <a:solidFill>
                <a:schemeClr val="bg1"/>
              </a:solidFill>
              <a:prstDash val="solid"/>
              <a:round/>
              <a:headEnd type="none" w="sm" len="sm"/>
              <a:tailEnd type="none" w="sm" len="sm"/>
            </a:ln>
          </p:spPr>
          <p:txBody>
            <a:bodyPr spcFirstLastPara="1" wrap="square" lIns="121900" tIns="121900" rIns="121900" bIns="121900" anchor="ctr" anchorCtr="0">
              <a:noAutofit/>
            </a:bodyPr>
            <a:lstStyle/>
            <a:p>
              <a:endParaRPr sz="4911"/>
            </a:p>
          </p:txBody>
        </p:sp>
      </p:grpSp>
      <p:sp>
        <p:nvSpPr>
          <p:cNvPr id="28" name="Text Placeholder 27">
            <a:extLst>
              <a:ext uri="{FF2B5EF4-FFF2-40B4-BE49-F238E27FC236}">
                <a16:creationId xmlns:a16="http://schemas.microsoft.com/office/drawing/2014/main" id="{40B4446E-B7D8-DB40-2E97-D44259C99733}"/>
              </a:ext>
            </a:extLst>
          </p:cNvPr>
          <p:cNvSpPr>
            <a:spLocks noGrp="1"/>
          </p:cNvSpPr>
          <p:nvPr>
            <p:ph type="body" idx="2"/>
          </p:nvPr>
        </p:nvSpPr>
        <p:spPr>
          <a:xfrm>
            <a:off x="1329696" y="1637949"/>
            <a:ext cx="8308290" cy="4292000"/>
          </a:xfrm>
        </p:spPr>
        <p:txBody>
          <a:bodyPr/>
          <a:lstStyle/>
          <a:p>
            <a:r>
              <a:rPr lang="en-GB" sz="3200" dirty="0"/>
              <a:t>What kinds of qualitative or quantitative research or mixed methods research are you conducting? What do you want to use </a:t>
            </a:r>
            <a:r>
              <a:rPr lang="en-GB" sz="3200" dirty="0" err="1"/>
              <a:t>Nvivo</a:t>
            </a:r>
            <a:r>
              <a:rPr lang="en-GB" sz="3200" dirty="0"/>
              <a:t> for? </a:t>
            </a:r>
          </a:p>
          <a:p>
            <a:r>
              <a:rPr lang="en-GB" sz="3200" dirty="0"/>
              <a:t>Have you used any other Computer Assisted Qualitative Data Analysis Software If so, which one/s? </a:t>
            </a:r>
            <a:r>
              <a:rPr lang="en-GB" sz="3200" dirty="0" err="1"/>
              <a:t>Transana</a:t>
            </a:r>
            <a:r>
              <a:rPr lang="en-GB" sz="3200" dirty="0"/>
              <a:t>, </a:t>
            </a:r>
            <a:r>
              <a:rPr lang="en-GB" sz="3200" dirty="0" err="1"/>
              <a:t>atlas.ti</a:t>
            </a:r>
            <a:r>
              <a:rPr lang="en-GB" sz="3200" dirty="0"/>
              <a:t>, MAXQDA?</a:t>
            </a:r>
          </a:p>
          <a:p>
            <a:endParaRPr lang="en-GB" dirty="0"/>
          </a:p>
        </p:txBody>
      </p:sp>
    </p:spTree>
    <p:extLst>
      <p:ext uri="{BB962C8B-B14F-4D97-AF65-F5344CB8AC3E}">
        <p14:creationId xmlns:p14="http://schemas.microsoft.com/office/powerpoint/2010/main" val="10342086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5900" y="410063"/>
            <a:ext cx="8690762" cy="900800"/>
          </a:xfrm>
        </p:spPr>
        <p:txBody>
          <a:bodyPr/>
          <a:lstStyle/>
          <a:p>
            <a:r>
              <a:rPr lang="en-GB" sz="3200" dirty="0">
                <a:solidFill>
                  <a:srgbClr val="002060"/>
                </a:solidFill>
              </a:rPr>
              <a:t>How can CAQDAS / </a:t>
            </a:r>
            <a:r>
              <a:rPr lang="en-GB" sz="3200" dirty="0" err="1">
                <a:solidFill>
                  <a:srgbClr val="002060"/>
                </a:solidFill>
              </a:rPr>
              <a:t>Nvivo</a:t>
            </a:r>
            <a:r>
              <a:rPr lang="en-GB" sz="3200" dirty="0">
                <a:solidFill>
                  <a:srgbClr val="002060"/>
                </a:solidFill>
              </a:rPr>
              <a:t> help you in your PhD? </a:t>
            </a:r>
          </a:p>
        </p:txBody>
      </p:sp>
      <p:sp>
        <p:nvSpPr>
          <p:cNvPr id="5" name="Slide Number Placeholder 4"/>
          <p:cNvSpPr>
            <a:spLocks noGrp="1"/>
          </p:cNvSpPr>
          <p:nvPr>
            <p:ph type="sldNum" idx="12"/>
          </p:nvPr>
        </p:nvSpPr>
        <p:spPr/>
        <p:txBody>
          <a:bodyPr/>
          <a:lstStyle/>
          <a:p>
            <a:fld id="{00000000-1234-1234-1234-123412341234}" type="slidenum">
              <a:rPr lang="en" dirty="0" smtClean="0"/>
              <a:pPr/>
              <a:t>5</a:t>
            </a:fld>
            <a:endParaRPr lang="en"/>
          </a:p>
        </p:txBody>
      </p:sp>
      <p:grpSp>
        <p:nvGrpSpPr>
          <p:cNvPr id="7" name="Google Shape;692;p42"/>
          <p:cNvGrpSpPr/>
          <p:nvPr/>
        </p:nvGrpSpPr>
        <p:grpSpPr>
          <a:xfrm rot="1274327">
            <a:off x="11308578" y="1357590"/>
            <a:ext cx="450396" cy="426495"/>
            <a:chOff x="5973900" y="318475"/>
            <a:chExt cx="401900" cy="380575"/>
          </a:xfrm>
        </p:grpSpPr>
        <p:sp>
          <p:nvSpPr>
            <p:cNvPr id="8" name="Google Shape;693;p42"/>
            <p:cNvSpPr/>
            <p:nvPr/>
          </p:nvSpPr>
          <p:spPr>
            <a:xfrm>
              <a:off x="5973900" y="337975"/>
              <a:ext cx="401900" cy="67000"/>
            </a:xfrm>
            <a:custGeom>
              <a:avLst/>
              <a:gdLst/>
              <a:ahLst/>
              <a:cxnLst/>
              <a:rect l="l" t="t" r="r" b="b"/>
              <a:pathLst>
                <a:path w="16076" h="2680" fill="none" extrusionOk="0">
                  <a:moveTo>
                    <a:pt x="16075" y="2679"/>
                  </a:moveTo>
                  <a:lnTo>
                    <a:pt x="16075" y="0"/>
                  </a:lnTo>
                  <a:lnTo>
                    <a:pt x="1" y="0"/>
                  </a:lnTo>
                  <a:lnTo>
                    <a:pt x="1" y="2679"/>
                  </a:lnTo>
                </a:path>
              </a:pathLst>
            </a:custGeom>
            <a:noFill/>
            <a:ln w="9525" cap="rnd" cmpd="sng">
              <a:solidFill>
                <a:schemeClr val="bg1"/>
              </a:solidFill>
              <a:prstDash val="solid"/>
              <a:round/>
              <a:headEnd type="none" w="sm" len="sm"/>
              <a:tailEnd type="none" w="sm" len="sm"/>
            </a:ln>
          </p:spPr>
          <p:txBody>
            <a:bodyPr spcFirstLastPara="1" wrap="square" lIns="121900" tIns="121900" rIns="121900" bIns="121900" anchor="ctr" anchorCtr="0">
              <a:noAutofit/>
            </a:bodyPr>
            <a:lstStyle/>
            <a:p>
              <a:endParaRPr sz="4911"/>
            </a:p>
          </p:txBody>
        </p:sp>
        <p:sp>
          <p:nvSpPr>
            <p:cNvPr id="9" name="Google Shape;694;p42"/>
            <p:cNvSpPr/>
            <p:nvPr/>
          </p:nvSpPr>
          <p:spPr>
            <a:xfrm>
              <a:off x="6024450" y="348325"/>
              <a:ext cx="45075" cy="45075"/>
            </a:xfrm>
            <a:custGeom>
              <a:avLst/>
              <a:gdLst/>
              <a:ahLst/>
              <a:cxnLst/>
              <a:rect l="l" t="t" r="r" b="b"/>
              <a:pathLst>
                <a:path w="1803" h="1803" fill="none" extrusionOk="0">
                  <a:moveTo>
                    <a:pt x="902" y="1803"/>
                  </a:moveTo>
                  <a:lnTo>
                    <a:pt x="902" y="1803"/>
                  </a:lnTo>
                  <a:lnTo>
                    <a:pt x="731" y="1778"/>
                  </a:lnTo>
                  <a:lnTo>
                    <a:pt x="561" y="1729"/>
                  </a:lnTo>
                  <a:lnTo>
                    <a:pt x="390" y="1632"/>
                  </a:lnTo>
                  <a:lnTo>
                    <a:pt x="268" y="1535"/>
                  </a:lnTo>
                  <a:lnTo>
                    <a:pt x="147" y="1388"/>
                  </a:lnTo>
                  <a:lnTo>
                    <a:pt x="73" y="1242"/>
                  </a:lnTo>
                  <a:lnTo>
                    <a:pt x="25" y="1072"/>
                  </a:lnTo>
                  <a:lnTo>
                    <a:pt x="0" y="901"/>
                  </a:lnTo>
                  <a:lnTo>
                    <a:pt x="0" y="901"/>
                  </a:lnTo>
                  <a:lnTo>
                    <a:pt x="25" y="707"/>
                  </a:lnTo>
                  <a:lnTo>
                    <a:pt x="73" y="536"/>
                  </a:lnTo>
                  <a:lnTo>
                    <a:pt x="147" y="390"/>
                  </a:lnTo>
                  <a:lnTo>
                    <a:pt x="268" y="244"/>
                  </a:lnTo>
                  <a:lnTo>
                    <a:pt x="390" y="146"/>
                  </a:lnTo>
                  <a:lnTo>
                    <a:pt x="561" y="49"/>
                  </a:lnTo>
                  <a:lnTo>
                    <a:pt x="731" y="0"/>
                  </a:lnTo>
                  <a:lnTo>
                    <a:pt x="902" y="0"/>
                  </a:lnTo>
                  <a:lnTo>
                    <a:pt x="902" y="0"/>
                  </a:lnTo>
                  <a:lnTo>
                    <a:pt x="1072" y="0"/>
                  </a:lnTo>
                  <a:lnTo>
                    <a:pt x="1242" y="49"/>
                  </a:lnTo>
                  <a:lnTo>
                    <a:pt x="1413" y="146"/>
                  </a:lnTo>
                  <a:lnTo>
                    <a:pt x="1535" y="244"/>
                  </a:lnTo>
                  <a:lnTo>
                    <a:pt x="1657" y="390"/>
                  </a:lnTo>
                  <a:lnTo>
                    <a:pt x="1730" y="536"/>
                  </a:lnTo>
                  <a:lnTo>
                    <a:pt x="1778" y="707"/>
                  </a:lnTo>
                  <a:lnTo>
                    <a:pt x="1803" y="901"/>
                  </a:lnTo>
                  <a:lnTo>
                    <a:pt x="1803" y="901"/>
                  </a:lnTo>
                  <a:lnTo>
                    <a:pt x="1778" y="1072"/>
                  </a:lnTo>
                  <a:lnTo>
                    <a:pt x="1730" y="1242"/>
                  </a:lnTo>
                  <a:lnTo>
                    <a:pt x="1657" y="1388"/>
                  </a:lnTo>
                  <a:lnTo>
                    <a:pt x="1535" y="1535"/>
                  </a:lnTo>
                  <a:lnTo>
                    <a:pt x="1413" y="1632"/>
                  </a:lnTo>
                  <a:lnTo>
                    <a:pt x="1242" y="1729"/>
                  </a:lnTo>
                  <a:lnTo>
                    <a:pt x="1072" y="1778"/>
                  </a:lnTo>
                  <a:lnTo>
                    <a:pt x="902" y="1803"/>
                  </a:lnTo>
                  <a:lnTo>
                    <a:pt x="902" y="1803"/>
                  </a:lnTo>
                </a:path>
              </a:pathLst>
            </a:custGeom>
            <a:noFill/>
            <a:ln w="9525" cap="rnd" cmpd="sng">
              <a:solidFill>
                <a:schemeClr val="bg1"/>
              </a:solidFill>
              <a:prstDash val="solid"/>
              <a:round/>
              <a:headEnd type="none" w="sm" len="sm"/>
              <a:tailEnd type="none" w="sm" len="sm"/>
            </a:ln>
          </p:spPr>
          <p:txBody>
            <a:bodyPr spcFirstLastPara="1" wrap="square" lIns="121900" tIns="121900" rIns="121900" bIns="121900" anchor="ctr" anchorCtr="0">
              <a:noAutofit/>
            </a:bodyPr>
            <a:lstStyle/>
            <a:p>
              <a:endParaRPr sz="4911"/>
            </a:p>
          </p:txBody>
        </p:sp>
        <p:sp>
          <p:nvSpPr>
            <p:cNvPr id="10" name="Google Shape;695;p42"/>
            <p:cNvSpPr/>
            <p:nvPr/>
          </p:nvSpPr>
          <p:spPr>
            <a:xfrm>
              <a:off x="6280175" y="348325"/>
              <a:ext cx="45075" cy="45075"/>
            </a:xfrm>
            <a:custGeom>
              <a:avLst/>
              <a:gdLst/>
              <a:ahLst/>
              <a:cxnLst/>
              <a:rect l="l" t="t" r="r" b="b"/>
              <a:pathLst>
                <a:path w="1803" h="1803" fill="none" extrusionOk="0">
                  <a:moveTo>
                    <a:pt x="902" y="1803"/>
                  </a:moveTo>
                  <a:lnTo>
                    <a:pt x="902" y="1803"/>
                  </a:lnTo>
                  <a:lnTo>
                    <a:pt x="731" y="1778"/>
                  </a:lnTo>
                  <a:lnTo>
                    <a:pt x="561" y="1729"/>
                  </a:lnTo>
                  <a:lnTo>
                    <a:pt x="390" y="1632"/>
                  </a:lnTo>
                  <a:lnTo>
                    <a:pt x="268" y="1535"/>
                  </a:lnTo>
                  <a:lnTo>
                    <a:pt x="147" y="1388"/>
                  </a:lnTo>
                  <a:lnTo>
                    <a:pt x="74" y="1242"/>
                  </a:lnTo>
                  <a:lnTo>
                    <a:pt x="25" y="1072"/>
                  </a:lnTo>
                  <a:lnTo>
                    <a:pt x="0" y="901"/>
                  </a:lnTo>
                  <a:lnTo>
                    <a:pt x="0" y="901"/>
                  </a:lnTo>
                  <a:lnTo>
                    <a:pt x="25" y="707"/>
                  </a:lnTo>
                  <a:lnTo>
                    <a:pt x="74" y="536"/>
                  </a:lnTo>
                  <a:lnTo>
                    <a:pt x="147" y="390"/>
                  </a:lnTo>
                  <a:lnTo>
                    <a:pt x="268" y="244"/>
                  </a:lnTo>
                  <a:lnTo>
                    <a:pt x="390" y="146"/>
                  </a:lnTo>
                  <a:lnTo>
                    <a:pt x="561" y="49"/>
                  </a:lnTo>
                  <a:lnTo>
                    <a:pt x="731" y="0"/>
                  </a:lnTo>
                  <a:lnTo>
                    <a:pt x="902" y="0"/>
                  </a:lnTo>
                  <a:lnTo>
                    <a:pt x="902" y="0"/>
                  </a:lnTo>
                  <a:lnTo>
                    <a:pt x="1072" y="0"/>
                  </a:lnTo>
                  <a:lnTo>
                    <a:pt x="1243" y="49"/>
                  </a:lnTo>
                  <a:lnTo>
                    <a:pt x="1413" y="146"/>
                  </a:lnTo>
                  <a:lnTo>
                    <a:pt x="1535" y="244"/>
                  </a:lnTo>
                  <a:lnTo>
                    <a:pt x="1657" y="390"/>
                  </a:lnTo>
                  <a:lnTo>
                    <a:pt x="1730" y="536"/>
                  </a:lnTo>
                  <a:lnTo>
                    <a:pt x="1778" y="707"/>
                  </a:lnTo>
                  <a:lnTo>
                    <a:pt x="1803" y="901"/>
                  </a:lnTo>
                  <a:lnTo>
                    <a:pt x="1803" y="901"/>
                  </a:lnTo>
                  <a:lnTo>
                    <a:pt x="1778" y="1072"/>
                  </a:lnTo>
                  <a:lnTo>
                    <a:pt x="1730" y="1242"/>
                  </a:lnTo>
                  <a:lnTo>
                    <a:pt x="1657" y="1388"/>
                  </a:lnTo>
                  <a:lnTo>
                    <a:pt x="1535" y="1535"/>
                  </a:lnTo>
                  <a:lnTo>
                    <a:pt x="1413" y="1632"/>
                  </a:lnTo>
                  <a:lnTo>
                    <a:pt x="1243" y="1729"/>
                  </a:lnTo>
                  <a:lnTo>
                    <a:pt x="1072" y="1778"/>
                  </a:lnTo>
                  <a:lnTo>
                    <a:pt x="902" y="1803"/>
                  </a:lnTo>
                  <a:lnTo>
                    <a:pt x="902" y="1803"/>
                  </a:lnTo>
                </a:path>
              </a:pathLst>
            </a:custGeom>
            <a:noFill/>
            <a:ln w="9525" cap="rnd" cmpd="sng">
              <a:solidFill>
                <a:schemeClr val="bg1"/>
              </a:solidFill>
              <a:prstDash val="solid"/>
              <a:round/>
              <a:headEnd type="none" w="sm" len="sm"/>
              <a:tailEnd type="none" w="sm" len="sm"/>
            </a:ln>
          </p:spPr>
          <p:txBody>
            <a:bodyPr spcFirstLastPara="1" wrap="square" lIns="121900" tIns="121900" rIns="121900" bIns="121900" anchor="ctr" anchorCtr="0">
              <a:noAutofit/>
            </a:bodyPr>
            <a:lstStyle/>
            <a:p>
              <a:endParaRPr sz="4911"/>
            </a:p>
          </p:txBody>
        </p:sp>
        <p:sp>
          <p:nvSpPr>
            <p:cNvPr id="11" name="Google Shape;696;p42"/>
            <p:cNvSpPr/>
            <p:nvPr/>
          </p:nvSpPr>
          <p:spPr>
            <a:xfrm>
              <a:off x="5973900" y="667375"/>
              <a:ext cx="401900" cy="31675"/>
            </a:xfrm>
            <a:custGeom>
              <a:avLst/>
              <a:gdLst/>
              <a:ahLst/>
              <a:cxnLst/>
              <a:rect l="l" t="t" r="r" b="b"/>
              <a:pathLst>
                <a:path w="16076" h="1267" fill="none" extrusionOk="0">
                  <a:moveTo>
                    <a:pt x="1" y="0"/>
                  </a:moveTo>
                  <a:lnTo>
                    <a:pt x="1" y="487"/>
                  </a:lnTo>
                  <a:lnTo>
                    <a:pt x="1" y="487"/>
                  </a:lnTo>
                  <a:lnTo>
                    <a:pt x="25" y="658"/>
                  </a:lnTo>
                  <a:lnTo>
                    <a:pt x="74" y="804"/>
                  </a:lnTo>
                  <a:lnTo>
                    <a:pt x="147" y="926"/>
                  </a:lnTo>
                  <a:lnTo>
                    <a:pt x="220" y="1048"/>
                  </a:lnTo>
                  <a:lnTo>
                    <a:pt x="342" y="1145"/>
                  </a:lnTo>
                  <a:lnTo>
                    <a:pt x="488" y="1218"/>
                  </a:lnTo>
                  <a:lnTo>
                    <a:pt x="634" y="1267"/>
                  </a:lnTo>
                  <a:lnTo>
                    <a:pt x="780" y="1267"/>
                  </a:lnTo>
                  <a:lnTo>
                    <a:pt x="15296" y="1267"/>
                  </a:lnTo>
                  <a:lnTo>
                    <a:pt x="15296" y="1267"/>
                  </a:lnTo>
                  <a:lnTo>
                    <a:pt x="15442" y="1267"/>
                  </a:lnTo>
                  <a:lnTo>
                    <a:pt x="15588" y="1218"/>
                  </a:lnTo>
                  <a:lnTo>
                    <a:pt x="15734" y="1145"/>
                  </a:lnTo>
                  <a:lnTo>
                    <a:pt x="15856" y="1048"/>
                  </a:lnTo>
                  <a:lnTo>
                    <a:pt x="15929" y="926"/>
                  </a:lnTo>
                  <a:lnTo>
                    <a:pt x="16002" y="804"/>
                  </a:lnTo>
                  <a:lnTo>
                    <a:pt x="16051" y="658"/>
                  </a:lnTo>
                  <a:lnTo>
                    <a:pt x="16075" y="487"/>
                  </a:lnTo>
                  <a:lnTo>
                    <a:pt x="16075" y="0"/>
                  </a:lnTo>
                </a:path>
              </a:pathLst>
            </a:custGeom>
            <a:noFill/>
            <a:ln w="9525" cap="rnd" cmpd="sng">
              <a:solidFill>
                <a:schemeClr val="bg1"/>
              </a:solidFill>
              <a:prstDash val="solid"/>
              <a:round/>
              <a:headEnd type="none" w="sm" len="sm"/>
              <a:tailEnd type="none" w="sm" len="sm"/>
            </a:ln>
          </p:spPr>
          <p:txBody>
            <a:bodyPr spcFirstLastPara="1" wrap="square" lIns="121900" tIns="121900" rIns="121900" bIns="121900" anchor="ctr" anchorCtr="0">
              <a:noAutofit/>
            </a:bodyPr>
            <a:lstStyle/>
            <a:p>
              <a:endParaRPr sz="4911"/>
            </a:p>
          </p:txBody>
        </p:sp>
        <p:sp>
          <p:nvSpPr>
            <p:cNvPr id="12" name="Google Shape;697;p42"/>
            <p:cNvSpPr/>
            <p:nvPr/>
          </p:nvSpPr>
          <p:spPr>
            <a:xfrm>
              <a:off x="6302700" y="318475"/>
              <a:ext cx="28650" cy="63350"/>
            </a:xfrm>
            <a:custGeom>
              <a:avLst/>
              <a:gdLst/>
              <a:ahLst/>
              <a:cxnLst/>
              <a:rect l="l" t="t" r="r" b="b"/>
              <a:pathLst>
                <a:path w="1146" h="2534" fill="none" extrusionOk="0">
                  <a:moveTo>
                    <a:pt x="634" y="2534"/>
                  </a:moveTo>
                  <a:lnTo>
                    <a:pt x="488" y="2534"/>
                  </a:lnTo>
                  <a:lnTo>
                    <a:pt x="488" y="2534"/>
                  </a:lnTo>
                  <a:lnTo>
                    <a:pt x="390" y="2534"/>
                  </a:lnTo>
                  <a:lnTo>
                    <a:pt x="293" y="2485"/>
                  </a:lnTo>
                  <a:lnTo>
                    <a:pt x="220" y="2461"/>
                  </a:lnTo>
                  <a:lnTo>
                    <a:pt x="147" y="2388"/>
                  </a:lnTo>
                  <a:lnTo>
                    <a:pt x="74" y="2315"/>
                  </a:lnTo>
                  <a:lnTo>
                    <a:pt x="49" y="2242"/>
                  </a:lnTo>
                  <a:lnTo>
                    <a:pt x="1" y="2144"/>
                  </a:lnTo>
                  <a:lnTo>
                    <a:pt x="1" y="2047"/>
                  </a:lnTo>
                  <a:lnTo>
                    <a:pt x="1" y="488"/>
                  </a:lnTo>
                  <a:lnTo>
                    <a:pt x="1" y="488"/>
                  </a:lnTo>
                  <a:lnTo>
                    <a:pt x="1" y="391"/>
                  </a:lnTo>
                  <a:lnTo>
                    <a:pt x="49" y="293"/>
                  </a:lnTo>
                  <a:lnTo>
                    <a:pt x="74" y="220"/>
                  </a:lnTo>
                  <a:lnTo>
                    <a:pt x="147" y="147"/>
                  </a:lnTo>
                  <a:lnTo>
                    <a:pt x="220" y="74"/>
                  </a:lnTo>
                  <a:lnTo>
                    <a:pt x="293" y="50"/>
                  </a:lnTo>
                  <a:lnTo>
                    <a:pt x="390" y="1"/>
                  </a:lnTo>
                  <a:lnTo>
                    <a:pt x="488" y="1"/>
                  </a:lnTo>
                  <a:lnTo>
                    <a:pt x="683" y="1"/>
                  </a:lnTo>
                  <a:lnTo>
                    <a:pt x="683" y="1"/>
                  </a:lnTo>
                  <a:lnTo>
                    <a:pt x="780" y="1"/>
                  </a:lnTo>
                  <a:lnTo>
                    <a:pt x="877" y="50"/>
                  </a:lnTo>
                  <a:lnTo>
                    <a:pt x="950" y="74"/>
                  </a:lnTo>
                  <a:lnTo>
                    <a:pt x="1024" y="147"/>
                  </a:lnTo>
                  <a:lnTo>
                    <a:pt x="1072" y="220"/>
                  </a:lnTo>
                  <a:lnTo>
                    <a:pt x="1121" y="293"/>
                  </a:lnTo>
                  <a:lnTo>
                    <a:pt x="1145" y="391"/>
                  </a:lnTo>
                  <a:lnTo>
                    <a:pt x="1145" y="488"/>
                  </a:lnTo>
                </a:path>
              </a:pathLst>
            </a:custGeom>
            <a:noFill/>
            <a:ln w="9525" cap="rnd" cmpd="sng">
              <a:solidFill>
                <a:schemeClr val="bg1"/>
              </a:solidFill>
              <a:prstDash val="solid"/>
              <a:round/>
              <a:headEnd type="none" w="sm" len="sm"/>
              <a:tailEnd type="none" w="sm" len="sm"/>
            </a:ln>
          </p:spPr>
          <p:txBody>
            <a:bodyPr spcFirstLastPara="1" wrap="square" lIns="121900" tIns="121900" rIns="121900" bIns="121900" anchor="ctr" anchorCtr="0">
              <a:noAutofit/>
            </a:bodyPr>
            <a:lstStyle/>
            <a:p>
              <a:endParaRPr sz="4911"/>
            </a:p>
          </p:txBody>
        </p:sp>
        <p:sp>
          <p:nvSpPr>
            <p:cNvPr id="13" name="Google Shape;698;p42"/>
            <p:cNvSpPr/>
            <p:nvPr/>
          </p:nvSpPr>
          <p:spPr>
            <a:xfrm>
              <a:off x="6046975" y="318475"/>
              <a:ext cx="28650" cy="63350"/>
            </a:xfrm>
            <a:custGeom>
              <a:avLst/>
              <a:gdLst/>
              <a:ahLst/>
              <a:cxnLst/>
              <a:rect l="l" t="t" r="r" b="b"/>
              <a:pathLst>
                <a:path w="1146" h="2534" fill="none" extrusionOk="0">
                  <a:moveTo>
                    <a:pt x="634" y="2534"/>
                  </a:moveTo>
                  <a:lnTo>
                    <a:pt x="488" y="2534"/>
                  </a:lnTo>
                  <a:lnTo>
                    <a:pt x="488" y="2534"/>
                  </a:lnTo>
                  <a:lnTo>
                    <a:pt x="390" y="2534"/>
                  </a:lnTo>
                  <a:lnTo>
                    <a:pt x="293" y="2485"/>
                  </a:lnTo>
                  <a:lnTo>
                    <a:pt x="220" y="2461"/>
                  </a:lnTo>
                  <a:lnTo>
                    <a:pt x="147" y="2388"/>
                  </a:lnTo>
                  <a:lnTo>
                    <a:pt x="74" y="2315"/>
                  </a:lnTo>
                  <a:lnTo>
                    <a:pt x="49" y="2242"/>
                  </a:lnTo>
                  <a:lnTo>
                    <a:pt x="1" y="2144"/>
                  </a:lnTo>
                  <a:lnTo>
                    <a:pt x="1" y="2047"/>
                  </a:lnTo>
                  <a:lnTo>
                    <a:pt x="1" y="488"/>
                  </a:lnTo>
                  <a:lnTo>
                    <a:pt x="1" y="488"/>
                  </a:lnTo>
                  <a:lnTo>
                    <a:pt x="1" y="391"/>
                  </a:lnTo>
                  <a:lnTo>
                    <a:pt x="49" y="293"/>
                  </a:lnTo>
                  <a:lnTo>
                    <a:pt x="74" y="220"/>
                  </a:lnTo>
                  <a:lnTo>
                    <a:pt x="147" y="147"/>
                  </a:lnTo>
                  <a:lnTo>
                    <a:pt x="220" y="74"/>
                  </a:lnTo>
                  <a:lnTo>
                    <a:pt x="293" y="50"/>
                  </a:lnTo>
                  <a:lnTo>
                    <a:pt x="390" y="1"/>
                  </a:lnTo>
                  <a:lnTo>
                    <a:pt x="488" y="1"/>
                  </a:lnTo>
                  <a:lnTo>
                    <a:pt x="682" y="1"/>
                  </a:lnTo>
                  <a:lnTo>
                    <a:pt x="682" y="1"/>
                  </a:lnTo>
                  <a:lnTo>
                    <a:pt x="780" y="1"/>
                  </a:lnTo>
                  <a:lnTo>
                    <a:pt x="877" y="50"/>
                  </a:lnTo>
                  <a:lnTo>
                    <a:pt x="950" y="74"/>
                  </a:lnTo>
                  <a:lnTo>
                    <a:pt x="1023" y="147"/>
                  </a:lnTo>
                  <a:lnTo>
                    <a:pt x="1072" y="220"/>
                  </a:lnTo>
                  <a:lnTo>
                    <a:pt x="1121" y="293"/>
                  </a:lnTo>
                  <a:lnTo>
                    <a:pt x="1145" y="391"/>
                  </a:lnTo>
                  <a:lnTo>
                    <a:pt x="1145" y="488"/>
                  </a:lnTo>
                </a:path>
              </a:pathLst>
            </a:custGeom>
            <a:noFill/>
            <a:ln w="9525" cap="rnd" cmpd="sng">
              <a:solidFill>
                <a:schemeClr val="bg1"/>
              </a:solidFill>
              <a:prstDash val="solid"/>
              <a:round/>
              <a:headEnd type="none" w="sm" len="sm"/>
              <a:tailEnd type="none" w="sm" len="sm"/>
            </a:ln>
          </p:spPr>
          <p:txBody>
            <a:bodyPr spcFirstLastPara="1" wrap="square" lIns="121900" tIns="121900" rIns="121900" bIns="121900" anchor="ctr" anchorCtr="0">
              <a:noAutofit/>
            </a:bodyPr>
            <a:lstStyle/>
            <a:p>
              <a:endParaRPr sz="4911"/>
            </a:p>
          </p:txBody>
        </p:sp>
        <p:sp>
          <p:nvSpPr>
            <p:cNvPr id="14" name="Google Shape;699;p42"/>
            <p:cNvSpPr/>
            <p:nvPr/>
          </p:nvSpPr>
          <p:spPr>
            <a:xfrm>
              <a:off x="5973900" y="407375"/>
              <a:ext cx="401900" cy="272200"/>
            </a:xfrm>
            <a:custGeom>
              <a:avLst/>
              <a:gdLst/>
              <a:ahLst/>
              <a:cxnLst/>
              <a:rect l="l" t="t" r="r" b="b"/>
              <a:pathLst>
                <a:path w="16076" h="10888" fill="none" extrusionOk="0">
                  <a:moveTo>
                    <a:pt x="1" y="1"/>
                  </a:moveTo>
                  <a:lnTo>
                    <a:pt x="1" y="10303"/>
                  </a:lnTo>
                  <a:lnTo>
                    <a:pt x="1" y="10303"/>
                  </a:lnTo>
                  <a:lnTo>
                    <a:pt x="25" y="10400"/>
                  </a:lnTo>
                  <a:lnTo>
                    <a:pt x="74" y="10498"/>
                  </a:lnTo>
                  <a:lnTo>
                    <a:pt x="147" y="10595"/>
                  </a:lnTo>
                  <a:lnTo>
                    <a:pt x="220" y="10693"/>
                  </a:lnTo>
                  <a:lnTo>
                    <a:pt x="342" y="10766"/>
                  </a:lnTo>
                  <a:lnTo>
                    <a:pt x="488" y="10839"/>
                  </a:lnTo>
                  <a:lnTo>
                    <a:pt x="634" y="10887"/>
                  </a:lnTo>
                  <a:lnTo>
                    <a:pt x="780" y="10887"/>
                  </a:lnTo>
                  <a:lnTo>
                    <a:pt x="15296" y="10887"/>
                  </a:lnTo>
                  <a:lnTo>
                    <a:pt x="15296" y="10887"/>
                  </a:lnTo>
                  <a:lnTo>
                    <a:pt x="15442" y="10887"/>
                  </a:lnTo>
                  <a:lnTo>
                    <a:pt x="15588" y="10839"/>
                  </a:lnTo>
                  <a:lnTo>
                    <a:pt x="15734" y="10766"/>
                  </a:lnTo>
                  <a:lnTo>
                    <a:pt x="15856" y="10668"/>
                  </a:lnTo>
                  <a:lnTo>
                    <a:pt x="15929" y="10546"/>
                  </a:lnTo>
                  <a:lnTo>
                    <a:pt x="16002" y="10425"/>
                  </a:lnTo>
                  <a:lnTo>
                    <a:pt x="16051" y="10278"/>
                  </a:lnTo>
                  <a:lnTo>
                    <a:pt x="16075" y="10108"/>
                  </a:lnTo>
                  <a:lnTo>
                    <a:pt x="16075" y="1"/>
                  </a:lnTo>
                  <a:lnTo>
                    <a:pt x="1" y="1"/>
                  </a:lnTo>
                  <a:close/>
                </a:path>
              </a:pathLst>
            </a:custGeom>
            <a:noFill/>
            <a:ln w="9525" cap="rnd" cmpd="sng">
              <a:solidFill>
                <a:schemeClr val="bg1"/>
              </a:solidFill>
              <a:prstDash val="solid"/>
              <a:round/>
              <a:headEnd type="none" w="sm" len="sm"/>
              <a:tailEnd type="none" w="sm" len="sm"/>
            </a:ln>
          </p:spPr>
          <p:txBody>
            <a:bodyPr spcFirstLastPara="1" wrap="square" lIns="121900" tIns="121900" rIns="121900" bIns="121900" anchor="ctr" anchorCtr="0">
              <a:noAutofit/>
            </a:bodyPr>
            <a:lstStyle/>
            <a:p>
              <a:endParaRPr sz="4911"/>
            </a:p>
          </p:txBody>
        </p:sp>
        <p:sp>
          <p:nvSpPr>
            <p:cNvPr id="15" name="Google Shape;700;p42"/>
            <p:cNvSpPr/>
            <p:nvPr/>
          </p:nvSpPr>
          <p:spPr>
            <a:xfrm>
              <a:off x="6024450" y="456100"/>
              <a:ext cx="300800" cy="175375"/>
            </a:xfrm>
            <a:custGeom>
              <a:avLst/>
              <a:gdLst/>
              <a:ahLst/>
              <a:cxnLst/>
              <a:rect l="l" t="t" r="r" b="b"/>
              <a:pathLst>
                <a:path w="12032" h="7015" fill="none" extrusionOk="0">
                  <a:moveTo>
                    <a:pt x="0" y="0"/>
                  </a:moveTo>
                  <a:lnTo>
                    <a:pt x="12032" y="0"/>
                  </a:lnTo>
                  <a:lnTo>
                    <a:pt x="12032" y="7014"/>
                  </a:lnTo>
                  <a:lnTo>
                    <a:pt x="0" y="7014"/>
                  </a:lnTo>
                  <a:lnTo>
                    <a:pt x="0" y="0"/>
                  </a:lnTo>
                  <a:close/>
                </a:path>
              </a:pathLst>
            </a:custGeom>
            <a:noFill/>
            <a:ln w="9525" cap="rnd" cmpd="sng">
              <a:solidFill>
                <a:schemeClr val="bg1"/>
              </a:solidFill>
              <a:prstDash val="solid"/>
              <a:round/>
              <a:headEnd type="none" w="sm" len="sm"/>
              <a:tailEnd type="none" w="sm" len="sm"/>
            </a:ln>
          </p:spPr>
          <p:txBody>
            <a:bodyPr spcFirstLastPara="1" wrap="square" lIns="121900" tIns="121900" rIns="121900" bIns="121900" anchor="ctr" anchorCtr="0">
              <a:noAutofit/>
            </a:bodyPr>
            <a:lstStyle/>
            <a:p>
              <a:endParaRPr sz="4911"/>
            </a:p>
          </p:txBody>
        </p:sp>
        <p:sp>
          <p:nvSpPr>
            <p:cNvPr id="16" name="Google Shape;701;p42"/>
            <p:cNvSpPr/>
            <p:nvPr/>
          </p:nvSpPr>
          <p:spPr>
            <a:xfrm>
              <a:off x="6024450" y="573000"/>
              <a:ext cx="300800" cy="25"/>
            </a:xfrm>
            <a:custGeom>
              <a:avLst/>
              <a:gdLst/>
              <a:ahLst/>
              <a:cxnLst/>
              <a:rect l="l" t="t" r="r" b="b"/>
              <a:pathLst>
                <a:path w="12032" h="1" fill="none" extrusionOk="0">
                  <a:moveTo>
                    <a:pt x="0" y="0"/>
                  </a:moveTo>
                  <a:lnTo>
                    <a:pt x="12032" y="0"/>
                  </a:lnTo>
                </a:path>
              </a:pathLst>
            </a:custGeom>
            <a:noFill/>
            <a:ln w="9525" cap="rnd" cmpd="sng">
              <a:solidFill>
                <a:schemeClr val="bg1"/>
              </a:solidFill>
              <a:prstDash val="solid"/>
              <a:round/>
              <a:headEnd type="none" w="sm" len="sm"/>
              <a:tailEnd type="none" w="sm" len="sm"/>
            </a:ln>
          </p:spPr>
          <p:txBody>
            <a:bodyPr spcFirstLastPara="1" wrap="square" lIns="121900" tIns="121900" rIns="121900" bIns="121900" anchor="ctr" anchorCtr="0">
              <a:noAutofit/>
            </a:bodyPr>
            <a:lstStyle/>
            <a:p>
              <a:endParaRPr sz="4911"/>
            </a:p>
          </p:txBody>
        </p:sp>
        <p:sp>
          <p:nvSpPr>
            <p:cNvPr id="17" name="Google Shape;702;p42"/>
            <p:cNvSpPr/>
            <p:nvPr/>
          </p:nvSpPr>
          <p:spPr>
            <a:xfrm>
              <a:off x="6024450" y="514550"/>
              <a:ext cx="300800" cy="25"/>
            </a:xfrm>
            <a:custGeom>
              <a:avLst/>
              <a:gdLst/>
              <a:ahLst/>
              <a:cxnLst/>
              <a:rect l="l" t="t" r="r" b="b"/>
              <a:pathLst>
                <a:path w="12032" h="1" fill="none" extrusionOk="0">
                  <a:moveTo>
                    <a:pt x="0" y="0"/>
                  </a:moveTo>
                  <a:lnTo>
                    <a:pt x="12032" y="0"/>
                  </a:lnTo>
                </a:path>
              </a:pathLst>
            </a:custGeom>
            <a:noFill/>
            <a:ln w="9525" cap="rnd" cmpd="sng">
              <a:solidFill>
                <a:schemeClr val="bg1"/>
              </a:solidFill>
              <a:prstDash val="solid"/>
              <a:round/>
              <a:headEnd type="none" w="sm" len="sm"/>
              <a:tailEnd type="none" w="sm" len="sm"/>
            </a:ln>
          </p:spPr>
          <p:txBody>
            <a:bodyPr spcFirstLastPara="1" wrap="square" lIns="121900" tIns="121900" rIns="121900" bIns="121900" anchor="ctr" anchorCtr="0">
              <a:noAutofit/>
            </a:bodyPr>
            <a:lstStyle/>
            <a:p>
              <a:endParaRPr sz="4911"/>
            </a:p>
          </p:txBody>
        </p:sp>
        <p:sp>
          <p:nvSpPr>
            <p:cNvPr id="18" name="Google Shape;703;p42"/>
            <p:cNvSpPr/>
            <p:nvPr/>
          </p:nvSpPr>
          <p:spPr>
            <a:xfrm>
              <a:off x="6264950" y="456100"/>
              <a:ext cx="25" cy="175375"/>
            </a:xfrm>
            <a:custGeom>
              <a:avLst/>
              <a:gdLst/>
              <a:ahLst/>
              <a:cxnLst/>
              <a:rect l="l" t="t" r="r" b="b"/>
              <a:pathLst>
                <a:path w="1" h="7015" fill="none" extrusionOk="0">
                  <a:moveTo>
                    <a:pt x="1" y="0"/>
                  </a:moveTo>
                  <a:lnTo>
                    <a:pt x="1" y="7014"/>
                  </a:lnTo>
                </a:path>
              </a:pathLst>
            </a:custGeom>
            <a:noFill/>
            <a:ln w="9525" cap="rnd" cmpd="sng">
              <a:solidFill>
                <a:schemeClr val="bg1"/>
              </a:solidFill>
              <a:prstDash val="solid"/>
              <a:round/>
              <a:headEnd type="none" w="sm" len="sm"/>
              <a:tailEnd type="none" w="sm" len="sm"/>
            </a:ln>
          </p:spPr>
          <p:txBody>
            <a:bodyPr spcFirstLastPara="1" wrap="square" lIns="121900" tIns="121900" rIns="121900" bIns="121900" anchor="ctr" anchorCtr="0">
              <a:noAutofit/>
            </a:bodyPr>
            <a:lstStyle/>
            <a:p>
              <a:endParaRPr sz="4911"/>
            </a:p>
          </p:txBody>
        </p:sp>
        <p:sp>
          <p:nvSpPr>
            <p:cNvPr id="19" name="Google Shape;704;p42"/>
            <p:cNvSpPr/>
            <p:nvPr/>
          </p:nvSpPr>
          <p:spPr>
            <a:xfrm>
              <a:off x="6204675" y="456100"/>
              <a:ext cx="25" cy="175375"/>
            </a:xfrm>
            <a:custGeom>
              <a:avLst/>
              <a:gdLst/>
              <a:ahLst/>
              <a:cxnLst/>
              <a:rect l="l" t="t" r="r" b="b"/>
              <a:pathLst>
                <a:path w="1" h="7015" fill="none" extrusionOk="0">
                  <a:moveTo>
                    <a:pt x="0" y="0"/>
                  </a:moveTo>
                  <a:lnTo>
                    <a:pt x="0" y="7014"/>
                  </a:lnTo>
                </a:path>
              </a:pathLst>
            </a:custGeom>
            <a:noFill/>
            <a:ln w="9525" cap="rnd" cmpd="sng">
              <a:solidFill>
                <a:schemeClr val="bg1"/>
              </a:solidFill>
              <a:prstDash val="solid"/>
              <a:round/>
              <a:headEnd type="none" w="sm" len="sm"/>
              <a:tailEnd type="none" w="sm" len="sm"/>
            </a:ln>
          </p:spPr>
          <p:txBody>
            <a:bodyPr spcFirstLastPara="1" wrap="square" lIns="121900" tIns="121900" rIns="121900" bIns="121900" anchor="ctr" anchorCtr="0">
              <a:noAutofit/>
            </a:bodyPr>
            <a:lstStyle/>
            <a:p>
              <a:endParaRPr sz="4911"/>
            </a:p>
          </p:txBody>
        </p:sp>
        <p:sp>
          <p:nvSpPr>
            <p:cNvPr id="20" name="Google Shape;705;p42"/>
            <p:cNvSpPr/>
            <p:nvPr/>
          </p:nvSpPr>
          <p:spPr>
            <a:xfrm>
              <a:off x="6145000" y="456100"/>
              <a:ext cx="25" cy="175375"/>
            </a:xfrm>
            <a:custGeom>
              <a:avLst/>
              <a:gdLst/>
              <a:ahLst/>
              <a:cxnLst/>
              <a:rect l="l" t="t" r="r" b="b"/>
              <a:pathLst>
                <a:path w="1" h="7015" fill="none" extrusionOk="0">
                  <a:moveTo>
                    <a:pt x="1" y="0"/>
                  </a:moveTo>
                  <a:lnTo>
                    <a:pt x="1" y="7014"/>
                  </a:lnTo>
                </a:path>
              </a:pathLst>
            </a:custGeom>
            <a:noFill/>
            <a:ln w="9525" cap="rnd" cmpd="sng">
              <a:solidFill>
                <a:schemeClr val="bg1"/>
              </a:solidFill>
              <a:prstDash val="solid"/>
              <a:round/>
              <a:headEnd type="none" w="sm" len="sm"/>
              <a:tailEnd type="none" w="sm" len="sm"/>
            </a:ln>
          </p:spPr>
          <p:txBody>
            <a:bodyPr spcFirstLastPara="1" wrap="square" lIns="121900" tIns="121900" rIns="121900" bIns="121900" anchor="ctr" anchorCtr="0">
              <a:noAutofit/>
            </a:bodyPr>
            <a:lstStyle/>
            <a:p>
              <a:endParaRPr sz="4911"/>
            </a:p>
          </p:txBody>
        </p:sp>
        <p:sp>
          <p:nvSpPr>
            <p:cNvPr id="21" name="Google Shape;706;p42"/>
            <p:cNvSpPr/>
            <p:nvPr/>
          </p:nvSpPr>
          <p:spPr>
            <a:xfrm>
              <a:off x="6084725" y="456100"/>
              <a:ext cx="25" cy="175375"/>
            </a:xfrm>
            <a:custGeom>
              <a:avLst/>
              <a:gdLst/>
              <a:ahLst/>
              <a:cxnLst/>
              <a:rect l="l" t="t" r="r" b="b"/>
              <a:pathLst>
                <a:path w="1" h="7015" fill="none" extrusionOk="0">
                  <a:moveTo>
                    <a:pt x="1" y="0"/>
                  </a:moveTo>
                  <a:lnTo>
                    <a:pt x="1" y="7014"/>
                  </a:lnTo>
                </a:path>
              </a:pathLst>
            </a:custGeom>
            <a:noFill/>
            <a:ln w="9525" cap="rnd" cmpd="sng">
              <a:solidFill>
                <a:schemeClr val="bg1"/>
              </a:solidFill>
              <a:prstDash val="solid"/>
              <a:round/>
              <a:headEnd type="none" w="sm" len="sm"/>
              <a:tailEnd type="none" w="sm" len="sm"/>
            </a:ln>
          </p:spPr>
          <p:txBody>
            <a:bodyPr spcFirstLastPara="1" wrap="square" lIns="121900" tIns="121900" rIns="121900" bIns="121900" anchor="ctr" anchorCtr="0">
              <a:noAutofit/>
            </a:bodyPr>
            <a:lstStyle/>
            <a:p>
              <a:endParaRPr sz="4911"/>
            </a:p>
          </p:txBody>
        </p:sp>
      </p:grpSp>
      <p:sp>
        <p:nvSpPr>
          <p:cNvPr id="26" name="Text Placeholder 25">
            <a:extLst>
              <a:ext uri="{FF2B5EF4-FFF2-40B4-BE49-F238E27FC236}">
                <a16:creationId xmlns:a16="http://schemas.microsoft.com/office/drawing/2014/main" id="{00286FAF-521F-4EF4-5A62-58DCE187856A}"/>
              </a:ext>
            </a:extLst>
          </p:cNvPr>
          <p:cNvSpPr>
            <a:spLocks noGrp="1"/>
          </p:cNvSpPr>
          <p:nvPr>
            <p:ph type="body" idx="1"/>
          </p:nvPr>
        </p:nvSpPr>
        <p:spPr>
          <a:xfrm>
            <a:off x="521580" y="2171227"/>
            <a:ext cx="5282871" cy="4292000"/>
          </a:xfrm>
        </p:spPr>
        <p:txBody>
          <a:bodyPr/>
          <a:lstStyle/>
          <a:p>
            <a:r>
              <a:rPr lang="en-GB" sz="2400" dirty="0"/>
              <a:t>Overall project and data management </a:t>
            </a:r>
          </a:p>
          <a:p>
            <a:r>
              <a:rPr lang="en-GB" sz="2400" dirty="0"/>
              <a:t>Complex coding </a:t>
            </a:r>
          </a:p>
          <a:p>
            <a:r>
              <a:rPr lang="en-GB" sz="2400" dirty="0"/>
              <a:t>Robustness and rigour: Can check coding by date/researcher</a:t>
            </a:r>
          </a:p>
          <a:p>
            <a:r>
              <a:rPr lang="en-GB" dirty="0"/>
              <a:t>Can facilitate collaboration </a:t>
            </a:r>
            <a:endParaRPr lang="en-GB" sz="2400" dirty="0"/>
          </a:p>
          <a:p>
            <a:r>
              <a:rPr lang="en-GB" sz="2400" dirty="0"/>
              <a:t>Can saves time and less room for human error</a:t>
            </a:r>
          </a:p>
          <a:p>
            <a:r>
              <a:rPr lang="en-GB" sz="2400" dirty="0"/>
              <a:t>Can visualise the data, see links and understand the data better</a:t>
            </a:r>
          </a:p>
          <a:p>
            <a:endParaRPr lang="en-GB" dirty="0"/>
          </a:p>
        </p:txBody>
      </p:sp>
      <p:sp>
        <p:nvSpPr>
          <p:cNvPr id="28" name="Text Placeholder 27">
            <a:extLst>
              <a:ext uri="{FF2B5EF4-FFF2-40B4-BE49-F238E27FC236}">
                <a16:creationId xmlns:a16="http://schemas.microsoft.com/office/drawing/2014/main" id="{F7330789-2840-C370-D9E1-8CDBC5C98CBA}"/>
              </a:ext>
            </a:extLst>
          </p:cNvPr>
          <p:cNvSpPr>
            <a:spLocks noGrp="1"/>
          </p:cNvSpPr>
          <p:nvPr>
            <p:ph type="body" idx="2"/>
          </p:nvPr>
        </p:nvSpPr>
        <p:spPr>
          <a:xfrm>
            <a:off x="6096000" y="1691604"/>
            <a:ext cx="5898239" cy="4292000"/>
          </a:xfrm>
        </p:spPr>
        <p:txBody>
          <a:bodyPr/>
          <a:lstStyle/>
          <a:p>
            <a:r>
              <a:rPr lang="en-GB" dirty="0"/>
              <a:t>D</a:t>
            </a:r>
            <a:r>
              <a:rPr lang="en-GB" sz="2400" dirty="0"/>
              <a:t>oes not automatically make the research better; meaning-making (data analysis) can’t be computerised and made routine, this s</a:t>
            </a:r>
            <a:r>
              <a:rPr lang="en-GB" dirty="0"/>
              <a:t>till depends on analysis abilities of the researcher </a:t>
            </a:r>
          </a:p>
          <a:p>
            <a:r>
              <a:rPr lang="en-GB" dirty="0"/>
              <a:t>O</a:t>
            </a:r>
            <a:r>
              <a:rPr lang="en-GB" sz="2400" dirty="0"/>
              <a:t>bjectivity and clarity are not related to software packages</a:t>
            </a:r>
          </a:p>
          <a:p>
            <a:r>
              <a:rPr lang="en-GB" dirty="0"/>
              <a:t>Requires investment to set up a project; for smaller or more simpler analysis projects, may not be worth it </a:t>
            </a:r>
          </a:p>
          <a:p>
            <a:r>
              <a:rPr lang="en-GB" dirty="0"/>
              <a:t>Suitability for some forms of qualitative analysis …. (e.g. IPA) worth discussing </a:t>
            </a:r>
          </a:p>
          <a:p>
            <a:endParaRPr lang="en-GB" sz="2400" dirty="0"/>
          </a:p>
          <a:p>
            <a:endParaRPr lang="en-GB" sz="2400" dirty="0"/>
          </a:p>
          <a:p>
            <a:endParaRPr lang="en-GB" dirty="0"/>
          </a:p>
        </p:txBody>
      </p:sp>
      <p:pic>
        <p:nvPicPr>
          <p:cNvPr id="29" name="Graphic 28" descr="Thumbs up sign with solid fill">
            <a:extLst>
              <a:ext uri="{FF2B5EF4-FFF2-40B4-BE49-F238E27FC236}">
                <a16:creationId xmlns:a16="http://schemas.microsoft.com/office/drawing/2014/main" id="{1BB96E80-3B59-9806-D5CE-204E4DB0E0A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8138" y="1180749"/>
            <a:ext cx="914400" cy="914400"/>
          </a:xfrm>
          <a:prstGeom prst="rect">
            <a:avLst/>
          </a:prstGeom>
        </p:spPr>
      </p:pic>
      <p:pic>
        <p:nvPicPr>
          <p:cNvPr id="31" name="Graphic 30" descr="Question Mark with solid fill">
            <a:extLst>
              <a:ext uri="{FF2B5EF4-FFF2-40B4-BE49-F238E27FC236}">
                <a16:creationId xmlns:a16="http://schemas.microsoft.com/office/drawing/2014/main" id="{9774C8B3-61E2-DF0D-11E6-3F07045E30F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586626" y="821205"/>
            <a:ext cx="914400" cy="914400"/>
          </a:xfrm>
          <a:prstGeom prst="rect">
            <a:avLst/>
          </a:prstGeom>
        </p:spPr>
      </p:pic>
    </p:spTree>
    <p:extLst>
      <p:ext uri="{BB962C8B-B14F-4D97-AF65-F5344CB8AC3E}">
        <p14:creationId xmlns:p14="http://schemas.microsoft.com/office/powerpoint/2010/main" val="40711504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865877-D4A4-6646-B94E-329C447FA94A}"/>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dirty="0">
                <a:latin typeface="+mj-lt"/>
                <a:ea typeface="+mj-ea"/>
                <a:cs typeface="+mj-cs"/>
              </a:rPr>
              <a:t>PART 1: Navigating </a:t>
            </a:r>
            <a:r>
              <a:rPr lang="en-US" sz="6600" kern="1200" dirty="0" err="1">
                <a:latin typeface="+mj-lt"/>
                <a:ea typeface="+mj-ea"/>
                <a:cs typeface="+mj-cs"/>
              </a:rPr>
              <a:t>Nvivo</a:t>
            </a:r>
            <a:r>
              <a:rPr lang="en-US" sz="6600" kern="1200" dirty="0">
                <a:latin typeface="+mj-lt"/>
                <a:ea typeface="+mj-ea"/>
                <a:cs typeface="+mj-cs"/>
              </a:rPr>
              <a:t>  </a:t>
            </a:r>
          </a:p>
        </p:txBody>
      </p:sp>
    </p:spTree>
    <p:extLst>
      <p:ext uri="{BB962C8B-B14F-4D97-AF65-F5344CB8AC3E}">
        <p14:creationId xmlns:p14="http://schemas.microsoft.com/office/powerpoint/2010/main" val="25141379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273" y="222436"/>
            <a:ext cx="8121320" cy="900800"/>
          </a:xfrm>
        </p:spPr>
        <p:txBody>
          <a:bodyPr/>
          <a:lstStyle/>
          <a:p>
            <a:r>
              <a:rPr lang="en-US" b="1" dirty="0" err="1">
                <a:solidFill>
                  <a:srgbClr val="002060"/>
                </a:solidFill>
              </a:rPr>
              <a:t>Nvivo</a:t>
            </a:r>
            <a:r>
              <a:rPr lang="en-US" b="1" dirty="0">
                <a:solidFill>
                  <a:srgbClr val="002060"/>
                </a:solidFill>
              </a:rPr>
              <a:t> versions and compatibility</a:t>
            </a:r>
            <a:br>
              <a:rPr lang="en-GB" dirty="0">
                <a:latin typeface="Inter" panose="02000503000000020004" pitchFamily="2" charset="0"/>
                <a:ea typeface="Inter" panose="02000503000000020004" pitchFamily="2" charset="0"/>
              </a:rPr>
            </a:br>
            <a:r>
              <a:rPr lang="en-GB" sz="2400" b="0" dirty="0">
                <a:solidFill>
                  <a:srgbClr val="BE62AB"/>
                </a:solidFill>
                <a:latin typeface="Inter" panose="02000503000000020004" pitchFamily="2" charset="0"/>
                <a:ea typeface="Inter" panose="02000503000000020004" pitchFamily="2" charset="0"/>
              </a:rPr>
              <a:t>The annoying parts </a:t>
            </a:r>
            <a:endParaRPr lang="en-GB" b="0" dirty="0">
              <a:solidFill>
                <a:srgbClr val="BE62AB"/>
              </a:solidFill>
              <a:latin typeface="Inter" panose="02000503000000020004" pitchFamily="2" charset="0"/>
              <a:ea typeface="Inter" panose="02000503000000020004" pitchFamily="2" charset="0"/>
            </a:endParaRPr>
          </a:p>
        </p:txBody>
      </p:sp>
      <p:graphicFrame>
        <p:nvGraphicFramePr>
          <p:cNvPr id="11" name="Table 10">
            <a:extLst>
              <a:ext uri="{FF2B5EF4-FFF2-40B4-BE49-F238E27FC236}">
                <a16:creationId xmlns:a16="http://schemas.microsoft.com/office/drawing/2014/main" id="{F2431106-365A-76A7-D9A6-6A2B1D72C37E}"/>
              </a:ext>
            </a:extLst>
          </p:cNvPr>
          <p:cNvGraphicFramePr>
            <a:graphicFrameLocks noGrp="1"/>
          </p:cNvGraphicFramePr>
          <p:nvPr>
            <p:extLst>
              <p:ext uri="{D42A27DB-BD31-4B8C-83A1-F6EECF244321}">
                <p14:modId xmlns:p14="http://schemas.microsoft.com/office/powerpoint/2010/main" val="2690941890"/>
              </p:ext>
            </p:extLst>
          </p:nvPr>
        </p:nvGraphicFramePr>
        <p:xfrm>
          <a:off x="868854" y="1541126"/>
          <a:ext cx="9830676" cy="4165991"/>
        </p:xfrm>
        <a:graphic>
          <a:graphicData uri="http://schemas.openxmlformats.org/drawingml/2006/table">
            <a:tbl>
              <a:tblPr firstRow="1" bandRow="1">
                <a:tableStyleId>{B301B821-A1FF-4177-AEE7-76D212191A09}</a:tableStyleId>
              </a:tblPr>
              <a:tblGrid>
                <a:gridCol w="4943172">
                  <a:extLst>
                    <a:ext uri="{9D8B030D-6E8A-4147-A177-3AD203B41FA5}">
                      <a16:colId xmlns:a16="http://schemas.microsoft.com/office/drawing/2014/main" val="206019730"/>
                    </a:ext>
                  </a:extLst>
                </a:gridCol>
                <a:gridCol w="4887504">
                  <a:extLst>
                    <a:ext uri="{9D8B030D-6E8A-4147-A177-3AD203B41FA5}">
                      <a16:colId xmlns:a16="http://schemas.microsoft.com/office/drawing/2014/main" val="3468384141"/>
                    </a:ext>
                  </a:extLst>
                </a:gridCol>
              </a:tblGrid>
              <a:tr h="640247">
                <a:tc>
                  <a:txBody>
                    <a:bodyPr/>
                    <a:lstStyle/>
                    <a:p>
                      <a:r>
                        <a:rPr lang="en-US" sz="2400" dirty="0"/>
                        <a:t>Release version</a:t>
                      </a:r>
                    </a:p>
                  </a:txBody>
                  <a:tcPr/>
                </a:tc>
                <a:tc>
                  <a:txBody>
                    <a:bodyPr/>
                    <a:lstStyle/>
                    <a:p>
                      <a:r>
                        <a:rPr lang="en-US" sz="2400" dirty="0"/>
                        <a:t>Key things to note  /new features</a:t>
                      </a:r>
                    </a:p>
                  </a:txBody>
                  <a:tcPr/>
                </a:tc>
                <a:extLst>
                  <a:ext uri="{0D108BD9-81ED-4DB2-BD59-A6C34878D82A}">
                    <a16:rowId xmlns:a16="http://schemas.microsoft.com/office/drawing/2014/main" val="3805171081"/>
                  </a:ext>
                </a:extLst>
              </a:tr>
              <a:tr h="1026149">
                <a:tc>
                  <a:txBody>
                    <a:bodyPr/>
                    <a:lstStyle/>
                    <a:p>
                      <a:r>
                        <a:rPr lang="en-US" sz="2000" dirty="0" err="1"/>
                        <a:t>Nvivo</a:t>
                      </a:r>
                      <a:r>
                        <a:rPr lang="en-US" sz="2000" dirty="0"/>
                        <a:t> 12 (2018) </a:t>
                      </a:r>
                    </a:p>
                    <a:p>
                      <a:r>
                        <a:rPr lang="en-US" sz="2000" dirty="0"/>
                        <a:t>Windows – Pro and Plus versions</a:t>
                      </a:r>
                    </a:p>
                    <a:p>
                      <a:r>
                        <a:rPr lang="en-US" sz="2000" dirty="0"/>
                        <a:t>Mac (one version) </a:t>
                      </a:r>
                    </a:p>
                  </a:txBody>
                  <a:tcPr/>
                </a:tc>
                <a:tc>
                  <a:txBody>
                    <a:bodyPr/>
                    <a:lstStyle/>
                    <a:p>
                      <a:r>
                        <a:rPr lang="en-US" sz="2000" dirty="0"/>
                        <a:t>Pro- more advanced version allows many different file types (video, audio </a:t>
                      </a:r>
                      <a:r>
                        <a:rPr lang="en-US" sz="2000" dirty="0" err="1"/>
                        <a:t>etc</a:t>
                      </a:r>
                      <a:r>
                        <a:rPr lang="en-US" sz="2000"/>
                        <a:t>), </a:t>
                      </a:r>
                      <a:r>
                        <a:rPr lang="en-US" sz="2000" dirty="0"/>
                        <a:t>has matrix coding </a:t>
                      </a:r>
                    </a:p>
                  </a:txBody>
                  <a:tcPr/>
                </a:tc>
                <a:extLst>
                  <a:ext uri="{0D108BD9-81ED-4DB2-BD59-A6C34878D82A}">
                    <a16:rowId xmlns:a16="http://schemas.microsoft.com/office/drawing/2014/main" val="2416508490"/>
                  </a:ext>
                </a:extLst>
              </a:tr>
              <a:tr h="1026149">
                <a:tc>
                  <a:txBody>
                    <a:bodyPr/>
                    <a:lstStyle/>
                    <a:p>
                      <a:r>
                        <a:rPr lang="en-US" sz="2000" dirty="0" err="1"/>
                        <a:t>Nvivo</a:t>
                      </a:r>
                      <a:r>
                        <a:rPr lang="en-US" sz="2000" dirty="0"/>
                        <a:t> Release 1.0 / AKA </a:t>
                      </a:r>
                      <a:r>
                        <a:rPr lang="en-US" sz="2000" dirty="0" err="1"/>
                        <a:t>Nvivo</a:t>
                      </a:r>
                      <a:r>
                        <a:rPr lang="en-US" sz="2000" dirty="0"/>
                        <a:t> 13 (2020)</a:t>
                      </a:r>
                    </a:p>
                    <a:p>
                      <a:r>
                        <a:rPr lang="en-US" sz="2000" dirty="0"/>
                        <a:t>Windows </a:t>
                      </a:r>
                    </a:p>
                    <a:p>
                      <a:r>
                        <a:rPr lang="en-US" sz="2000" dirty="0"/>
                        <a:t>Mac (more limited functionality) </a:t>
                      </a:r>
                    </a:p>
                  </a:txBody>
                  <a:tcPr/>
                </a:tc>
                <a:tc>
                  <a:txBody>
                    <a:bodyPr/>
                    <a:lstStyle/>
                    <a:p>
                      <a:endParaRPr lang="en-US" sz="3600" dirty="0"/>
                    </a:p>
                  </a:txBody>
                  <a:tcPr/>
                </a:tc>
                <a:extLst>
                  <a:ext uri="{0D108BD9-81ED-4DB2-BD59-A6C34878D82A}">
                    <a16:rowId xmlns:a16="http://schemas.microsoft.com/office/drawing/2014/main" val="1305403945"/>
                  </a:ext>
                </a:extLst>
              </a:tr>
              <a:tr h="736723">
                <a:tc>
                  <a:txBody>
                    <a:bodyPr/>
                    <a:lstStyle/>
                    <a:p>
                      <a:r>
                        <a:rPr lang="en-US" sz="2000" dirty="0" err="1"/>
                        <a:t>Nvivo</a:t>
                      </a:r>
                      <a:r>
                        <a:rPr lang="en-US" sz="2000" dirty="0"/>
                        <a:t> 14 (2023) </a:t>
                      </a:r>
                    </a:p>
                    <a:p>
                      <a:r>
                        <a:rPr lang="en-US" sz="2000" dirty="0"/>
                        <a:t>Windows/mac versions</a:t>
                      </a:r>
                    </a:p>
                  </a:txBody>
                  <a:tcPr/>
                </a:tc>
                <a:tc>
                  <a:txBody>
                    <a:bodyPr/>
                    <a:lstStyle/>
                    <a:p>
                      <a:endParaRPr lang="en-US" sz="2000" dirty="0"/>
                    </a:p>
                  </a:txBody>
                  <a:tcPr/>
                </a:tc>
                <a:extLst>
                  <a:ext uri="{0D108BD9-81ED-4DB2-BD59-A6C34878D82A}">
                    <a16:rowId xmlns:a16="http://schemas.microsoft.com/office/drawing/2014/main" val="3908649614"/>
                  </a:ext>
                </a:extLst>
              </a:tr>
              <a:tr h="736723">
                <a:tc>
                  <a:txBody>
                    <a:bodyPr/>
                    <a:lstStyle/>
                    <a:p>
                      <a:r>
                        <a:rPr lang="en-US" sz="2000" dirty="0" err="1"/>
                        <a:t>Nvivo</a:t>
                      </a:r>
                      <a:r>
                        <a:rPr lang="en-US" sz="2000" dirty="0"/>
                        <a:t> 15 (2024)</a:t>
                      </a:r>
                    </a:p>
                    <a:p>
                      <a:r>
                        <a:rPr lang="en-US" sz="2000" dirty="0"/>
                        <a:t>Window/mac versions </a:t>
                      </a:r>
                    </a:p>
                  </a:txBody>
                  <a:tcPr/>
                </a:tc>
                <a:tc>
                  <a:txBody>
                    <a:bodyPr/>
                    <a:lstStyle/>
                    <a:p>
                      <a:r>
                        <a:rPr lang="en-US" sz="2000" dirty="0"/>
                        <a:t>Includes ‘advanced AI assistant’ </a:t>
                      </a:r>
                    </a:p>
                  </a:txBody>
                  <a:tcPr/>
                </a:tc>
                <a:extLst>
                  <a:ext uri="{0D108BD9-81ED-4DB2-BD59-A6C34878D82A}">
                    <a16:rowId xmlns:a16="http://schemas.microsoft.com/office/drawing/2014/main" val="4289673067"/>
                  </a:ext>
                </a:extLst>
              </a:tr>
            </a:tbl>
          </a:graphicData>
        </a:graphic>
      </p:graphicFrame>
      <p:sp>
        <p:nvSpPr>
          <p:cNvPr id="12" name="TextBox 11">
            <a:extLst>
              <a:ext uri="{FF2B5EF4-FFF2-40B4-BE49-F238E27FC236}">
                <a16:creationId xmlns:a16="http://schemas.microsoft.com/office/drawing/2014/main" id="{A3921982-DE3D-E7F2-4E7B-2B0D6DADE42D}"/>
              </a:ext>
            </a:extLst>
          </p:cNvPr>
          <p:cNvSpPr txBox="1"/>
          <p:nvPr/>
        </p:nvSpPr>
        <p:spPr>
          <a:xfrm>
            <a:off x="693683" y="5990897"/>
            <a:ext cx="9312165" cy="646331"/>
          </a:xfrm>
          <a:prstGeom prst="rect">
            <a:avLst/>
          </a:prstGeom>
          <a:noFill/>
        </p:spPr>
        <p:txBody>
          <a:bodyPr wrap="square" rtlCol="0">
            <a:spAutoFit/>
          </a:bodyPr>
          <a:lstStyle/>
          <a:p>
            <a:r>
              <a:rPr lang="en-US" dirty="0"/>
              <a:t>Forwards </a:t>
            </a:r>
            <a:r>
              <a:rPr lang="en-US" dirty="0" err="1"/>
              <a:t>compatability</a:t>
            </a:r>
            <a:endParaRPr lang="en-US" dirty="0"/>
          </a:p>
          <a:p>
            <a:r>
              <a:rPr lang="en-US" dirty="0"/>
              <a:t>Differences in user interface- menu options- and naming conventions (see </a:t>
            </a:r>
            <a:r>
              <a:rPr lang="en-US" dirty="0" err="1"/>
              <a:t>cheatsheet</a:t>
            </a:r>
            <a:r>
              <a:rPr lang="en-US" dirty="0"/>
              <a:t>) </a:t>
            </a:r>
          </a:p>
        </p:txBody>
      </p:sp>
    </p:spTree>
    <p:extLst>
      <p:ext uri="{BB962C8B-B14F-4D97-AF65-F5344CB8AC3E}">
        <p14:creationId xmlns:p14="http://schemas.microsoft.com/office/powerpoint/2010/main" val="10588877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0731A1-4D57-1E8C-3A9A-C92B257DB521}"/>
              </a:ext>
            </a:extLst>
          </p:cNvPr>
          <p:cNvSpPr>
            <a:spLocks noGrp="1"/>
          </p:cNvSpPr>
          <p:nvPr>
            <p:ph type="title"/>
          </p:nvPr>
        </p:nvSpPr>
        <p:spPr>
          <a:xfrm>
            <a:off x="838200" y="365125"/>
            <a:ext cx="10515600" cy="791871"/>
          </a:xfrm>
        </p:spPr>
        <p:txBody>
          <a:bodyPr/>
          <a:lstStyle/>
          <a:p>
            <a:r>
              <a:rPr lang="en-GB" dirty="0"/>
              <a:t>NVivo Guides</a:t>
            </a:r>
          </a:p>
        </p:txBody>
      </p:sp>
      <p:sp>
        <p:nvSpPr>
          <p:cNvPr id="3" name="Content Placeholder 2">
            <a:extLst>
              <a:ext uri="{FF2B5EF4-FFF2-40B4-BE49-F238E27FC236}">
                <a16:creationId xmlns:a16="http://schemas.microsoft.com/office/drawing/2014/main" id="{C0513752-1EC6-8C86-4276-1E08010FFAE3}"/>
              </a:ext>
            </a:extLst>
          </p:cNvPr>
          <p:cNvSpPr>
            <a:spLocks noGrp="1"/>
          </p:cNvSpPr>
          <p:nvPr>
            <p:ph idx="1"/>
          </p:nvPr>
        </p:nvSpPr>
        <p:spPr>
          <a:xfrm>
            <a:off x="419100" y="1156996"/>
            <a:ext cx="11353800" cy="5505061"/>
          </a:xfrm>
        </p:spPr>
        <p:txBody>
          <a:bodyPr>
            <a:normAutofit/>
          </a:bodyPr>
          <a:lstStyle/>
          <a:p>
            <a:pPr marL="0" indent="0" algn="ctr">
              <a:buNone/>
            </a:pPr>
            <a:r>
              <a:rPr lang="en-GB" sz="3800" b="1" dirty="0"/>
              <a:t>Windows </a:t>
            </a:r>
          </a:p>
          <a:p>
            <a:r>
              <a:rPr lang="en-GB" i="1" dirty="0"/>
              <a:t>NVivo 12: </a:t>
            </a:r>
            <a:r>
              <a:rPr lang="en-GB" dirty="0">
                <a:hlinkClick r:id="rId2"/>
              </a:rPr>
              <a:t>https://help-nv.qsrinternational.com/12/win/v12.1.115-d3ea61/Content/welcome.htm</a:t>
            </a:r>
            <a:r>
              <a:rPr lang="en-GB" dirty="0"/>
              <a:t> </a:t>
            </a:r>
          </a:p>
          <a:p>
            <a:r>
              <a:rPr lang="en-GB" i="1" dirty="0"/>
              <a:t>Release 1: </a:t>
            </a:r>
            <a:r>
              <a:rPr lang="en-GB" dirty="0">
                <a:hlinkClick r:id="rId3"/>
              </a:rPr>
              <a:t>https://help-nv.qsrinternational.com/20/win/Content/welcome.htm</a:t>
            </a:r>
            <a:r>
              <a:rPr lang="en-GB" dirty="0"/>
              <a:t> </a:t>
            </a:r>
          </a:p>
          <a:p>
            <a:r>
              <a:rPr lang="en-GB" i="1" dirty="0"/>
              <a:t>NVivo 14</a:t>
            </a:r>
            <a:r>
              <a:rPr lang="en-GB" dirty="0"/>
              <a:t>: </a:t>
            </a:r>
            <a:r>
              <a:rPr lang="en-GB" dirty="0">
                <a:hlinkClick r:id="rId4"/>
              </a:rPr>
              <a:t>https://help-nv.qsrinternational.com/14/win/Content/welcome.htm</a:t>
            </a:r>
            <a:r>
              <a:rPr lang="en-GB" dirty="0"/>
              <a:t> </a:t>
            </a:r>
          </a:p>
          <a:p>
            <a:r>
              <a:rPr lang="en-GB" dirty="0" err="1"/>
              <a:t>Nvivo</a:t>
            </a:r>
            <a:r>
              <a:rPr lang="en-GB" dirty="0"/>
              <a:t> 15: </a:t>
            </a:r>
            <a:r>
              <a:rPr lang="en-GB" dirty="0">
                <a:hlinkClick r:id="rId5"/>
              </a:rPr>
              <a:t>https://help-nv.qsrinternational.com/15/win/Content/welcome.htm</a:t>
            </a:r>
            <a:endParaRPr lang="en-GB" dirty="0"/>
          </a:p>
          <a:p>
            <a:pPr marL="0" indent="0">
              <a:buNone/>
            </a:pPr>
            <a:endParaRPr lang="en-GB" dirty="0"/>
          </a:p>
          <a:p>
            <a:pPr marL="0" indent="0" algn="ctr">
              <a:buNone/>
            </a:pPr>
            <a:r>
              <a:rPr lang="en-GB" sz="3800" b="1" dirty="0"/>
              <a:t>Mac </a:t>
            </a:r>
          </a:p>
          <a:p>
            <a:r>
              <a:rPr lang="en-GB" i="1" dirty="0"/>
              <a:t>NVivo 12: </a:t>
            </a:r>
            <a:r>
              <a:rPr lang="en-GB" dirty="0">
                <a:hlinkClick r:id="rId6"/>
              </a:rPr>
              <a:t>https://help-nv.qsrinternational.com/12/mac/v12.1.115-d3ea61/Content/welcome.htm</a:t>
            </a:r>
            <a:r>
              <a:rPr lang="en-GB" dirty="0"/>
              <a:t> </a:t>
            </a:r>
          </a:p>
          <a:p>
            <a:r>
              <a:rPr lang="en-GB" i="1" dirty="0"/>
              <a:t>Release 1: </a:t>
            </a:r>
            <a:r>
              <a:rPr lang="en-GB" dirty="0">
                <a:hlinkClick r:id="rId7"/>
              </a:rPr>
              <a:t>https://help-nv.qsrinternational.com/20/mac/Content/welcome.htm#</a:t>
            </a:r>
            <a:r>
              <a:rPr lang="en-GB" dirty="0"/>
              <a:t> </a:t>
            </a:r>
          </a:p>
          <a:p>
            <a:r>
              <a:rPr lang="en-GB" i="1" dirty="0"/>
              <a:t>NVivo 14: </a:t>
            </a:r>
            <a:r>
              <a:rPr lang="en-GB" dirty="0">
                <a:hlinkClick r:id="rId8"/>
              </a:rPr>
              <a:t>https://help-nv.qsrinternational.com/14/mac/Content/welcome.htm</a:t>
            </a:r>
            <a:r>
              <a:rPr lang="en-GB" dirty="0"/>
              <a:t> </a:t>
            </a:r>
          </a:p>
          <a:p>
            <a:r>
              <a:rPr lang="en-GB" dirty="0" err="1"/>
              <a:t>Nvivo</a:t>
            </a:r>
            <a:r>
              <a:rPr lang="en-GB" dirty="0"/>
              <a:t> 15: </a:t>
            </a:r>
            <a:r>
              <a:rPr lang="en-GB" dirty="0">
                <a:hlinkClick r:id="rId9"/>
              </a:rPr>
              <a:t>https://help-nv.qsrinternational.com/15/mac/Content/welcome.htm</a:t>
            </a:r>
            <a:endParaRPr lang="en-GB" dirty="0"/>
          </a:p>
          <a:p>
            <a:endParaRPr lang="en-GB" dirty="0"/>
          </a:p>
        </p:txBody>
      </p:sp>
    </p:spTree>
    <p:extLst>
      <p:ext uri="{BB962C8B-B14F-4D97-AF65-F5344CB8AC3E}">
        <p14:creationId xmlns:p14="http://schemas.microsoft.com/office/powerpoint/2010/main" val="15837378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F737A-0D5C-3D5B-58AF-5DC2D6F041C6}"/>
              </a:ext>
            </a:extLst>
          </p:cNvPr>
          <p:cNvSpPr>
            <a:spLocks noGrp="1"/>
          </p:cNvSpPr>
          <p:nvPr>
            <p:ph type="title"/>
          </p:nvPr>
        </p:nvSpPr>
        <p:spPr>
          <a:xfrm>
            <a:off x="1125900" y="563334"/>
            <a:ext cx="4302400" cy="1241237"/>
          </a:xfrm>
        </p:spPr>
        <p:txBody>
          <a:bodyPr/>
          <a:lstStyle/>
          <a:p>
            <a:r>
              <a:rPr lang="en-US" dirty="0"/>
              <a:t>Tour of Nvivo using the sample project </a:t>
            </a:r>
          </a:p>
        </p:txBody>
      </p:sp>
      <p:sp>
        <p:nvSpPr>
          <p:cNvPr id="4" name="Slide Number Placeholder 3">
            <a:extLst>
              <a:ext uri="{FF2B5EF4-FFF2-40B4-BE49-F238E27FC236}">
                <a16:creationId xmlns:a16="http://schemas.microsoft.com/office/drawing/2014/main" id="{202D4EA2-C1E2-F6AF-44C2-86D8C7B7ABC3}"/>
              </a:ext>
            </a:extLst>
          </p:cNvPr>
          <p:cNvSpPr>
            <a:spLocks noGrp="1"/>
          </p:cNvSpPr>
          <p:nvPr>
            <p:ph type="sldNum" sz="quarter" idx="12"/>
          </p:nvPr>
        </p:nvSpPr>
        <p:spPr/>
        <p:txBody>
          <a:bodyPr/>
          <a:lstStyle/>
          <a:p>
            <a:fld id="{1C485C26-B9B2-4E3E-BE8A-D4481638AD7E}" type="slidenum">
              <a:rPr lang="en-GB" smtClean="0"/>
              <a:t>9</a:t>
            </a:fld>
            <a:endParaRPr lang="en-GB"/>
          </a:p>
        </p:txBody>
      </p:sp>
    </p:spTree>
    <p:extLst>
      <p:ext uri="{BB962C8B-B14F-4D97-AF65-F5344CB8AC3E}">
        <p14:creationId xmlns:p14="http://schemas.microsoft.com/office/powerpoint/2010/main" val="6747935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6DF4A0CC-80C4-8504-14B1-4ABF9C2F1AC9}"/>
              </a:ext>
            </a:extLst>
          </p:cNvPr>
          <p:cNvGraphicFramePr/>
          <p:nvPr/>
        </p:nvGraphicFramePr>
        <p:xfrm>
          <a:off x="2032000" y="719666"/>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899097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865877-D4A4-6646-B94E-329C447FA94A}"/>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dirty="0">
                <a:latin typeface="+mj-lt"/>
                <a:ea typeface="+mj-ea"/>
                <a:cs typeface="+mj-cs"/>
              </a:rPr>
              <a:t>Part 2: Dataset</a:t>
            </a:r>
          </a:p>
        </p:txBody>
      </p:sp>
    </p:spTree>
    <p:extLst>
      <p:ext uri="{BB962C8B-B14F-4D97-AF65-F5344CB8AC3E}">
        <p14:creationId xmlns:p14="http://schemas.microsoft.com/office/powerpoint/2010/main" val="30406942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51D80C-29A7-F2D5-B61B-CA30D836B464}"/>
              </a:ext>
            </a:extLst>
          </p:cNvPr>
          <p:cNvSpPr>
            <a:spLocks noGrp="1"/>
          </p:cNvSpPr>
          <p:nvPr>
            <p:ph type="title"/>
          </p:nvPr>
        </p:nvSpPr>
        <p:spPr>
          <a:xfrm>
            <a:off x="572892" y="316282"/>
            <a:ext cx="6986015" cy="712561"/>
          </a:xfrm>
        </p:spPr>
        <p:txBody>
          <a:bodyPr vert="horz" lIns="91440" tIns="45720" rIns="91440" bIns="45720" rtlCol="0" anchor="b">
            <a:normAutofit/>
          </a:bodyPr>
          <a:lstStyle/>
          <a:p>
            <a:r>
              <a:rPr lang="en-US" sz="3600" dirty="0">
                <a:solidFill>
                  <a:srgbClr val="002060"/>
                </a:solidFill>
              </a:rPr>
              <a:t>Qualitative Election Study of Britain</a:t>
            </a:r>
          </a:p>
        </p:txBody>
      </p:sp>
      <p:pic>
        <p:nvPicPr>
          <p:cNvPr id="2054" name="Picture 6" descr="Figure 1">
            <a:extLst>
              <a:ext uri="{FF2B5EF4-FFF2-40B4-BE49-F238E27FC236}">
                <a16:creationId xmlns:a16="http://schemas.microsoft.com/office/drawing/2014/main" id="{1E9B5733-7393-07AF-9535-5A3A653B1448}"/>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458594" y="182494"/>
            <a:ext cx="3532036" cy="98013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98BF1B48-D584-4164-7BBB-54EB8A3BFC99}"/>
              </a:ext>
            </a:extLst>
          </p:cNvPr>
          <p:cNvSpPr txBox="1"/>
          <p:nvPr/>
        </p:nvSpPr>
        <p:spPr>
          <a:xfrm>
            <a:off x="547141" y="1162633"/>
            <a:ext cx="8498385" cy="5512873"/>
          </a:xfrm>
          <a:prstGeom prst="rect">
            <a:avLst/>
          </a:prstGeom>
        </p:spPr>
        <p:txBody>
          <a:bodyPr vert="horz" lIns="91440" tIns="45720" rIns="91440" bIns="45720" rtlCol="0" anchor="t">
            <a:normAutofit lnSpcReduction="10000"/>
          </a:bodyPr>
          <a:lstStyle/>
          <a:p>
            <a:pPr indent="-228600">
              <a:lnSpc>
                <a:spcPct val="90000"/>
              </a:lnSpc>
              <a:spcAft>
                <a:spcPts val="600"/>
              </a:spcAft>
              <a:buFont typeface="Arial" panose="020B0604020202020204" pitchFamily="34" charset="0"/>
              <a:buChar char="•"/>
            </a:pPr>
            <a:endParaRPr lang="en-US" sz="1400" dirty="0"/>
          </a:p>
          <a:p>
            <a:pPr indent="-228600">
              <a:lnSpc>
                <a:spcPct val="90000"/>
              </a:lnSpc>
              <a:spcAft>
                <a:spcPts val="600"/>
              </a:spcAft>
              <a:buFont typeface="Arial" panose="020B0604020202020204" pitchFamily="34" charset="0"/>
              <a:buChar char="•"/>
            </a:pPr>
            <a:endParaRPr lang="en-US" sz="1400" b="1" i="0" dirty="0">
              <a:effectLst/>
              <a:highlight>
                <a:srgbClr val="FFFFFF"/>
              </a:highlight>
            </a:endParaRPr>
          </a:p>
          <a:p>
            <a:pPr marL="285750" indent="-228600">
              <a:lnSpc>
                <a:spcPct val="90000"/>
              </a:lnSpc>
              <a:spcAft>
                <a:spcPts val="600"/>
              </a:spcAft>
              <a:buFont typeface="Arial" panose="020B0604020202020204" pitchFamily="34" charset="0"/>
              <a:buChar char="•"/>
            </a:pPr>
            <a:r>
              <a:rPr lang="en-US" sz="2400" dirty="0"/>
              <a:t>Unique longitudinal qualitative election study : </a:t>
            </a:r>
            <a:r>
              <a:rPr lang="en-US" sz="2400" dirty="0">
                <a:hlinkClick r:id="rId3"/>
              </a:rPr>
              <a:t>https://qesb.info/</a:t>
            </a:r>
            <a:endParaRPr lang="en-US" sz="2400" dirty="0"/>
          </a:p>
          <a:p>
            <a:pPr indent="-228600">
              <a:lnSpc>
                <a:spcPct val="90000"/>
              </a:lnSpc>
              <a:spcAft>
                <a:spcPts val="600"/>
              </a:spcAft>
              <a:buFont typeface="Arial" panose="020B0604020202020204" pitchFamily="34" charset="0"/>
              <a:buChar char="•"/>
            </a:pPr>
            <a:endParaRPr lang="en-US" sz="2400" dirty="0"/>
          </a:p>
          <a:p>
            <a:pPr marL="285750" indent="-228600">
              <a:lnSpc>
                <a:spcPct val="90000"/>
              </a:lnSpc>
              <a:spcAft>
                <a:spcPts val="600"/>
              </a:spcAft>
              <a:buFont typeface="Arial" panose="020B0604020202020204" pitchFamily="34" charset="0"/>
              <a:buChar char="•"/>
            </a:pPr>
            <a:r>
              <a:rPr lang="en-US" sz="2400" dirty="0"/>
              <a:t>Consists of focus groups and interviews conducted in 2010, 2014, 2015, 2016 and 2017  </a:t>
            </a:r>
          </a:p>
          <a:p>
            <a:pPr marL="285750" indent="-228600">
              <a:lnSpc>
                <a:spcPct val="90000"/>
              </a:lnSpc>
              <a:spcAft>
                <a:spcPts val="600"/>
              </a:spcAft>
              <a:buFont typeface="Arial" panose="020B0604020202020204" pitchFamily="34" charset="0"/>
              <a:buChar char="•"/>
            </a:pPr>
            <a:endParaRPr lang="en-US" sz="2400" dirty="0"/>
          </a:p>
          <a:p>
            <a:pPr marL="285750" indent="-228600">
              <a:lnSpc>
                <a:spcPct val="90000"/>
              </a:lnSpc>
              <a:spcAft>
                <a:spcPts val="600"/>
              </a:spcAft>
              <a:buFont typeface="Arial" panose="020B0604020202020204" pitchFamily="34" charset="0"/>
              <a:buChar char="•"/>
            </a:pPr>
            <a:r>
              <a:rPr lang="en-US" sz="2400" dirty="0"/>
              <a:t>Data are open access and in reusable formats- making them perfect example of open science</a:t>
            </a:r>
          </a:p>
          <a:p>
            <a:pPr marL="285750" indent="-228600">
              <a:lnSpc>
                <a:spcPct val="90000"/>
              </a:lnSpc>
              <a:spcAft>
                <a:spcPts val="600"/>
              </a:spcAft>
              <a:buFont typeface="Arial" panose="020B0604020202020204" pitchFamily="34" charset="0"/>
              <a:buChar char="•"/>
            </a:pPr>
            <a:endParaRPr lang="en-US" sz="2400" dirty="0"/>
          </a:p>
          <a:p>
            <a:pPr marL="285750" indent="-228600">
              <a:lnSpc>
                <a:spcPct val="90000"/>
              </a:lnSpc>
              <a:spcAft>
                <a:spcPts val="600"/>
              </a:spcAft>
              <a:buFont typeface="Arial" panose="020B0604020202020204" pitchFamily="34" charset="0"/>
              <a:buChar char="•"/>
            </a:pPr>
            <a:r>
              <a:rPr lang="en-US" sz="2400" dirty="0"/>
              <a:t>Ideal for our purposes of </a:t>
            </a:r>
            <a:r>
              <a:rPr lang="en-US" sz="2400" dirty="0" err="1"/>
              <a:t>practising</a:t>
            </a:r>
            <a:r>
              <a:rPr lang="en-US" sz="2400" dirty="0"/>
              <a:t> qualitative data </a:t>
            </a:r>
            <a:r>
              <a:rPr lang="en-US" sz="2400" dirty="0" err="1"/>
              <a:t>organisation</a:t>
            </a:r>
            <a:r>
              <a:rPr lang="en-US" sz="2400" dirty="0"/>
              <a:t> and coding in NVivo </a:t>
            </a:r>
          </a:p>
          <a:p>
            <a:pPr marL="57150">
              <a:lnSpc>
                <a:spcPct val="90000"/>
              </a:lnSpc>
              <a:spcAft>
                <a:spcPts val="600"/>
              </a:spcAft>
            </a:pPr>
            <a:endParaRPr lang="en-US" sz="2400" dirty="0"/>
          </a:p>
          <a:p>
            <a:pPr marL="57150">
              <a:lnSpc>
                <a:spcPct val="90000"/>
              </a:lnSpc>
              <a:spcAft>
                <a:spcPts val="600"/>
              </a:spcAft>
            </a:pPr>
            <a:r>
              <a:rPr lang="en-US" sz="2400" b="1" dirty="0"/>
              <a:t>***Please sign your name on the permissions sheet circulating***</a:t>
            </a:r>
          </a:p>
          <a:p>
            <a:pPr indent="-228600">
              <a:lnSpc>
                <a:spcPct val="90000"/>
              </a:lnSpc>
              <a:spcAft>
                <a:spcPts val="600"/>
              </a:spcAft>
              <a:buFont typeface="Arial" panose="020B0604020202020204" pitchFamily="34" charset="0"/>
              <a:buChar char="•"/>
            </a:pPr>
            <a:endParaRPr lang="en-US" sz="1400" b="1" i="0" dirty="0">
              <a:effectLst/>
              <a:highlight>
                <a:srgbClr val="FFFFFF"/>
              </a:highlight>
            </a:endParaRPr>
          </a:p>
          <a:p>
            <a:pPr indent="-228600">
              <a:lnSpc>
                <a:spcPct val="90000"/>
              </a:lnSpc>
              <a:spcAft>
                <a:spcPts val="600"/>
              </a:spcAft>
              <a:buFont typeface="Arial" panose="020B0604020202020204" pitchFamily="34" charset="0"/>
              <a:buChar char="•"/>
            </a:pPr>
            <a:endParaRPr lang="en-US" sz="1400" b="1" dirty="0">
              <a:highlight>
                <a:srgbClr val="FFFFFF"/>
              </a:highlight>
            </a:endParaRPr>
          </a:p>
          <a:p>
            <a:pPr indent="-228600">
              <a:lnSpc>
                <a:spcPct val="90000"/>
              </a:lnSpc>
              <a:spcAft>
                <a:spcPts val="600"/>
              </a:spcAft>
              <a:buFont typeface="Arial" panose="020B0604020202020204" pitchFamily="34" charset="0"/>
              <a:buChar char="•"/>
            </a:pPr>
            <a:endParaRPr lang="en-US" sz="1400" dirty="0"/>
          </a:p>
        </p:txBody>
      </p:sp>
      <p:pic>
        <p:nvPicPr>
          <p:cNvPr id="2052" name="Picture 4" descr="Forget the Red Wall. These are the UK ...">
            <a:extLst>
              <a:ext uri="{FF2B5EF4-FFF2-40B4-BE49-F238E27FC236}">
                <a16:creationId xmlns:a16="http://schemas.microsoft.com/office/drawing/2014/main" id="{82B6FFC3-A9DB-A0EC-2483-DD4C25A2B489}"/>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8804365" y="1806253"/>
            <a:ext cx="2840494" cy="189022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90E96C30-8E22-8727-1E5E-127F238BA371}"/>
              </a:ext>
            </a:extLst>
          </p:cNvPr>
          <p:cNvPicPr>
            <a:picLocks noChangeAspect="1"/>
          </p:cNvPicPr>
          <p:nvPr/>
        </p:nvPicPr>
        <p:blipFill>
          <a:blip r:embed="rId5"/>
          <a:stretch>
            <a:fillRect/>
          </a:stretch>
        </p:blipFill>
        <p:spPr>
          <a:xfrm>
            <a:off x="8615238" y="4121562"/>
            <a:ext cx="3375392" cy="1890220"/>
          </a:xfrm>
          <a:prstGeom prst="rect">
            <a:avLst/>
          </a:prstGeom>
        </p:spPr>
      </p:pic>
    </p:spTree>
    <p:extLst>
      <p:ext uri="{BB962C8B-B14F-4D97-AF65-F5344CB8AC3E}">
        <p14:creationId xmlns:p14="http://schemas.microsoft.com/office/powerpoint/2010/main" val="42757588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14589EDF-2457-E71F-D344-CC8E2F81A650}"/>
              </a:ext>
            </a:extLst>
          </p:cNvPr>
          <p:cNvSpPr/>
          <p:nvPr/>
        </p:nvSpPr>
        <p:spPr>
          <a:xfrm>
            <a:off x="7636091" y="750176"/>
            <a:ext cx="2429410" cy="1325563"/>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GB" sz="2000" dirty="0"/>
              <a:t>15 x 1-2-1 telephone interviews with voters </a:t>
            </a:r>
          </a:p>
        </p:txBody>
      </p:sp>
      <p:sp>
        <p:nvSpPr>
          <p:cNvPr id="5" name="Rectangle: Rounded Corners 4">
            <a:extLst>
              <a:ext uri="{FF2B5EF4-FFF2-40B4-BE49-F238E27FC236}">
                <a16:creationId xmlns:a16="http://schemas.microsoft.com/office/drawing/2014/main" id="{4F236435-6341-59C0-54A3-78A2A1F913C5}"/>
              </a:ext>
            </a:extLst>
          </p:cNvPr>
          <p:cNvSpPr/>
          <p:nvPr/>
        </p:nvSpPr>
        <p:spPr>
          <a:xfrm>
            <a:off x="1527783" y="737575"/>
            <a:ext cx="2293574" cy="1350766"/>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GB" sz="2000" dirty="0"/>
              <a:t>3 x focus groups with voters in different UK regions </a:t>
            </a:r>
          </a:p>
        </p:txBody>
      </p:sp>
      <p:sp>
        <p:nvSpPr>
          <p:cNvPr id="6" name="Oval 5">
            <a:extLst>
              <a:ext uri="{FF2B5EF4-FFF2-40B4-BE49-F238E27FC236}">
                <a16:creationId xmlns:a16="http://schemas.microsoft.com/office/drawing/2014/main" id="{9BFAB066-AAD1-6C6D-DE99-2881962A46F7}"/>
              </a:ext>
            </a:extLst>
          </p:cNvPr>
          <p:cNvSpPr/>
          <p:nvPr/>
        </p:nvSpPr>
        <p:spPr>
          <a:xfrm>
            <a:off x="1932691" y="2341814"/>
            <a:ext cx="1219200" cy="776117"/>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rgbClr val="002060"/>
                </a:solidFill>
              </a:rPr>
              <a:t>X </a:t>
            </a:r>
            <a:r>
              <a:rPr lang="en-GB" b="1" dirty="0" err="1">
                <a:solidFill>
                  <a:srgbClr val="002060"/>
                </a:solidFill>
                <a:highlight>
                  <a:srgbClr val="FFFF00"/>
                </a:highlight>
              </a:rPr>
              <a:t>X</a:t>
            </a:r>
            <a:r>
              <a:rPr lang="en-GB" dirty="0">
                <a:solidFill>
                  <a:srgbClr val="002060"/>
                </a:solidFill>
              </a:rPr>
              <a:t> </a:t>
            </a:r>
            <a:r>
              <a:rPr lang="en-GB" dirty="0" err="1">
                <a:solidFill>
                  <a:srgbClr val="002060"/>
                </a:solidFill>
              </a:rPr>
              <a:t>X</a:t>
            </a:r>
            <a:r>
              <a:rPr lang="en-GB" dirty="0">
                <a:solidFill>
                  <a:srgbClr val="002060"/>
                </a:solidFill>
              </a:rPr>
              <a:t> </a:t>
            </a:r>
            <a:r>
              <a:rPr lang="en-GB" dirty="0" err="1">
                <a:solidFill>
                  <a:srgbClr val="002060"/>
                </a:solidFill>
              </a:rPr>
              <a:t>X</a:t>
            </a:r>
            <a:r>
              <a:rPr lang="en-GB" dirty="0">
                <a:solidFill>
                  <a:srgbClr val="002060"/>
                </a:solidFill>
              </a:rPr>
              <a:t> </a:t>
            </a:r>
            <a:r>
              <a:rPr lang="en-GB" b="1" dirty="0" err="1">
                <a:solidFill>
                  <a:srgbClr val="002060"/>
                </a:solidFill>
                <a:highlight>
                  <a:srgbClr val="FFFF00"/>
                </a:highlight>
              </a:rPr>
              <a:t>X</a:t>
            </a:r>
            <a:r>
              <a:rPr lang="en-GB" dirty="0">
                <a:solidFill>
                  <a:srgbClr val="002060"/>
                </a:solidFill>
              </a:rPr>
              <a:t> </a:t>
            </a:r>
            <a:r>
              <a:rPr lang="en-GB" dirty="0" err="1">
                <a:solidFill>
                  <a:srgbClr val="002060"/>
                </a:solidFill>
              </a:rPr>
              <a:t>X</a:t>
            </a:r>
            <a:r>
              <a:rPr lang="en-GB" dirty="0">
                <a:solidFill>
                  <a:srgbClr val="002060"/>
                </a:solidFill>
              </a:rPr>
              <a:t> </a:t>
            </a:r>
            <a:r>
              <a:rPr lang="en-GB" dirty="0" err="1">
                <a:solidFill>
                  <a:srgbClr val="002060"/>
                </a:solidFill>
              </a:rPr>
              <a:t>X</a:t>
            </a:r>
            <a:r>
              <a:rPr lang="en-GB" dirty="0">
                <a:solidFill>
                  <a:srgbClr val="002060"/>
                </a:solidFill>
              </a:rPr>
              <a:t> </a:t>
            </a:r>
            <a:r>
              <a:rPr lang="en-GB" b="1" dirty="0" err="1">
                <a:solidFill>
                  <a:srgbClr val="002060"/>
                </a:solidFill>
                <a:highlight>
                  <a:srgbClr val="FFFF00"/>
                </a:highlight>
              </a:rPr>
              <a:t>X</a:t>
            </a:r>
            <a:r>
              <a:rPr lang="en-GB" b="1" dirty="0">
                <a:solidFill>
                  <a:srgbClr val="002060"/>
                </a:solidFill>
                <a:highlight>
                  <a:srgbClr val="FFFF00"/>
                </a:highlight>
              </a:rPr>
              <a:t>  </a:t>
            </a:r>
          </a:p>
        </p:txBody>
      </p:sp>
      <p:cxnSp>
        <p:nvCxnSpPr>
          <p:cNvPr id="10" name="Straight Arrow Connector 9">
            <a:extLst>
              <a:ext uri="{FF2B5EF4-FFF2-40B4-BE49-F238E27FC236}">
                <a16:creationId xmlns:a16="http://schemas.microsoft.com/office/drawing/2014/main" id="{91FFC27C-BFC2-671F-0C66-12FE424A7A1A}"/>
              </a:ext>
            </a:extLst>
          </p:cNvPr>
          <p:cNvCxnSpPr>
            <a:cxnSpLocks/>
            <a:endCxn id="4" idx="1"/>
          </p:cNvCxnSpPr>
          <p:nvPr/>
        </p:nvCxnSpPr>
        <p:spPr>
          <a:xfrm flipV="1">
            <a:off x="2337580" y="1412958"/>
            <a:ext cx="5298511" cy="153985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93D59D1E-7094-BB1F-D0F2-15D962783664}"/>
              </a:ext>
            </a:extLst>
          </p:cNvPr>
          <p:cNvCxnSpPr>
            <a:cxnSpLocks/>
          </p:cNvCxnSpPr>
          <p:nvPr/>
        </p:nvCxnSpPr>
        <p:spPr>
          <a:xfrm flipV="1">
            <a:off x="2850018" y="1661551"/>
            <a:ext cx="4786073" cy="122333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E818159A-30D1-6371-1A26-64D7D691305B}"/>
              </a:ext>
            </a:extLst>
          </p:cNvPr>
          <p:cNvCxnSpPr>
            <a:cxnSpLocks/>
          </p:cNvCxnSpPr>
          <p:nvPr/>
        </p:nvCxnSpPr>
        <p:spPr>
          <a:xfrm flipV="1">
            <a:off x="2542291" y="1280373"/>
            <a:ext cx="5093800" cy="132196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61363A92-2B05-D5A3-E603-84F256066458}"/>
              </a:ext>
            </a:extLst>
          </p:cNvPr>
          <p:cNvCxnSpPr>
            <a:cxnSpLocks/>
          </p:cNvCxnSpPr>
          <p:nvPr/>
        </p:nvCxnSpPr>
        <p:spPr>
          <a:xfrm>
            <a:off x="1057569" y="4339419"/>
            <a:ext cx="9870032" cy="0"/>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
        <p:nvSpPr>
          <p:cNvPr id="19" name="Rectangle 18">
            <a:extLst>
              <a:ext uri="{FF2B5EF4-FFF2-40B4-BE49-F238E27FC236}">
                <a16:creationId xmlns:a16="http://schemas.microsoft.com/office/drawing/2014/main" id="{F135E5CC-246F-FB6B-0907-5B6D26F3129F}"/>
              </a:ext>
            </a:extLst>
          </p:cNvPr>
          <p:cNvSpPr/>
          <p:nvPr/>
        </p:nvSpPr>
        <p:spPr>
          <a:xfrm>
            <a:off x="1054258" y="3832282"/>
            <a:ext cx="9829800" cy="264118"/>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2000" dirty="0">
                <a:solidFill>
                  <a:srgbClr val="002060"/>
                </a:solidFill>
              </a:rPr>
              <a:t>                     April 2015 </a:t>
            </a:r>
            <a:r>
              <a:rPr lang="en-GB" dirty="0">
                <a:solidFill>
                  <a:srgbClr val="002060"/>
                </a:solidFill>
              </a:rPr>
              <a:t>					          </a:t>
            </a:r>
            <a:r>
              <a:rPr lang="en-GB" sz="2000" dirty="0">
                <a:solidFill>
                  <a:srgbClr val="002060"/>
                </a:solidFill>
              </a:rPr>
              <a:t>July-August 2016 </a:t>
            </a:r>
          </a:p>
        </p:txBody>
      </p:sp>
      <p:pic>
        <p:nvPicPr>
          <p:cNvPr id="16" name="Graphic 15" descr="Group brainstorm with solid fill">
            <a:extLst>
              <a:ext uri="{FF2B5EF4-FFF2-40B4-BE49-F238E27FC236}">
                <a16:creationId xmlns:a16="http://schemas.microsoft.com/office/drawing/2014/main" id="{1DC00DC2-AA07-FB7D-DA69-874079446CB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19103" y="1035736"/>
            <a:ext cx="1208680" cy="1208680"/>
          </a:xfrm>
          <a:prstGeom prst="rect">
            <a:avLst/>
          </a:prstGeom>
        </p:spPr>
      </p:pic>
      <p:pic>
        <p:nvPicPr>
          <p:cNvPr id="20" name="Graphic 19" descr="Receiver with solid fill">
            <a:extLst>
              <a:ext uri="{FF2B5EF4-FFF2-40B4-BE49-F238E27FC236}">
                <a16:creationId xmlns:a16="http://schemas.microsoft.com/office/drawing/2014/main" id="{7579AEEF-62C1-A4AD-A3FF-BD45F137FEB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842529" y="1171350"/>
            <a:ext cx="681312" cy="681312"/>
          </a:xfrm>
          <a:prstGeom prst="rect">
            <a:avLst/>
          </a:prstGeom>
        </p:spPr>
      </p:pic>
      <p:pic>
        <p:nvPicPr>
          <p:cNvPr id="24" name="Graphic 23" descr="Man with solid fill">
            <a:extLst>
              <a:ext uri="{FF2B5EF4-FFF2-40B4-BE49-F238E27FC236}">
                <a16:creationId xmlns:a16="http://schemas.microsoft.com/office/drawing/2014/main" id="{D3A911FD-6C7D-DD02-3EAB-39C8896B32C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065501" y="1145803"/>
            <a:ext cx="838673" cy="914400"/>
          </a:xfrm>
          <a:prstGeom prst="rect">
            <a:avLst/>
          </a:prstGeom>
        </p:spPr>
      </p:pic>
      <p:sp>
        <p:nvSpPr>
          <p:cNvPr id="29" name="Rectangle 28">
            <a:extLst>
              <a:ext uri="{FF2B5EF4-FFF2-40B4-BE49-F238E27FC236}">
                <a16:creationId xmlns:a16="http://schemas.microsoft.com/office/drawing/2014/main" id="{17B239F7-A27D-37D2-0431-D750A18D7AA5}"/>
              </a:ext>
            </a:extLst>
          </p:cNvPr>
          <p:cNvSpPr/>
          <p:nvPr/>
        </p:nvSpPr>
        <p:spPr>
          <a:xfrm>
            <a:off x="933922" y="4613585"/>
            <a:ext cx="10117325" cy="221258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Connector 26">
            <a:extLst>
              <a:ext uri="{FF2B5EF4-FFF2-40B4-BE49-F238E27FC236}">
                <a16:creationId xmlns:a16="http://schemas.microsoft.com/office/drawing/2014/main" id="{90D7ABB0-D182-FCFB-D9EB-22437D3851D0}"/>
              </a:ext>
            </a:extLst>
          </p:cNvPr>
          <p:cNvCxnSpPr/>
          <p:nvPr/>
        </p:nvCxnSpPr>
        <p:spPr>
          <a:xfrm>
            <a:off x="3828923" y="3803077"/>
            <a:ext cx="0" cy="1020417"/>
          </a:xfrm>
          <a:prstGeom prst="line">
            <a:avLst/>
          </a:prstGeom>
          <a:ln w="38100">
            <a:headEnd type="none" w="med" len="med"/>
            <a:tailEnd type="triangle" w="med" len="med"/>
          </a:ln>
        </p:spPr>
        <p:style>
          <a:lnRef idx="2">
            <a:schemeClr val="dk1"/>
          </a:lnRef>
          <a:fillRef idx="0">
            <a:schemeClr val="dk1"/>
          </a:fillRef>
          <a:effectRef idx="1">
            <a:schemeClr val="dk1"/>
          </a:effectRef>
          <a:fontRef idx="minor">
            <a:schemeClr val="tx1"/>
          </a:fontRef>
        </p:style>
      </p:cxnSp>
      <p:sp>
        <p:nvSpPr>
          <p:cNvPr id="28" name="TextBox 27">
            <a:extLst>
              <a:ext uri="{FF2B5EF4-FFF2-40B4-BE49-F238E27FC236}">
                <a16:creationId xmlns:a16="http://schemas.microsoft.com/office/drawing/2014/main" id="{EF6F6D8C-0F37-2CBA-3A5A-494709EF12D6}"/>
              </a:ext>
            </a:extLst>
          </p:cNvPr>
          <p:cNvSpPr txBox="1"/>
          <p:nvPr/>
        </p:nvSpPr>
        <p:spPr>
          <a:xfrm>
            <a:off x="2674570" y="4823494"/>
            <a:ext cx="3746907" cy="646331"/>
          </a:xfrm>
          <a:prstGeom prst="rect">
            <a:avLst/>
          </a:prstGeom>
          <a:noFill/>
        </p:spPr>
        <p:txBody>
          <a:bodyPr wrap="square" rtlCol="0">
            <a:spAutoFit/>
          </a:bodyPr>
          <a:lstStyle/>
          <a:p>
            <a:r>
              <a:rPr lang="en-US" b="1" dirty="0">
                <a:solidFill>
                  <a:schemeClr val="bg1"/>
                </a:solidFill>
              </a:rPr>
              <a:t>May 2015 UK General Election </a:t>
            </a:r>
          </a:p>
          <a:p>
            <a:endParaRPr lang="en-US" dirty="0">
              <a:solidFill>
                <a:schemeClr val="bg1"/>
              </a:solidFill>
            </a:endParaRPr>
          </a:p>
        </p:txBody>
      </p:sp>
      <p:pic>
        <p:nvPicPr>
          <p:cNvPr id="1032" name="Picture 8" descr="Election 2015 Analysis">
            <a:extLst>
              <a:ext uri="{FF2B5EF4-FFF2-40B4-BE49-F238E27FC236}">
                <a16:creationId xmlns:a16="http://schemas.microsoft.com/office/drawing/2014/main" id="{DAC35986-7135-1B8C-35C8-07612D7B86D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32960" y="5278370"/>
            <a:ext cx="2207273" cy="1236073"/>
          </a:xfrm>
          <a:prstGeom prst="rect">
            <a:avLst/>
          </a:prstGeom>
          <a:noFill/>
          <a:extLst>
            <a:ext uri="{909E8E84-426E-40DD-AFC4-6F175D3DCCD1}">
              <a14:hiddenFill xmlns:a14="http://schemas.microsoft.com/office/drawing/2010/main">
                <a:solidFill>
                  <a:srgbClr val="FFFFFF"/>
                </a:solidFill>
              </a14:hiddenFill>
            </a:ext>
          </a:extLst>
        </p:spPr>
      </p:pic>
      <p:cxnSp>
        <p:nvCxnSpPr>
          <p:cNvPr id="31" name="Straight Connector 30">
            <a:extLst>
              <a:ext uri="{FF2B5EF4-FFF2-40B4-BE49-F238E27FC236}">
                <a16:creationId xmlns:a16="http://schemas.microsoft.com/office/drawing/2014/main" id="{08757743-EF88-A561-76B9-C33F1E00BE68}"/>
              </a:ext>
            </a:extLst>
          </p:cNvPr>
          <p:cNvCxnSpPr/>
          <p:nvPr/>
        </p:nvCxnSpPr>
        <p:spPr>
          <a:xfrm>
            <a:off x="7413172" y="3832282"/>
            <a:ext cx="0" cy="1020417"/>
          </a:xfrm>
          <a:prstGeom prst="line">
            <a:avLst/>
          </a:prstGeom>
          <a:ln w="38100">
            <a:headEnd type="none" w="med" len="med"/>
            <a:tailEnd type="triangle" w="med" len="med"/>
          </a:ln>
        </p:spPr>
        <p:style>
          <a:lnRef idx="2">
            <a:schemeClr val="dk1"/>
          </a:lnRef>
          <a:fillRef idx="0">
            <a:schemeClr val="dk1"/>
          </a:fillRef>
          <a:effectRef idx="1">
            <a:schemeClr val="dk1"/>
          </a:effectRef>
          <a:fontRef idx="minor">
            <a:schemeClr val="tx1"/>
          </a:fontRef>
        </p:style>
      </p:cxnSp>
      <p:sp>
        <p:nvSpPr>
          <p:cNvPr id="32" name="TextBox 31">
            <a:extLst>
              <a:ext uri="{FF2B5EF4-FFF2-40B4-BE49-F238E27FC236}">
                <a16:creationId xmlns:a16="http://schemas.microsoft.com/office/drawing/2014/main" id="{3AFBCFF1-9C8D-AA62-2805-2E4B226833D5}"/>
              </a:ext>
            </a:extLst>
          </p:cNvPr>
          <p:cNvSpPr txBox="1"/>
          <p:nvPr/>
        </p:nvSpPr>
        <p:spPr>
          <a:xfrm>
            <a:off x="6547061" y="4836124"/>
            <a:ext cx="3746907" cy="646331"/>
          </a:xfrm>
          <a:prstGeom prst="rect">
            <a:avLst/>
          </a:prstGeom>
          <a:noFill/>
        </p:spPr>
        <p:txBody>
          <a:bodyPr wrap="square" rtlCol="0">
            <a:spAutoFit/>
          </a:bodyPr>
          <a:lstStyle/>
          <a:p>
            <a:r>
              <a:rPr lang="en-US" b="1" dirty="0">
                <a:solidFill>
                  <a:schemeClr val="bg1"/>
                </a:solidFill>
              </a:rPr>
              <a:t>June 2015 EU ‘Brexit’ referendum</a:t>
            </a:r>
          </a:p>
          <a:p>
            <a:endParaRPr lang="en-US" dirty="0">
              <a:solidFill>
                <a:schemeClr val="bg1"/>
              </a:solidFill>
            </a:endParaRPr>
          </a:p>
        </p:txBody>
      </p:sp>
      <p:pic>
        <p:nvPicPr>
          <p:cNvPr id="1034" name="Picture 10" descr="UK-EU referendum ...">
            <a:extLst>
              <a:ext uri="{FF2B5EF4-FFF2-40B4-BE49-F238E27FC236}">
                <a16:creationId xmlns:a16="http://schemas.microsoft.com/office/drawing/2014/main" id="{39D162E7-4B54-1A04-792E-526693A8521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87708" y="5272797"/>
            <a:ext cx="2154274" cy="1309021"/>
          </a:xfrm>
          <a:prstGeom prst="rect">
            <a:avLst/>
          </a:prstGeom>
          <a:noFill/>
          <a:ln>
            <a:solidFill>
              <a:schemeClr val="bg1"/>
            </a:solidFill>
          </a:ln>
          <a:extLst>
            <a:ext uri="{909E8E84-426E-40DD-AFC4-6F175D3DCCD1}">
              <a14:hiddenFill xmlns:a14="http://schemas.microsoft.com/office/drawing/2010/main">
                <a:solidFill>
                  <a:srgbClr val="FFFFFF"/>
                </a:solidFill>
              </a14:hiddenFill>
            </a:ext>
          </a:extLst>
        </p:spPr>
      </p:pic>
      <p:sp>
        <p:nvSpPr>
          <p:cNvPr id="37" name="TextBox 36">
            <a:extLst>
              <a:ext uri="{FF2B5EF4-FFF2-40B4-BE49-F238E27FC236}">
                <a16:creationId xmlns:a16="http://schemas.microsoft.com/office/drawing/2014/main" id="{8A178D0C-1542-28B3-AADE-53E1FF64209D}"/>
              </a:ext>
            </a:extLst>
          </p:cNvPr>
          <p:cNvSpPr txBox="1"/>
          <p:nvPr/>
        </p:nvSpPr>
        <p:spPr>
          <a:xfrm>
            <a:off x="5748514" y="2592924"/>
            <a:ext cx="3593468" cy="923330"/>
          </a:xfrm>
          <a:prstGeom prst="wedgeRectCallout">
            <a:avLst>
              <a:gd name="adj1" fmla="val -82051"/>
              <a:gd name="adj2" fmla="val -53756"/>
            </a:avLst>
          </a:prstGeom>
          <a:noFill/>
          <a:ln>
            <a:solidFill>
              <a:schemeClr val="tx1"/>
            </a:solidFill>
          </a:ln>
        </p:spPr>
        <p:txBody>
          <a:bodyPr wrap="square" rtlCol="0">
            <a:spAutoFit/>
          </a:bodyPr>
          <a:lstStyle/>
          <a:p>
            <a:r>
              <a:rPr lang="en-US" dirty="0"/>
              <a:t>Some of the people in the focus groups have 1-2-1 interviews a year later </a:t>
            </a:r>
          </a:p>
        </p:txBody>
      </p:sp>
    </p:spTree>
    <p:extLst>
      <p:ext uri="{BB962C8B-B14F-4D97-AF65-F5344CB8AC3E}">
        <p14:creationId xmlns:p14="http://schemas.microsoft.com/office/powerpoint/2010/main" val="36053832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8B7292-48E5-39DF-81BE-056577231F52}"/>
              </a:ext>
            </a:extLst>
          </p:cNvPr>
          <p:cNvSpPr>
            <a:spLocks noGrp="1"/>
          </p:cNvSpPr>
          <p:nvPr>
            <p:ph type="title"/>
          </p:nvPr>
        </p:nvSpPr>
        <p:spPr>
          <a:xfrm>
            <a:off x="1125900" y="563334"/>
            <a:ext cx="9555352" cy="1097673"/>
          </a:xfrm>
        </p:spPr>
        <p:txBody>
          <a:bodyPr/>
          <a:lstStyle/>
          <a:p>
            <a:r>
              <a:rPr lang="en-GB" dirty="0"/>
              <a:t>2016 telephone interviews </a:t>
            </a:r>
            <a:br>
              <a:rPr lang="en-GB" dirty="0"/>
            </a:br>
            <a:r>
              <a:rPr lang="en-GB" sz="2800" dirty="0"/>
              <a:t>7 questions that were sent in advance </a:t>
            </a:r>
            <a:endParaRPr lang="en-GB" dirty="0"/>
          </a:p>
        </p:txBody>
      </p:sp>
      <p:sp>
        <p:nvSpPr>
          <p:cNvPr id="3" name="Content Placeholder 2">
            <a:extLst>
              <a:ext uri="{FF2B5EF4-FFF2-40B4-BE49-F238E27FC236}">
                <a16:creationId xmlns:a16="http://schemas.microsoft.com/office/drawing/2014/main" id="{EF366642-ACB7-A174-4C94-C1C7AFC6C499}"/>
              </a:ext>
            </a:extLst>
          </p:cNvPr>
          <p:cNvSpPr>
            <a:spLocks noGrp="1"/>
          </p:cNvSpPr>
          <p:nvPr>
            <p:ph idx="1"/>
          </p:nvPr>
        </p:nvSpPr>
        <p:spPr>
          <a:xfrm>
            <a:off x="779533" y="1664526"/>
            <a:ext cx="9555352" cy="5498941"/>
          </a:xfrm>
        </p:spPr>
        <p:txBody>
          <a:bodyPr/>
          <a:lstStyle/>
          <a:p>
            <a:pPr marL="0" indent="0">
              <a:spcAft>
                <a:spcPts val="800"/>
              </a:spcAft>
              <a:buNone/>
            </a:pPr>
            <a:endParaRPr lang="pt-PT" sz="2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Aft>
                <a:spcPts val="800"/>
              </a:spcAft>
              <a:buFont typeface="+mj-lt"/>
              <a:buAutoNum type="arabicPeriod"/>
              <a:tabLst>
                <a:tab pos="457200" algn="l"/>
              </a:tabLst>
            </a:pPr>
            <a:r>
              <a:rPr lang="en-GB" sz="2200" dirty="0">
                <a:solidFill>
                  <a:srgbClr val="202020"/>
                </a:solidFill>
                <a:effectLst/>
                <a:latin typeface="Helvetica" panose="020B0604020202020204" pitchFamily="34" charset="0"/>
                <a:ea typeface="Times New Roman" panose="02020603050405020304" pitchFamily="18" charset="0"/>
                <a:cs typeface="Times New Roman" panose="02020603050405020304" pitchFamily="18" charset="0"/>
              </a:rPr>
              <a:t>What were your views on #Brexit (the UK leaving the EU) in the lead up to the election?</a:t>
            </a:r>
            <a:endParaRPr lang="pt-PT" sz="2200" dirty="0">
              <a:solidFill>
                <a:srgbClr val="202020"/>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Aft>
                <a:spcPts val="800"/>
              </a:spcAft>
              <a:buFont typeface="+mj-lt"/>
              <a:buAutoNum type="arabicPeriod"/>
              <a:tabLst>
                <a:tab pos="457200" algn="l"/>
              </a:tabLst>
            </a:pPr>
            <a:r>
              <a:rPr lang="en-GB" sz="2200" dirty="0">
                <a:solidFill>
                  <a:srgbClr val="202020"/>
                </a:solidFill>
                <a:effectLst/>
                <a:latin typeface="Helvetica" panose="020B0604020202020204" pitchFamily="34" charset="0"/>
                <a:ea typeface="Times New Roman" panose="02020603050405020304" pitchFamily="18" charset="0"/>
                <a:cs typeface="Times New Roman" panose="02020603050405020304" pitchFamily="18" charset="0"/>
              </a:rPr>
              <a:t>What do you think were the main messages of the Leave (Vote Leave) campaign? How would you rate that campaign?</a:t>
            </a:r>
            <a:endParaRPr lang="pt-PT" sz="2200" dirty="0">
              <a:solidFill>
                <a:srgbClr val="202020"/>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Aft>
                <a:spcPts val="800"/>
              </a:spcAft>
              <a:buFont typeface="+mj-lt"/>
              <a:buAutoNum type="arabicPeriod"/>
              <a:tabLst>
                <a:tab pos="457200" algn="l"/>
              </a:tabLst>
            </a:pPr>
            <a:r>
              <a:rPr lang="en-GB" sz="2200" dirty="0">
                <a:solidFill>
                  <a:srgbClr val="202020"/>
                </a:solidFill>
                <a:effectLst/>
                <a:latin typeface="Helvetica" panose="020B0604020202020204" pitchFamily="34" charset="0"/>
                <a:ea typeface="Times New Roman" panose="02020603050405020304" pitchFamily="18" charset="0"/>
                <a:cs typeface="Times New Roman" panose="02020603050405020304" pitchFamily="18" charset="0"/>
              </a:rPr>
              <a:t>What do you think were the main messages of the Remain (Stronger IN) campaign? How would you rate that campaign?</a:t>
            </a:r>
            <a:endParaRPr lang="pt-PT" sz="2200" dirty="0">
              <a:solidFill>
                <a:srgbClr val="202020"/>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Aft>
                <a:spcPts val="800"/>
              </a:spcAft>
              <a:buFont typeface="+mj-lt"/>
              <a:buAutoNum type="arabicPeriod"/>
              <a:tabLst>
                <a:tab pos="457200" algn="l"/>
              </a:tabLst>
            </a:pPr>
            <a:r>
              <a:rPr lang="en-GB" sz="2200" dirty="0">
                <a:solidFill>
                  <a:srgbClr val="202020"/>
                </a:solidFill>
                <a:effectLst/>
                <a:latin typeface="Helvetica" panose="020B0604020202020204" pitchFamily="34" charset="0"/>
                <a:ea typeface="Times New Roman" panose="02020603050405020304" pitchFamily="18" charset="0"/>
                <a:cs typeface="Times New Roman" panose="02020603050405020304" pitchFamily="18" charset="0"/>
              </a:rPr>
              <a:t>Did you vote and why? / If you didn’t vote, why was that?</a:t>
            </a:r>
            <a:endParaRPr lang="pt-PT" sz="2200" dirty="0">
              <a:solidFill>
                <a:srgbClr val="202020"/>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Aft>
                <a:spcPts val="800"/>
              </a:spcAft>
              <a:buFont typeface="+mj-lt"/>
              <a:buAutoNum type="arabicPeriod"/>
              <a:tabLst>
                <a:tab pos="457200" algn="l"/>
              </a:tabLst>
            </a:pPr>
            <a:r>
              <a:rPr lang="en-GB" sz="2200" dirty="0">
                <a:solidFill>
                  <a:srgbClr val="202020"/>
                </a:solidFill>
                <a:effectLst/>
                <a:latin typeface="Helvetica" panose="020B0604020202020204" pitchFamily="34" charset="0"/>
                <a:ea typeface="Times New Roman" panose="02020603050405020304" pitchFamily="18" charset="0"/>
                <a:cs typeface="Times New Roman" panose="02020603050405020304" pitchFamily="18" charset="0"/>
              </a:rPr>
              <a:t>How did you feel when you learned of the result?</a:t>
            </a:r>
            <a:endParaRPr lang="pt-PT" sz="2200" dirty="0">
              <a:solidFill>
                <a:srgbClr val="202020"/>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Aft>
                <a:spcPts val="800"/>
              </a:spcAft>
              <a:buFont typeface="+mj-lt"/>
              <a:buAutoNum type="arabicPeriod"/>
              <a:tabLst>
                <a:tab pos="457200" algn="l"/>
              </a:tabLst>
            </a:pPr>
            <a:r>
              <a:rPr lang="en-GB" sz="2200" dirty="0">
                <a:solidFill>
                  <a:srgbClr val="202020"/>
                </a:solidFill>
                <a:effectLst/>
                <a:latin typeface="Helvetica" panose="020B0604020202020204" pitchFamily="34" charset="0"/>
                <a:ea typeface="Times New Roman" panose="02020603050405020304" pitchFamily="18" charset="0"/>
                <a:cs typeface="Times New Roman" panose="02020603050405020304" pitchFamily="18" charset="0"/>
              </a:rPr>
              <a:t>What are your thoughts and reactions to Brexit?</a:t>
            </a:r>
            <a:endParaRPr lang="pt-PT" sz="2200" dirty="0">
              <a:solidFill>
                <a:srgbClr val="202020"/>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Aft>
                <a:spcPts val="800"/>
              </a:spcAft>
              <a:buFont typeface="+mj-lt"/>
              <a:buAutoNum type="arabicPeriod"/>
              <a:tabLst>
                <a:tab pos="457200" algn="l"/>
              </a:tabLst>
            </a:pPr>
            <a:r>
              <a:rPr lang="en-GB" sz="2200" dirty="0">
                <a:solidFill>
                  <a:srgbClr val="202020"/>
                </a:solidFill>
                <a:effectLst/>
                <a:latin typeface="Helvetica" panose="020B0604020202020204" pitchFamily="34" charset="0"/>
                <a:ea typeface="Times New Roman" panose="02020603050405020304" pitchFamily="18" charset="0"/>
                <a:cs typeface="Times New Roman" panose="02020603050405020304" pitchFamily="18" charset="0"/>
              </a:rPr>
              <a:t>Are you optimistic, pessimistic or uncertain about the UK’s future outside of Europe?</a:t>
            </a:r>
            <a:endParaRPr lang="pt-PT" sz="2200" dirty="0">
              <a:solidFill>
                <a:srgbClr val="202020"/>
              </a:solidFill>
              <a:effectLst/>
              <a:latin typeface="Calibri" panose="020F0502020204030204" pitchFamily="34" charset="0"/>
              <a:ea typeface="Calibri" panose="020F0502020204030204" pitchFamily="34" charset="0"/>
              <a:cs typeface="Times New Roman" panose="02020603050405020304" pitchFamily="18" charset="0"/>
            </a:endParaRPr>
          </a:p>
          <a:p>
            <a:endParaRPr lang="en-GB" sz="2800" dirty="0"/>
          </a:p>
        </p:txBody>
      </p:sp>
    </p:spTree>
    <p:extLst>
      <p:ext uri="{BB962C8B-B14F-4D97-AF65-F5344CB8AC3E}">
        <p14:creationId xmlns:p14="http://schemas.microsoft.com/office/powerpoint/2010/main" val="27812978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865877-D4A4-6646-B94E-329C447FA94A}"/>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dirty="0">
                <a:latin typeface="+mj-lt"/>
                <a:ea typeface="+mj-ea"/>
                <a:cs typeface="+mj-cs"/>
              </a:rPr>
              <a:t>PART 2: Setting up a new project </a:t>
            </a:r>
          </a:p>
        </p:txBody>
      </p:sp>
    </p:spTree>
    <p:extLst>
      <p:ext uri="{BB962C8B-B14F-4D97-AF65-F5344CB8AC3E}">
        <p14:creationId xmlns:p14="http://schemas.microsoft.com/office/powerpoint/2010/main" val="1521489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03728-9DAE-BFB3-FFEA-B6DD0732E198}"/>
              </a:ext>
            </a:extLst>
          </p:cNvPr>
          <p:cNvSpPr>
            <a:spLocks noGrp="1"/>
          </p:cNvSpPr>
          <p:nvPr>
            <p:ph type="title"/>
          </p:nvPr>
        </p:nvSpPr>
        <p:spPr>
          <a:xfrm>
            <a:off x="516300" y="338047"/>
            <a:ext cx="8177126" cy="1272143"/>
          </a:xfrm>
        </p:spPr>
        <p:txBody>
          <a:bodyPr/>
          <a:lstStyle/>
          <a:p>
            <a:r>
              <a:rPr lang="en-GB" dirty="0"/>
              <a:t>Many ways to do a single task</a:t>
            </a:r>
          </a:p>
        </p:txBody>
      </p:sp>
      <p:sp>
        <p:nvSpPr>
          <p:cNvPr id="3" name="Content Placeholder 2">
            <a:extLst>
              <a:ext uri="{FF2B5EF4-FFF2-40B4-BE49-F238E27FC236}">
                <a16:creationId xmlns:a16="http://schemas.microsoft.com/office/drawing/2014/main" id="{B4FF6A0D-C64F-E87D-E4EE-DB6E35AF0468}"/>
              </a:ext>
            </a:extLst>
          </p:cNvPr>
          <p:cNvSpPr>
            <a:spLocks noGrp="1"/>
          </p:cNvSpPr>
          <p:nvPr>
            <p:ph idx="1"/>
          </p:nvPr>
        </p:nvSpPr>
        <p:spPr>
          <a:xfrm>
            <a:off x="620507" y="1348800"/>
            <a:ext cx="10339040" cy="4216539"/>
          </a:xfrm>
        </p:spPr>
        <p:txBody>
          <a:bodyPr/>
          <a:lstStyle/>
          <a:p>
            <a:r>
              <a:rPr lang="en-GB" sz="3600" b="1" dirty="0"/>
              <a:t>How to import files: </a:t>
            </a:r>
          </a:p>
          <a:p>
            <a:pPr lvl="1"/>
            <a:r>
              <a:rPr lang="en-GB" sz="2400" dirty="0"/>
              <a:t>From Ribbon: Import &gt; files &gt; select file </a:t>
            </a:r>
          </a:p>
          <a:p>
            <a:pPr lvl="1"/>
            <a:r>
              <a:rPr lang="en-GB" sz="2400" dirty="0"/>
              <a:t>Drag and drop in from windows to the ‘files’ section</a:t>
            </a:r>
          </a:p>
          <a:p>
            <a:pPr lvl="1"/>
            <a:r>
              <a:rPr lang="en-GB" sz="2400" dirty="0"/>
              <a:t>Right click under file menu</a:t>
            </a:r>
          </a:p>
          <a:p>
            <a:pPr lvl="1"/>
            <a:endParaRPr lang="en-GB" sz="2800" dirty="0"/>
          </a:p>
          <a:p>
            <a:r>
              <a:rPr lang="en-GB" sz="3600" b="1" dirty="0"/>
              <a:t>How to code: </a:t>
            </a:r>
          </a:p>
          <a:p>
            <a:pPr lvl="1"/>
            <a:r>
              <a:rPr lang="en-GB" sz="2400" dirty="0"/>
              <a:t>From Ribbon: Create &gt; code &gt; new code</a:t>
            </a:r>
          </a:p>
          <a:p>
            <a:pPr lvl="1"/>
            <a:r>
              <a:rPr lang="en-GB" sz="2400" dirty="0"/>
              <a:t>Right click under ‘code’ tab, create new code</a:t>
            </a:r>
          </a:p>
          <a:p>
            <a:pPr lvl="1"/>
            <a:r>
              <a:rPr lang="en-GB" sz="2400" dirty="0"/>
              <a:t>Use coding bar to create new code over highlighted text</a:t>
            </a:r>
          </a:p>
          <a:p>
            <a:pPr lvl="1"/>
            <a:r>
              <a:rPr lang="en-GB" sz="2400" dirty="0"/>
              <a:t>Drag and drop text</a:t>
            </a:r>
          </a:p>
        </p:txBody>
      </p:sp>
    </p:spTree>
    <p:extLst>
      <p:ext uri="{BB962C8B-B14F-4D97-AF65-F5344CB8AC3E}">
        <p14:creationId xmlns:p14="http://schemas.microsoft.com/office/powerpoint/2010/main" val="30568882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C90E1-3937-ADA0-C285-B43DE38B6B2E}"/>
              </a:ext>
            </a:extLst>
          </p:cNvPr>
          <p:cNvSpPr>
            <a:spLocks noGrp="1"/>
          </p:cNvSpPr>
          <p:nvPr>
            <p:ph type="title"/>
          </p:nvPr>
        </p:nvSpPr>
        <p:spPr>
          <a:xfrm>
            <a:off x="640080" y="325369"/>
            <a:ext cx="4368602" cy="1443927"/>
          </a:xfrm>
        </p:spPr>
        <p:txBody>
          <a:bodyPr anchor="b">
            <a:normAutofit fontScale="90000"/>
          </a:bodyPr>
          <a:lstStyle/>
          <a:p>
            <a:r>
              <a:rPr lang="en-GB" sz="4800" dirty="0"/>
              <a:t>Organizing files and folders</a:t>
            </a:r>
          </a:p>
        </p:txBody>
      </p:sp>
      <p:sp>
        <p:nvSpPr>
          <p:cNvPr id="3" name="Content Placeholder 2">
            <a:extLst>
              <a:ext uri="{FF2B5EF4-FFF2-40B4-BE49-F238E27FC236}">
                <a16:creationId xmlns:a16="http://schemas.microsoft.com/office/drawing/2014/main" id="{8AA2B538-995C-C70D-5449-B601490D1EE6}"/>
              </a:ext>
            </a:extLst>
          </p:cNvPr>
          <p:cNvSpPr>
            <a:spLocks noGrp="1"/>
          </p:cNvSpPr>
          <p:nvPr>
            <p:ph idx="1"/>
          </p:nvPr>
        </p:nvSpPr>
        <p:spPr>
          <a:xfrm>
            <a:off x="166825" y="1999125"/>
            <a:ext cx="5929175" cy="4533506"/>
          </a:xfrm>
          <a:noFill/>
        </p:spPr>
        <p:txBody>
          <a:bodyPr>
            <a:normAutofit lnSpcReduction="10000"/>
          </a:bodyPr>
          <a:lstStyle/>
          <a:p>
            <a:pPr marL="495287" indent="-342900">
              <a:buFont typeface="Arial" panose="020B0604020202020204" pitchFamily="34" charset="0"/>
              <a:buChar char="•"/>
            </a:pPr>
            <a:r>
              <a:rPr lang="en-GB" sz="2800" dirty="0"/>
              <a:t>Create a system that make sense for YOU </a:t>
            </a:r>
          </a:p>
          <a:p>
            <a:pPr marL="495287" indent="-342900">
              <a:buFont typeface="Arial" panose="020B0604020202020204" pitchFamily="34" charset="0"/>
              <a:buChar char="•"/>
            </a:pPr>
            <a:r>
              <a:rPr lang="en-GB" sz="2800" dirty="0"/>
              <a:t>You can adjust it later </a:t>
            </a:r>
          </a:p>
          <a:p>
            <a:endParaRPr lang="en-GB" sz="2800" dirty="0"/>
          </a:p>
          <a:p>
            <a:pPr marL="495287" indent="-342900">
              <a:buFont typeface="Arial" panose="020B0604020202020204" pitchFamily="34" charset="0"/>
              <a:buChar char="•"/>
            </a:pPr>
            <a:r>
              <a:rPr lang="en-GB" sz="2800" dirty="0"/>
              <a:t>‘project files’ or ‘research tools’ can be stored as files OR memos </a:t>
            </a:r>
          </a:p>
          <a:p>
            <a:pPr lvl="1"/>
            <a:r>
              <a:rPr lang="en-GB" sz="2400" i="1" dirty="0"/>
              <a:t>	For me – where I ‘store’ information 	vs ‘think with’ it</a:t>
            </a:r>
          </a:p>
          <a:p>
            <a:pPr marL="495287" indent="-342900">
              <a:buFont typeface="Arial" panose="020B0604020202020204" pitchFamily="34" charset="0"/>
              <a:buChar char="•"/>
            </a:pPr>
            <a:r>
              <a:rPr lang="en-GB" sz="2800" dirty="0"/>
              <a:t>Using ‘memos’ as a space to keep track of </a:t>
            </a:r>
            <a:r>
              <a:rPr lang="en-GB" sz="2800" i="1" dirty="0"/>
              <a:t>how</a:t>
            </a:r>
            <a:r>
              <a:rPr lang="en-GB" sz="2800" dirty="0"/>
              <a:t> you’re doing things</a:t>
            </a:r>
          </a:p>
          <a:p>
            <a:pPr marL="457200" lvl="1" indent="-457200">
              <a:buFont typeface="Arial" panose="020B0604020202020204" pitchFamily="34" charset="0"/>
              <a:buChar char="•"/>
            </a:pPr>
            <a:r>
              <a:rPr lang="en-GB" sz="2800" dirty="0">
                <a:solidFill>
                  <a:srgbClr val="073B59"/>
                </a:solidFill>
                <a:latin typeface="+mn-lt"/>
              </a:rPr>
              <a:t>Prepare for writing up </a:t>
            </a:r>
            <a:endParaRPr lang="en-GB" sz="2400" dirty="0">
              <a:solidFill>
                <a:srgbClr val="073B59"/>
              </a:solidFill>
              <a:latin typeface="+mn-lt"/>
            </a:endParaRPr>
          </a:p>
        </p:txBody>
      </p:sp>
      <p:pic>
        <p:nvPicPr>
          <p:cNvPr id="5122" name="Picture 2" descr="How to Organize Files for Maximum Productivity">
            <a:extLst>
              <a:ext uri="{FF2B5EF4-FFF2-40B4-BE49-F238E27FC236}">
                <a16:creationId xmlns:a16="http://schemas.microsoft.com/office/drawing/2014/main" id="{6558D555-DEDB-F6AE-F1A3-79A18691537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4865" t="1" r="20512" b="1"/>
          <a:stretch/>
        </p:blipFill>
        <p:spPr bwMode="auto">
          <a:xfrm>
            <a:off x="6631507" y="10"/>
            <a:ext cx="6606018"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89234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865877-D4A4-6646-B94E-329C447FA94A}"/>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dirty="0">
                <a:latin typeface="+mj-lt"/>
                <a:ea typeface="+mj-ea"/>
                <a:cs typeface="+mj-cs"/>
              </a:rPr>
              <a:t>Part 3: Coding</a:t>
            </a:r>
          </a:p>
        </p:txBody>
      </p:sp>
    </p:spTree>
    <p:extLst>
      <p:ext uri="{BB962C8B-B14F-4D97-AF65-F5344CB8AC3E}">
        <p14:creationId xmlns:p14="http://schemas.microsoft.com/office/powerpoint/2010/main" val="38023338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75C77-75F8-6643-11B9-BA12B9E25446}"/>
              </a:ext>
            </a:extLst>
          </p:cNvPr>
          <p:cNvSpPr>
            <a:spLocks noGrp="1"/>
          </p:cNvSpPr>
          <p:nvPr>
            <p:ph type="title"/>
          </p:nvPr>
        </p:nvSpPr>
        <p:spPr>
          <a:xfrm>
            <a:off x="1125900" y="563334"/>
            <a:ext cx="6971178" cy="1272143"/>
          </a:xfrm>
        </p:spPr>
        <p:txBody>
          <a:bodyPr/>
          <a:lstStyle/>
          <a:p>
            <a:r>
              <a:rPr lang="en-GB" dirty="0"/>
              <a:t>Getting on with coding</a:t>
            </a:r>
          </a:p>
        </p:txBody>
      </p:sp>
      <p:sp>
        <p:nvSpPr>
          <p:cNvPr id="3" name="Content Placeholder 2">
            <a:extLst>
              <a:ext uri="{FF2B5EF4-FFF2-40B4-BE49-F238E27FC236}">
                <a16:creationId xmlns:a16="http://schemas.microsoft.com/office/drawing/2014/main" id="{A1365A4C-B3E0-B96B-76C8-C19052A1BD8D}"/>
              </a:ext>
            </a:extLst>
          </p:cNvPr>
          <p:cNvSpPr>
            <a:spLocks noGrp="1"/>
          </p:cNvSpPr>
          <p:nvPr>
            <p:ph idx="1"/>
          </p:nvPr>
        </p:nvSpPr>
        <p:spPr>
          <a:xfrm>
            <a:off x="965063" y="2115100"/>
            <a:ext cx="9901719" cy="3967648"/>
          </a:xfrm>
        </p:spPr>
        <p:txBody>
          <a:bodyPr>
            <a:normAutofit fontScale="77500" lnSpcReduction="20000"/>
          </a:bodyPr>
          <a:lstStyle/>
          <a:p>
            <a:pPr marL="0" indent="0">
              <a:buNone/>
            </a:pPr>
            <a:r>
              <a:rPr lang="en-GB" sz="4000" kern="100" dirty="0">
                <a:effectLst/>
                <a:latin typeface="Calibri" panose="020F0502020204030204" pitchFamily="34" charset="0"/>
                <a:ea typeface="Calibri" panose="020F0502020204030204" pitchFamily="34" charset="0"/>
                <a:cs typeface="Calibri" panose="020F0502020204030204" pitchFamily="34" charset="0"/>
              </a:rPr>
              <a:t>Codes are </a:t>
            </a:r>
            <a:r>
              <a:rPr lang="en-GB" sz="4000" i="1" kern="100" dirty="0">
                <a:effectLst/>
                <a:latin typeface="Calibri" panose="020F0502020204030204" pitchFamily="34" charset="0"/>
                <a:ea typeface="Calibri" panose="020F0502020204030204" pitchFamily="34" charset="0"/>
                <a:cs typeface="Calibri" panose="020F0502020204030204" pitchFamily="34" charset="0"/>
              </a:rPr>
              <a:t>tags</a:t>
            </a:r>
            <a:r>
              <a:rPr lang="en-GB" sz="4000" kern="100" dirty="0">
                <a:effectLst/>
                <a:latin typeface="Calibri" panose="020F0502020204030204" pitchFamily="34" charset="0"/>
                <a:ea typeface="Calibri" panose="020F0502020204030204" pitchFamily="34" charset="0"/>
                <a:cs typeface="Calibri" panose="020F0502020204030204" pitchFamily="34" charset="0"/>
              </a:rPr>
              <a:t> or </a:t>
            </a:r>
            <a:r>
              <a:rPr lang="en-GB" sz="4000" i="1" kern="100" dirty="0">
                <a:effectLst/>
                <a:latin typeface="Calibri" panose="020F0502020204030204" pitchFamily="34" charset="0"/>
                <a:ea typeface="Calibri" panose="020F0502020204030204" pitchFamily="34" charset="0"/>
                <a:cs typeface="Calibri" panose="020F0502020204030204" pitchFamily="34" charset="0"/>
              </a:rPr>
              <a:t>containers</a:t>
            </a:r>
            <a:r>
              <a:rPr lang="en-GB" sz="4000" kern="100" dirty="0">
                <a:effectLst/>
                <a:latin typeface="Calibri" panose="020F0502020204030204" pitchFamily="34" charset="0"/>
                <a:ea typeface="Calibri" panose="020F0502020204030204" pitchFamily="34" charset="0"/>
                <a:cs typeface="Calibri" panose="020F0502020204030204" pitchFamily="34" charset="0"/>
              </a:rPr>
              <a:t> for compiling information that is related – and from which related information can be retrieved later.  Codes are a unit we use to organize our analysis. They are not the ‘answer’, they are </a:t>
            </a:r>
            <a:r>
              <a:rPr lang="en-GB" sz="4000" b="1" kern="100" dirty="0">
                <a:effectLst/>
                <a:latin typeface="Calibri" panose="020F0502020204030204" pitchFamily="34" charset="0"/>
                <a:ea typeface="Calibri" panose="020F0502020204030204" pitchFamily="34" charset="0"/>
                <a:cs typeface="Calibri" panose="020F0502020204030204" pitchFamily="34" charset="0"/>
              </a:rPr>
              <a:t>a way to index, sort, link and interrogate data</a:t>
            </a:r>
            <a:r>
              <a:rPr lang="en-GB" sz="4000" kern="100" dirty="0">
                <a:effectLst/>
                <a:latin typeface="Calibri" panose="020F0502020204030204" pitchFamily="34" charset="0"/>
                <a:ea typeface="Calibri" panose="020F0502020204030204" pitchFamily="34" charset="0"/>
                <a:cs typeface="Calibri" panose="020F0502020204030204" pitchFamily="34" charset="0"/>
              </a:rPr>
              <a:t>. </a:t>
            </a:r>
            <a:endParaRPr lang="en-GB" sz="40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GB" dirty="0"/>
          </a:p>
          <a:p>
            <a:pPr marL="495287" indent="-342900">
              <a:buFont typeface="Arial" panose="020B0604020202020204" pitchFamily="34" charset="0"/>
              <a:buChar char="•"/>
            </a:pPr>
            <a:r>
              <a:rPr lang="en-GB" sz="3600" dirty="0"/>
              <a:t>Deductive vs inductive coding </a:t>
            </a:r>
          </a:p>
          <a:p>
            <a:endParaRPr lang="en-GB" sz="3600" dirty="0"/>
          </a:p>
          <a:p>
            <a:pPr marL="495287" indent="-342900">
              <a:buFont typeface="Arial" panose="020B0604020202020204" pitchFamily="34" charset="0"/>
              <a:buChar char="•"/>
            </a:pPr>
            <a:r>
              <a:rPr lang="en-GB" sz="3600" dirty="0"/>
              <a:t>Iterative coding</a:t>
            </a:r>
          </a:p>
          <a:p>
            <a:endParaRPr lang="en-GB" sz="3600" dirty="0"/>
          </a:p>
          <a:p>
            <a:pPr marL="495287" indent="-342900">
              <a:buFont typeface="Arial" panose="020B0604020202020204" pitchFamily="34" charset="0"/>
              <a:buChar char="•"/>
            </a:pPr>
            <a:r>
              <a:rPr lang="en-GB" sz="3600" dirty="0"/>
              <a:t>Auto-coding?</a:t>
            </a:r>
          </a:p>
        </p:txBody>
      </p:sp>
    </p:spTree>
    <p:extLst>
      <p:ext uri="{BB962C8B-B14F-4D97-AF65-F5344CB8AC3E}">
        <p14:creationId xmlns:p14="http://schemas.microsoft.com/office/powerpoint/2010/main" val="26529741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AB0E5-6B47-5D94-4E35-F7E9C74D8158}"/>
              </a:ext>
            </a:extLst>
          </p:cNvPr>
          <p:cNvSpPr>
            <a:spLocks noGrp="1"/>
          </p:cNvSpPr>
          <p:nvPr>
            <p:ph type="title"/>
          </p:nvPr>
        </p:nvSpPr>
        <p:spPr/>
        <p:txBody>
          <a:bodyPr/>
          <a:lstStyle/>
          <a:p>
            <a:r>
              <a:rPr lang="en-GB" dirty="0"/>
              <a:t>Coding</a:t>
            </a:r>
          </a:p>
        </p:txBody>
      </p:sp>
      <p:sp>
        <p:nvSpPr>
          <p:cNvPr id="3" name="Content Placeholder 2">
            <a:extLst>
              <a:ext uri="{FF2B5EF4-FFF2-40B4-BE49-F238E27FC236}">
                <a16:creationId xmlns:a16="http://schemas.microsoft.com/office/drawing/2014/main" id="{36104E92-B62B-491F-7570-3D759293BBAE}"/>
              </a:ext>
            </a:extLst>
          </p:cNvPr>
          <p:cNvSpPr>
            <a:spLocks noGrp="1"/>
          </p:cNvSpPr>
          <p:nvPr>
            <p:ph idx="1"/>
          </p:nvPr>
        </p:nvSpPr>
        <p:spPr>
          <a:xfrm>
            <a:off x="701193" y="1477669"/>
            <a:ext cx="10498066" cy="4378465"/>
          </a:xfrm>
        </p:spPr>
        <p:txBody>
          <a:bodyPr>
            <a:normAutofit fontScale="77500" lnSpcReduction="20000"/>
          </a:bodyPr>
          <a:lstStyle/>
          <a:p>
            <a:pPr marL="0" marR="0" algn="just">
              <a:lnSpc>
                <a:spcPct val="115000"/>
              </a:lnSpc>
              <a:spcBef>
                <a:spcPts val="0"/>
              </a:spcBef>
              <a:spcAft>
                <a:spcPts val="1000"/>
              </a:spcAft>
            </a:pPr>
            <a:r>
              <a:rPr lang="en-GB" sz="2800" kern="100" dirty="0">
                <a:effectLst/>
                <a:latin typeface="Calibri" panose="020F0502020204030204" pitchFamily="34" charset="0"/>
                <a:ea typeface="Calibri" panose="020F0502020204030204" pitchFamily="34" charset="0"/>
                <a:cs typeface="Calibri" panose="020F0502020204030204" pitchFamily="34" charset="0"/>
              </a:rPr>
              <a:t>Remember when coding in </a:t>
            </a:r>
            <a:r>
              <a:rPr lang="en-GB" sz="2800" kern="100" dirty="0" err="1">
                <a:effectLst/>
                <a:latin typeface="Calibri" panose="020F0502020204030204" pitchFamily="34" charset="0"/>
                <a:ea typeface="Calibri" panose="020F0502020204030204" pitchFamily="34" charset="0"/>
                <a:cs typeface="Calibri" panose="020F0502020204030204" pitchFamily="34" charset="0"/>
              </a:rPr>
              <a:t>Nvivo</a:t>
            </a:r>
            <a:r>
              <a:rPr lang="en-GB" sz="2800" kern="100" dirty="0">
                <a:effectLst/>
                <a:latin typeface="Calibri" panose="020F0502020204030204" pitchFamily="34" charset="0"/>
                <a:ea typeface="Calibri" panose="020F0502020204030204" pitchFamily="34" charset="0"/>
                <a:cs typeface="Calibri" panose="020F0502020204030204" pitchFamily="34" charset="0"/>
              </a:rPr>
              <a:t>: </a:t>
            </a:r>
            <a:endParaRPr lang="en-GB"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lvl="0" indent="-457200" algn="just">
              <a:lnSpc>
                <a:spcPct val="115000"/>
              </a:lnSpc>
              <a:spcBef>
                <a:spcPts val="0"/>
              </a:spcBef>
              <a:spcAft>
                <a:spcPts val="1000"/>
              </a:spcAft>
              <a:buFont typeface="Arial" panose="020B0604020202020204" pitchFamily="34" charset="0"/>
              <a:buChar char="•"/>
            </a:pPr>
            <a:r>
              <a:rPr lang="en-GB" sz="2800" kern="100" dirty="0">
                <a:effectLst/>
                <a:latin typeface="Calibri" panose="020F0502020204030204" pitchFamily="34" charset="0"/>
                <a:ea typeface="Calibri" panose="020F0502020204030204" pitchFamily="34" charset="0"/>
                <a:cs typeface="Calibri" panose="020F0502020204030204" pitchFamily="34" charset="0"/>
              </a:rPr>
              <a:t>Codes </a:t>
            </a:r>
            <a:r>
              <a:rPr lang="en-GB" sz="2800" i="1" kern="100" dirty="0">
                <a:effectLst/>
                <a:latin typeface="Calibri" panose="020F0502020204030204" pitchFamily="34" charset="0"/>
                <a:ea typeface="Calibri" panose="020F0502020204030204" pitchFamily="34" charset="0"/>
                <a:cs typeface="Calibri" panose="020F0502020204030204" pitchFamily="34" charset="0"/>
              </a:rPr>
              <a:t>can</a:t>
            </a:r>
            <a:r>
              <a:rPr lang="en-GB" sz="2800" kern="100" dirty="0">
                <a:effectLst/>
                <a:latin typeface="Calibri" panose="020F0502020204030204" pitchFamily="34" charset="0"/>
                <a:ea typeface="Calibri" panose="020F0502020204030204" pitchFamily="34" charset="0"/>
                <a:cs typeface="Calibri" panose="020F0502020204030204" pitchFamily="34" charset="0"/>
              </a:rPr>
              <a:t> overlap </a:t>
            </a:r>
          </a:p>
          <a:p>
            <a:pPr marL="457200" marR="0" lvl="0" indent="-457200" algn="just">
              <a:lnSpc>
                <a:spcPct val="115000"/>
              </a:lnSpc>
              <a:spcBef>
                <a:spcPts val="0"/>
              </a:spcBef>
              <a:spcAft>
                <a:spcPts val="1000"/>
              </a:spcAft>
              <a:buFont typeface="Arial" panose="020B0604020202020204" pitchFamily="34" charset="0"/>
              <a:buChar char="•"/>
            </a:pPr>
            <a:r>
              <a:rPr lang="en-GB" sz="2800" kern="100" dirty="0">
                <a:latin typeface="Calibri" panose="020F0502020204030204" pitchFamily="34" charset="0"/>
                <a:ea typeface="Calibri" panose="020F0502020204030204" pitchFamily="34" charset="0"/>
                <a:cs typeface="Calibri" panose="020F0502020204030204" pitchFamily="34" charset="0"/>
              </a:rPr>
              <a:t>Codes will sort themselves to be alphabetical – clear, direct, short codes are helpful (you can expand in the description)</a:t>
            </a:r>
            <a:endParaRPr lang="en-GB"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indent="-457200" algn="just">
              <a:lnSpc>
                <a:spcPct val="115000"/>
              </a:lnSpc>
              <a:spcBef>
                <a:spcPts val="0"/>
              </a:spcBef>
              <a:spcAft>
                <a:spcPts val="1000"/>
              </a:spcAft>
              <a:buFont typeface="Arial" panose="020B0604020202020204" pitchFamily="34" charset="0"/>
              <a:buChar char="•"/>
            </a:pPr>
            <a:r>
              <a:rPr lang="en-GB" sz="2800" kern="100" dirty="0">
                <a:latin typeface="Calibri" panose="020F0502020204030204" pitchFamily="34" charset="0"/>
                <a:ea typeface="Calibri" panose="020F0502020204030204" pitchFamily="34" charset="0"/>
                <a:cs typeface="Calibri" panose="020F0502020204030204" pitchFamily="34" charset="0"/>
              </a:rPr>
              <a:t>When creating a new code, always include a description of what you think this code means and what should be included here</a:t>
            </a:r>
            <a:endParaRPr lang="en-GB" sz="2800" kern="100" dirty="0">
              <a:latin typeface="Calibri" panose="020F0502020204030204" pitchFamily="34" charset="0"/>
              <a:ea typeface="Calibri" panose="020F0502020204030204" pitchFamily="34" charset="0"/>
              <a:cs typeface="Times New Roman" panose="02020603050405020304" pitchFamily="18" charset="0"/>
            </a:endParaRPr>
          </a:p>
          <a:p>
            <a:pPr marL="457200" marR="0" lvl="0" indent="-457200" algn="just">
              <a:lnSpc>
                <a:spcPct val="115000"/>
              </a:lnSpc>
              <a:spcBef>
                <a:spcPts val="0"/>
              </a:spcBef>
              <a:spcAft>
                <a:spcPts val="1000"/>
              </a:spcAft>
              <a:buFont typeface="Arial" panose="020B0604020202020204" pitchFamily="34" charset="0"/>
              <a:buChar char="•"/>
            </a:pPr>
            <a:r>
              <a:rPr lang="en-GB" sz="2800" kern="100" dirty="0">
                <a:effectLst/>
                <a:latin typeface="Calibri" panose="020F0502020204030204" pitchFamily="34" charset="0"/>
                <a:ea typeface="Calibri" panose="020F0502020204030204" pitchFamily="34" charset="0"/>
                <a:cs typeface="Calibri" panose="020F0502020204030204" pitchFamily="34" charset="0"/>
              </a:rPr>
              <a:t>Codes should change as your project changes. They can be combined and rearranged. Don’t be afraid to make a code because you’re not certain if it will be relevant or important enough. They’re a tool to think with</a:t>
            </a:r>
            <a:endParaRPr lang="en-GB"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lvl="0" indent="-457200" algn="just">
              <a:lnSpc>
                <a:spcPct val="115000"/>
              </a:lnSpc>
              <a:spcBef>
                <a:spcPts val="0"/>
              </a:spcBef>
              <a:spcAft>
                <a:spcPts val="1000"/>
              </a:spcAft>
              <a:buFont typeface="Arial" panose="020B0604020202020204" pitchFamily="34" charset="0"/>
              <a:buChar char="•"/>
            </a:pPr>
            <a:r>
              <a:rPr lang="en-GB" sz="2800" kern="100" dirty="0">
                <a:effectLst/>
                <a:latin typeface="Calibri" panose="020F0502020204030204" pitchFamily="34" charset="0"/>
                <a:ea typeface="Calibri" panose="020F0502020204030204" pitchFamily="34" charset="0"/>
                <a:cs typeface="Calibri" panose="020F0502020204030204" pitchFamily="34" charset="0"/>
              </a:rPr>
              <a:t>Be careful if coding when tired, bored, or distracted – you must always be actively thinking (the ‘organic computer’ [your brain] is the primary tool of analysis). </a:t>
            </a:r>
            <a:endParaRPr lang="en-GB" sz="2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GB" dirty="0"/>
          </a:p>
        </p:txBody>
      </p:sp>
    </p:spTree>
    <p:extLst>
      <p:ext uri="{BB962C8B-B14F-4D97-AF65-F5344CB8AC3E}">
        <p14:creationId xmlns:p14="http://schemas.microsoft.com/office/powerpoint/2010/main" val="3000917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4">
            <a:extLst>
              <a:ext uri="{FF2B5EF4-FFF2-40B4-BE49-F238E27FC236}">
                <a16:creationId xmlns:a16="http://schemas.microsoft.com/office/drawing/2014/main" id="{7A593A2C-3DA7-50D6-6162-1B48DF715670}"/>
              </a:ext>
            </a:extLst>
          </p:cNvPr>
          <p:cNvPicPr>
            <a:picLocks noChangeAspect="1"/>
          </p:cNvPicPr>
          <p:nvPr/>
        </p:nvPicPr>
        <p:blipFill>
          <a:blip r:embed="rId2"/>
          <a:srcRect b="28976"/>
          <a:stretch/>
        </p:blipFill>
        <p:spPr>
          <a:xfrm>
            <a:off x="451352" y="107080"/>
            <a:ext cx="10302207" cy="6643839"/>
          </a:xfrm>
          <a:prstGeom prst="rect">
            <a:avLst/>
          </a:prstGeom>
        </p:spPr>
      </p:pic>
      <p:pic>
        <p:nvPicPr>
          <p:cNvPr id="5" name="Content Placeholder 4">
            <a:extLst>
              <a:ext uri="{FF2B5EF4-FFF2-40B4-BE49-F238E27FC236}">
                <a16:creationId xmlns:a16="http://schemas.microsoft.com/office/drawing/2014/main" id="{72AA06B0-BAA1-EC40-030A-F585048D28BA}"/>
              </a:ext>
            </a:extLst>
          </p:cNvPr>
          <p:cNvPicPr>
            <a:picLocks noGrp="1" noChangeAspect="1"/>
          </p:cNvPicPr>
          <p:nvPr>
            <p:ph idx="1"/>
          </p:nvPr>
        </p:nvPicPr>
        <p:blipFill>
          <a:blip r:embed="rId2"/>
          <a:srcRect t="86394"/>
          <a:stretch/>
        </p:blipFill>
        <p:spPr>
          <a:xfrm>
            <a:off x="2248009" y="5526158"/>
            <a:ext cx="9861531" cy="1224762"/>
          </a:xfrm>
        </p:spPr>
      </p:pic>
    </p:spTree>
    <p:extLst>
      <p:ext uri="{BB962C8B-B14F-4D97-AF65-F5344CB8AC3E}">
        <p14:creationId xmlns:p14="http://schemas.microsoft.com/office/powerpoint/2010/main" val="40181084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8433B-E168-FDB4-9F35-343E9C1AE1DC}"/>
              </a:ext>
            </a:extLst>
          </p:cNvPr>
          <p:cNvSpPr>
            <a:spLocks noGrp="1"/>
          </p:cNvSpPr>
          <p:nvPr>
            <p:ph type="title"/>
          </p:nvPr>
        </p:nvSpPr>
        <p:spPr/>
        <p:txBody>
          <a:bodyPr/>
          <a:lstStyle/>
          <a:p>
            <a:r>
              <a:rPr lang="en-GB" dirty="0"/>
              <a:t>Coding Hierarchies </a:t>
            </a:r>
          </a:p>
        </p:txBody>
      </p:sp>
      <p:sp>
        <p:nvSpPr>
          <p:cNvPr id="3" name="Content Placeholder 2">
            <a:extLst>
              <a:ext uri="{FF2B5EF4-FFF2-40B4-BE49-F238E27FC236}">
                <a16:creationId xmlns:a16="http://schemas.microsoft.com/office/drawing/2014/main" id="{977164AA-7E17-7CF0-0B57-0E3254CF4B13}"/>
              </a:ext>
            </a:extLst>
          </p:cNvPr>
          <p:cNvSpPr>
            <a:spLocks noGrp="1"/>
          </p:cNvSpPr>
          <p:nvPr>
            <p:ph idx="1"/>
          </p:nvPr>
        </p:nvSpPr>
        <p:spPr>
          <a:xfrm>
            <a:off x="604794" y="1613458"/>
            <a:ext cx="10461305" cy="4351338"/>
          </a:xfrm>
        </p:spPr>
        <p:txBody>
          <a:bodyPr>
            <a:normAutofit fontScale="85000" lnSpcReduction="20000"/>
          </a:bodyPr>
          <a:lstStyle/>
          <a:p>
            <a:pPr marL="0" marR="0" algn="just">
              <a:lnSpc>
                <a:spcPct val="107000"/>
              </a:lnSpc>
              <a:spcBef>
                <a:spcPts val="0"/>
              </a:spcBef>
              <a:spcAft>
                <a:spcPts val="800"/>
              </a:spcAft>
            </a:pPr>
            <a:r>
              <a:rPr lang="en-GB" sz="3200" kern="100" dirty="0">
                <a:effectLst/>
                <a:latin typeface="Calibri" panose="020F0502020204030204" pitchFamily="34" charset="0"/>
                <a:ea typeface="Calibri" panose="020F0502020204030204" pitchFamily="34" charset="0"/>
                <a:cs typeface="Calibri" panose="020F0502020204030204" pitchFamily="34" charset="0"/>
              </a:rPr>
              <a:t>Some questions to reflect on: </a:t>
            </a:r>
          </a:p>
          <a:p>
            <a:pPr marL="0" marR="0" algn="just">
              <a:lnSpc>
                <a:spcPct val="107000"/>
              </a:lnSpc>
              <a:spcBef>
                <a:spcPts val="0"/>
              </a:spcBef>
              <a:spcAft>
                <a:spcPts val="800"/>
              </a:spcAft>
            </a:pPr>
            <a:endParaRPr lang="en-GB" sz="3200" kern="100" dirty="0">
              <a:effectLst/>
              <a:latin typeface="Calibri" panose="020F0502020204030204" pitchFamily="34" charset="0"/>
              <a:ea typeface="Calibri" panose="020F0502020204030204" pitchFamily="34" charset="0"/>
              <a:cs typeface="Times New Roman" panose="02020603050405020304" pitchFamily="18" charset="0"/>
            </a:endParaRPr>
          </a:p>
          <a:p>
            <a:pPr marL="800100" marR="0" lvl="1" indent="-342900" algn="just">
              <a:lnSpc>
                <a:spcPct val="107000"/>
              </a:lnSpc>
              <a:spcBef>
                <a:spcPts val="0"/>
              </a:spcBef>
              <a:spcAft>
                <a:spcPts val="0"/>
              </a:spcAft>
              <a:buFont typeface="Wingdings" pitchFamily="2" charset="2"/>
              <a:buChar char="v"/>
            </a:pPr>
            <a:r>
              <a:rPr lang="en-GB" sz="2400" kern="100" dirty="0">
                <a:effectLst/>
                <a:latin typeface="Calibri" panose="020F0502020204030204" pitchFamily="34" charset="0"/>
                <a:ea typeface="Calibri" panose="020F0502020204030204" pitchFamily="34" charset="0"/>
                <a:cs typeface="Calibri" panose="020F0502020204030204" pitchFamily="34" charset="0"/>
              </a:rPr>
              <a:t>Do any codes refer to a theme or idea that may be experienced in a number of different ways (different sources, targets, circumstances, etc.)?</a:t>
            </a:r>
          </a:p>
          <a:p>
            <a:pPr marL="457200" marR="0" lvl="1" algn="just">
              <a:lnSpc>
                <a:spcPct val="107000"/>
              </a:lnSpc>
              <a:spcBef>
                <a:spcPts val="0"/>
              </a:spcBef>
              <a:spcAft>
                <a:spcPts val="0"/>
              </a:spcAft>
            </a:pPr>
            <a:endParaRPr lang="en-GB"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800100" marR="0" lvl="1" indent="-342900" algn="just">
              <a:lnSpc>
                <a:spcPct val="107000"/>
              </a:lnSpc>
              <a:spcBef>
                <a:spcPts val="0"/>
              </a:spcBef>
              <a:spcAft>
                <a:spcPts val="0"/>
              </a:spcAft>
              <a:buFont typeface="Wingdings" pitchFamily="2" charset="2"/>
              <a:buChar char="v"/>
            </a:pPr>
            <a:r>
              <a:rPr lang="en-GB" sz="2400" kern="100" dirty="0">
                <a:effectLst/>
                <a:latin typeface="Calibri" panose="020F0502020204030204" pitchFamily="34" charset="0"/>
                <a:ea typeface="Calibri" panose="020F0502020204030204" pitchFamily="34" charset="0"/>
                <a:cs typeface="Calibri" panose="020F0502020204030204" pitchFamily="34" charset="0"/>
              </a:rPr>
              <a:t>Are there any common categories that would be useful to think with across many codes and examples? </a:t>
            </a:r>
          </a:p>
          <a:p>
            <a:pPr marL="800100" marR="0" lvl="1" indent="-342900" algn="just">
              <a:lnSpc>
                <a:spcPct val="107000"/>
              </a:lnSpc>
              <a:spcBef>
                <a:spcPts val="0"/>
              </a:spcBef>
              <a:spcAft>
                <a:spcPts val="0"/>
              </a:spcAft>
              <a:buFont typeface="Wingdings" pitchFamily="2" charset="2"/>
              <a:buChar char="v"/>
            </a:pPr>
            <a:endParaRPr lang="en-GB"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800100" marR="0" lvl="1" indent="-342900" algn="just">
              <a:lnSpc>
                <a:spcPct val="107000"/>
              </a:lnSpc>
              <a:spcBef>
                <a:spcPts val="0"/>
              </a:spcBef>
              <a:spcAft>
                <a:spcPts val="800"/>
              </a:spcAft>
              <a:buFont typeface="Wingdings" pitchFamily="2" charset="2"/>
              <a:buChar char="v"/>
            </a:pPr>
            <a:r>
              <a:rPr lang="en-GB" sz="2400" kern="100" dirty="0">
                <a:effectLst/>
                <a:latin typeface="Calibri" panose="020F0502020204030204" pitchFamily="34" charset="0"/>
                <a:ea typeface="Calibri" panose="020F0502020204030204" pitchFamily="34" charset="0"/>
                <a:cs typeface="Calibri" panose="020F0502020204030204" pitchFamily="34" charset="0"/>
              </a:rPr>
              <a:t>Do some of your codes exist within a common theme that could become a parent code? </a:t>
            </a:r>
          </a:p>
          <a:p>
            <a:pPr marL="457200" lvl="1" algn="just">
              <a:lnSpc>
                <a:spcPct val="107000"/>
              </a:lnSpc>
              <a:spcAft>
                <a:spcPts val="800"/>
              </a:spcAft>
            </a:pPr>
            <a:r>
              <a:rPr lang="en-GB" sz="2400" kern="100" dirty="0">
                <a:effectLst/>
                <a:latin typeface="Calibri" panose="020F0502020204030204" pitchFamily="34" charset="0"/>
                <a:ea typeface="Calibri" panose="020F0502020204030204" pitchFamily="34" charset="0"/>
                <a:cs typeface="Calibri" panose="020F0502020204030204" pitchFamily="34" charset="0"/>
              </a:rPr>
              <a:t>- </a:t>
            </a:r>
            <a:r>
              <a:rPr lang="en-GB" sz="2400" kern="100" dirty="0">
                <a:latin typeface="Calibri" panose="020F0502020204030204" pitchFamily="34" charset="0"/>
                <a:ea typeface="Calibri" panose="020F0502020204030204" pitchFamily="34" charset="0"/>
                <a:cs typeface="Calibri" panose="020F0502020204030204" pitchFamily="34" charset="0"/>
              </a:rPr>
              <a:t>Does it make sense to nest down, or create a new top code?</a:t>
            </a:r>
            <a:endParaRPr lang="en-GB"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lvl="1" algn="just">
              <a:lnSpc>
                <a:spcPct val="107000"/>
              </a:lnSpc>
              <a:spcBef>
                <a:spcPts val="0"/>
              </a:spcBef>
              <a:spcAft>
                <a:spcPts val="800"/>
              </a:spcAft>
            </a:pPr>
            <a:endParaRPr lang="en-GB" sz="2400" kern="100" dirty="0">
              <a:effectLst/>
              <a:latin typeface="Calibri" panose="020F0502020204030204" pitchFamily="34" charset="0"/>
              <a:ea typeface="Calibri" panose="020F0502020204030204" pitchFamily="34" charset="0"/>
              <a:cs typeface="Calibri" panose="020F0502020204030204" pitchFamily="34" charset="0"/>
            </a:endParaRPr>
          </a:p>
          <a:p>
            <a:pPr marL="800100" marR="0" lvl="1" indent="-342900" algn="just">
              <a:lnSpc>
                <a:spcPct val="107000"/>
              </a:lnSpc>
              <a:spcBef>
                <a:spcPts val="0"/>
              </a:spcBef>
              <a:spcAft>
                <a:spcPts val="800"/>
              </a:spcAft>
              <a:buFont typeface="Wingdings" pitchFamily="2" charset="2"/>
              <a:buChar char="v"/>
            </a:pPr>
            <a:r>
              <a:rPr lang="en-GB" sz="2400" kern="100" dirty="0">
                <a:latin typeface="Calibri" panose="020F0502020204030204" pitchFamily="34" charset="0"/>
                <a:ea typeface="Calibri" panose="020F0502020204030204" pitchFamily="34" charset="0"/>
                <a:cs typeface="Calibri" panose="020F0502020204030204" pitchFamily="34" charset="0"/>
              </a:rPr>
              <a:t>Does it make sense to nest down, or create a new top code?</a:t>
            </a:r>
            <a:endParaRPr lang="en-GB"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5128207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9750A3E-E90B-C8E5-D848-75334D020C74}"/>
              </a:ext>
            </a:extLst>
          </p:cNvPr>
          <p:cNvPicPr>
            <a:picLocks noGrp="1" noChangeAspect="1"/>
          </p:cNvPicPr>
          <p:nvPr>
            <p:ph idx="1"/>
          </p:nvPr>
        </p:nvPicPr>
        <p:blipFill>
          <a:blip r:embed="rId3"/>
          <a:stretch>
            <a:fillRect/>
          </a:stretch>
        </p:blipFill>
        <p:spPr>
          <a:xfrm>
            <a:off x="925455" y="145670"/>
            <a:ext cx="9971145" cy="6566660"/>
          </a:xfrm>
        </p:spPr>
      </p:pic>
      <p:pic>
        <p:nvPicPr>
          <p:cNvPr id="7" name="Picture 6">
            <a:extLst>
              <a:ext uri="{FF2B5EF4-FFF2-40B4-BE49-F238E27FC236}">
                <a16:creationId xmlns:a16="http://schemas.microsoft.com/office/drawing/2014/main" id="{64D17504-120B-2C00-65F2-398A580D1D06}"/>
              </a:ext>
            </a:extLst>
          </p:cNvPr>
          <p:cNvPicPr>
            <a:picLocks noChangeAspect="1"/>
          </p:cNvPicPr>
          <p:nvPr/>
        </p:nvPicPr>
        <p:blipFill>
          <a:blip r:embed="rId4"/>
          <a:srcRect l="49859" t="-3733" r="141" b="-2565"/>
          <a:stretch/>
        </p:blipFill>
        <p:spPr>
          <a:xfrm>
            <a:off x="899615" y="5609230"/>
            <a:ext cx="4850297" cy="1130396"/>
          </a:xfrm>
          <a:prstGeom prst="rect">
            <a:avLst/>
          </a:prstGeom>
        </p:spPr>
      </p:pic>
      <p:pic>
        <p:nvPicPr>
          <p:cNvPr id="10" name="Picture 9">
            <a:extLst>
              <a:ext uri="{FF2B5EF4-FFF2-40B4-BE49-F238E27FC236}">
                <a16:creationId xmlns:a16="http://schemas.microsoft.com/office/drawing/2014/main" id="{9E389111-AAC4-9D89-BB29-353582038689}"/>
              </a:ext>
            </a:extLst>
          </p:cNvPr>
          <p:cNvPicPr>
            <a:picLocks noChangeAspect="1"/>
          </p:cNvPicPr>
          <p:nvPr/>
        </p:nvPicPr>
        <p:blipFill>
          <a:blip r:embed="rId5"/>
          <a:stretch>
            <a:fillRect/>
          </a:stretch>
        </p:blipFill>
        <p:spPr>
          <a:xfrm>
            <a:off x="928586" y="3875964"/>
            <a:ext cx="4968700" cy="1460579"/>
          </a:xfrm>
          <a:prstGeom prst="rect">
            <a:avLst/>
          </a:prstGeom>
        </p:spPr>
      </p:pic>
      <p:pic>
        <p:nvPicPr>
          <p:cNvPr id="13" name="Picture 12">
            <a:extLst>
              <a:ext uri="{FF2B5EF4-FFF2-40B4-BE49-F238E27FC236}">
                <a16:creationId xmlns:a16="http://schemas.microsoft.com/office/drawing/2014/main" id="{6ABF683E-2CE7-2AAC-CBBE-BB47BB5797FC}"/>
              </a:ext>
            </a:extLst>
          </p:cNvPr>
          <p:cNvPicPr>
            <a:picLocks noChangeAspect="1"/>
          </p:cNvPicPr>
          <p:nvPr/>
        </p:nvPicPr>
        <p:blipFill>
          <a:blip r:embed="rId6"/>
          <a:srcRect t="1" r="1208" b="10477"/>
          <a:stretch/>
        </p:blipFill>
        <p:spPr>
          <a:xfrm>
            <a:off x="917835" y="5348707"/>
            <a:ext cx="5054721" cy="233227"/>
          </a:xfrm>
          <a:prstGeom prst="rect">
            <a:avLst/>
          </a:prstGeom>
        </p:spPr>
      </p:pic>
    </p:spTree>
    <p:extLst>
      <p:ext uri="{BB962C8B-B14F-4D97-AF65-F5344CB8AC3E}">
        <p14:creationId xmlns:p14="http://schemas.microsoft.com/office/powerpoint/2010/main" val="11091134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B9B4F-04C0-8466-F198-49259D22C775}"/>
              </a:ext>
            </a:extLst>
          </p:cNvPr>
          <p:cNvSpPr>
            <a:spLocks noGrp="1"/>
          </p:cNvSpPr>
          <p:nvPr>
            <p:ph type="title"/>
          </p:nvPr>
        </p:nvSpPr>
        <p:spPr>
          <a:xfrm>
            <a:off x="838200" y="243244"/>
            <a:ext cx="10515600" cy="873366"/>
          </a:xfrm>
        </p:spPr>
        <p:txBody>
          <a:bodyPr/>
          <a:lstStyle/>
          <a:p>
            <a:r>
              <a:rPr lang="en-GB" dirty="0"/>
              <a:t>Extra Tips: Annotations</a:t>
            </a:r>
          </a:p>
        </p:txBody>
      </p:sp>
      <p:sp>
        <p:nvSpPr>
          <p:cNvPr id="3" name="Content Placeholder 2">
            <a:extLst>
              <a:ext uri="{FF2B5EF4-FFF2-40B4-BE49-F238E27FC236}">
                <a16:creationId xmlns:a16="http://schemas.microsoft.com/office/drawing/2014/main" id="{D172C905-5EF1-7649-479C-D8BF3641BA7D}"/>
              </a:ext>
            </a:extLst>
          </p:cNvPr>
          <p:cNvSpPr>
            <a:spLocks noGrp="1"/>
          </p:cNvSpPr>
          <p:nvPr>
            <p:ph idx="1"/>
          </p:nvPr>
        </p:nvSpPr>
        <p:spPr>
          <a:xfrm>
            <a:off x="838200" y="1034804"/>
            <a:ext cx="10515600" cy="5619508"/>
          </a:xfrm>
        </p:spPr>
        <p:txBody>
          <a:bodyPr>
            <a:normAutofit/>
          </a:bodyPr>
          <a:lstStyle/>
          <a:p>
            <a:r>
              <a:rPr lang="en-GB" dirty="0"/>
              <a:t>‘sticky notes’ you can attach to a file</a:t>
            </a:r>
          </a:p>
          <a:p>
            <a:pPr lvl="1"/>
            <a:r>
              <a:rPr lang="en-GB" dirty="0"/>
              <a:t>Thoughts for yourself, questions to explore, possible link to literature</a:t>
            </a:r>
          </a:p>
          <a:p>
            <a:pPr lvl="1"/>
            <a:endParaRPr lang="en-GB" dirty="0"/>
          </a:p>
          <a:p>
            <a:pPr lvl="1"/>
            <a:endParaRPr lang="en-GB" dirty="0"/>
          </a:p>
          <a:p>
            <a:pPr lvl="1"/>
            <a:endParaRPr lang="en-GB" dirty="0"/>
          </a:p>
          <a:p>
            <a:pPr lvl="1"/>
            <a:endParaRPr lang="en-GB" dirty="0"/>
          </a:p>
          <a:p>
            <a:pPr lvl="1"/>
            <a:endParaRPr lang="en-GB" dirty="0"/>
          </a:p>
          <a:p>
            <a:pPr lvl="1"/>
            <a:endParaRPr lang="en-GB" dirty="0"/>
          </a:p>
          <a:p>
            <a:pPr lvl="1"/>
            <a:endParaRPr lang="en-GB" dirty="0"/>
          </a:p>
          <a:p>
            <a:pPr marL="457200" lvl="1" indent="0">
              <a:buNone/>
            </a:pPr>
            <a:endParaRPr lang="en-GB" dirty="0"/>
          </a:p>
          <a:p>
            <a:pPr marL="457200" lvl="1" indent="0">
              <a:buNone/>
            </a:pPr>
            <a:endParaRPr lang="en-GB" dirty="0"/>
          </a:p>
          <a:p>
            <a:pPr marL="457200" lvl="1" indent="0">
              <a:buNone/>
            </a:pPr>
            <a:endParaRPr lang="en-GB" dirty="0"/>
          </a:p>
        </p:txBody>
      </p:sp>
      <p:pic>
        <p:nvPicPr>
          <p:cNvPr id="5" name="Picture 4">
            <a:extLst>
              <a:ext uri="{FF2B5EF4-FFF2-40B4-BE49-F238E27FC236}">
                <a16:creationId xmlns:a16="http://schemas.microsoft.com/office/drawing/2014/main" id="{4B98417D-F1B9-1B37-41B0-60984C623E8B}"/>
              </a:ext>
            </a:extLst>
          </p:cNvPr>
          <p:cNvPicPr>
            <a:picLocks noChangeAspect="1"/>
          </p:cNvPicPr>
          <p:nvPr/>
        </p:nvPicPr>
        <p:blipFill>
          <a:blip r:embed="rId3"/>
          <a:srcRect b="14738"/>
          <a:stretch/>
        </p:blipFill>
        <p:spPr>
          <a:xfrm>
            <a:off x="1474201" y="1914190"/>
            <a:ext cx="8688012" cy="3029620"/>
          </a:xfrm>
          <a:prstGeom prst="rect">
            <a:avLst/>
          </a:prstGeom>
        </p:spPr>
      </p:pic>
      <p:sp>
        <p:nvSpPr>
          <p:cNvPr id="6" name="Rectangle 5">
            <a:extLst>
              <a:ext uri="{FF2B5EF4-FFF2-40B4-BE49-F238E27FC236}">
                <a16:creationId xmlns:a16="http://schemas.microsoft.com/office/drawing/2014/main" id="{D9549B5E-7AC2-037D-51D9-24B6B793D866}"/>
              </a:ext>
            </a:extLst>
          </p:cNvPr>
          <p:cNvSpPr/>
          <p:nvPr/>
        </p:nvSpPr>
        <p:spPr>
          <a:xfrm>
            <a:off x="6400801" y="1978385"/>
            <a:ext cx="1180618" cy="94912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n>
                <a:solidFill>
                  <a:srgbClr val="FF0000"/>
                </a:solidFill>
              </a:ln>
              <a:noFill/>
            </a:endParaRPr>
          </a:p>
        </p:txBody>
      </p:sp>
      <p:pic>
        <p:nvPicPr>
          <p:cNvPr id="8" name="Picture 7">
            <a:extLst>
              <a:ext uri="{FF2B5EF4-FFF2-40B4-BE49-F238E27FC236}">
                <a16:creationId xmlns:a16="http://schemas.microsoft.com/office/drawing/2014/main" id="{6CB989E7-91E1-8EB7-2F52-E9D7D01F1F45}"/>
              </a:ext>
            </a:extLst>
          </p:cNvPr>
          <p:cNvPicPr>
            <a:picLocks noChangeAspect="1"/>
          </p:cNvPicPr>
          <p:nvPr/>
        </p:nvPicPr>
        <p:blipFill>
          <a:blip r:embed="rId4"/>
          <a:stretch>
            <a:fillRect/>
          </a:stretch>
        </p:blipFill>
        <p:spPr>
          <a:xfrm>
            <a:off x="1526596" y="4856273"/>
            <a:ext cx="8583223" cy="1933845"/>
          </a:xfrm>
          <a:prstGeom prst="rect">
            <a:avLst/>
          </a:prstGeom>
        </p:spPr>
      </p:pic>
      <p:sp>
        <p:nvSpPr>
          <p:cNvPr id="9" name="Rectangle 8">
            <a:extLst>
              <a:ext uri="{FF2B5EF4-FFF2-40B4-BE49-F238E27FC236}">
                <a16:creationId xmlns:a16="http://schemas.microsoft.com/office/drawing/2014/main" id="{32F1302E-9FC5-C137-2E1F-5AA645642804}"/>
              </a:ext>
            </a:extLst>
          </p:cNvPr>
          <p:cNvSpPr/>
          <p:nvPr/>
        </p:nvSpPr>
        <p:spPr>
          <a:xfrm>
            <a:off x="2745130" y="3369995"/>
            <a:ext cx="518931" cy="42650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n>
                <a:solidFill>
                  <a:srgbClr val="FF0000"/>
                </a:solidFill>
              </a:ln>
              <a:noFill/>
            </a:endParaRPr>
          </a:p>
        </p:txBody>
      </p:sp>
    </p:spTree>
    <p:extLst>
      <p:ext uri="{BB962C8B-B14F-4D97-AF65-F5344CB8AC3E}">
        <p14:creationId xmlns:p14="http://schemas.microsoft.com/office/powerpoint/2010/main" val="16799826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5E5D47-7109-185C-51B3-67970E0FD73C}"/>
              </a:ext>
            </a:extLst>
          </p:cNvPr>
          <p:cNvSpPr>
            <a:spLocks noGrp="1"/>
          </p:cNvSpPr>
          <p:nvPr>
            <p:ph type="title"/>
          </p:nvPr>
        </p:nvSpPr>
        <p:spPr>
          <a:xfrm>
            <a:off x="622317" y="404308"/>
            <a:ext cx="7488013" cy="1272143"/>
          </a:xfrm>
        </p:spPr>
        <p:txBody>
          <a:bodyPr/>
          <a:lstStyle/>
          <a:p>
            <a:r>
              <a:rPr lang="en-GB" dirty="0"/>
              <a:t>Working with Memos</a:t>
            </a:r>
          </a:p>
        </p:txBody>
      </p:sp>
      <p:sp>
        <p:nvSpPr>
          <p:cNvPr id="3" name="Content Placeholder 2">
            <a:extLst>
              <a:ext uri="{FF2B5EF4-FFF2-40B4-BE49-F238E27FC236}">
                <a16:creationId xmlns:a16="http://schemas.microsoft.com/office/drawing/2014/main" id="{42C59DA6-09DD-3B8D-4C08-16193F366DE7}"/>
              </a:ext>
            </a:extLst>
          </p:cNvPr>
          <p:cNvSpPr>
            <a:spLocks noGrp="1"/>
          </p:cNvSpPr>
          <p:nvPr>
            <p:ph idx="1"/>
          </p:nvPr>
        </p:nvSpPr>
        <p:spPr>
          <a:xfrm>
            <a:off x="622317" y="1414807"/>
            <a:ext cx="10515600" cy="4910841"/>
          </a:xfrm>
        </p:spPr>
        <p:txBody>
          <a:bodyPr>
            <a:normAutofit/>
          </a:bodyPr>
          <a:lstStyle/>
          <a:p>
            <a:r>
              <a:rPr lang="en-GB" sz="2800" b="1" dirty="0"/>
              <a:t>How will you approach your coding? </a:t>
            </a:r>
          </a:p>
          <a:p>
            <a:pPr lvl="1"/>
            <a:r>
              <a:rPr lang="en-GB" sz="2000" dirty="0"/>
              <a:t>Research questions – what are areas you know you want to focus on</a:t>
            </a:r>
          </a:p>
          <a:p>
            <a:pPr lvl="1"/>
            <a:endParaRPr lang="en-GB" sz="2000" dirty="0"/>
          </a:p>
          <a:p>
            <a:r>
              <a:rPr lang="en-GB" sz="2800" b="1" dirty="0"/>
              <a:t>What are your codes? </a:t>
            </a:r>
          </a:p>
          <a:p>
            <a:pPr lvl="1"/>
            <a:r>
              <a:rPr lang="en-GB" sz="2000" dirty="0"/>
              <a:t>Keep a running list, inc. logic of the code as you made it (did you start adding something at a certain point that wasn’t ‘in’ that code before?)</a:t>
            </a:r>
          </a:p>
          <a:p>
            <a:pPr lvl="1"/>
            <a:r>
              <a:rPr lang="en-GB" sz="2000" dirty="0"/>
              <a:t>Do all codes apply to all interviews/files? </a:t>
            </a:r>
          </a:p>
          <a:p>
            <a:pPr lvl="1"/>
            <a:endParaRPr lang="en-GB" sz="2000" dirty="0"/>
          </a:p>
          <a:p>
            <a:r>
              <a:rPr lang="en-GB" sz="2800" b="1" dirty="0"/>
              <a:t>Are you running queries? </a:t>
            </a:r>
          </a:p>
          <a:p>
            <a:pPr lvl="1"/>
            <a:r>
              <a:rPr lang="en-GB" sz="2000" dirty="0"/>
              <a:t>Keep a list of the queries you’ve run, etc.</a:t>
            </a:r>
          </a:p>
          <a:p>
            <a:pPr lvl="1"/>
            <a:endParaRPr lang="en-GB" sz="2000" dirty="0"/>
          </a:p>
          <a:p>
            <a:r>
              <a:rPr lang="en-GB" sz="2800" dirty="0"/>
              <a:t>Fieldnotes, reflections on readings, frustrations with the dataset</a:t>
            </a:r>
          </a:p>
          <a:p>
            <a:pPr lvl="1"/>
            <a:r>
              <a:rPr lang="en-GB" sz="2000" dirty="0"/>
              <a:t>You </a:t>
            </a:r>
            <a:r>
              <a:rPr lang="en-GB" sz="2000" b="1" dirty="0"/>
              <a:t>can </a:t>
            </a:r>
            <a:r>
              <a:rPr lang="en-GB" sz="2000" dirty="0"/>
              <a:t>code your memos, and link to your transcripts</a:t>
            </a:r>
          </a:p>
        </p:txBody>
      </p:sp>
    </p:spTree>
    <p:extLst>
      <p:ext uri="{BB962C8B-B14F-4D97-AF65-F5344CB8AC3E}">
        <p14:creationId xmlns:p14="http://schemas.microsoft.com/office/powerpoint/2010/main" val="10027515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8B695-187E-FB6E-DF48-22F5C9832DFF}"/>
              </a:ext>
            </a:extLst>
          </p:cNvPr>
          <p:cNvSpPr>
            <a:spLocks noGrp="1"/>
          </p:cNvSpPr>
          <p:nvPr>
            <p:ph type="title"/>
          </p:nvPr>
        </p:nvSpPr>
        <p:spPr/>
        <p:txBody>
          <a:bodyPr/>
          <a:lstStyle/>
          <a:p>
            <a:r>
              <a:rPr lang="en-GB" dirty="0"/>
              <a:t>Tips for memos: </a:t>
            </a:r>
          </a:p>
        </p:txBody>
      </p:sp>
      <p:sp>
        <p:nvSpPr>
          <p:cNvPr id="3" name="Content Placeholder 2">
            <a:extLst>
              <a:ext uri="{FF2B5EF4-FFF2-40B4-BE49-F238E27FC236}">
                <a16:creationId xmlns:a16="http://schemas.microsoft.com/office/drawing/2014/main" id="{FE6E3481-A94B-7022-B76F-B23BF46083F8}"/>
              </a:ext>
            </a:extLst>
          </p:cNvPr>
          <p:cNvSpPr>
            <a:spLocks noGrp="1"/>
          </p:cNvSpPr>
          <p:nvPr>
            <p:ph idx="1"/>
          </p:nvPr>
        </p:nvSpPr>
        <p:spPr>
          <a:xfrm>
            <a:off x="550500" y="1499572"/>
            <a:ext cx="10515600" cy="4795094"/>
          </a:xfrm>
        </p:spPr>
        <p:txBody>
          <a:bodyPr>
            <a:normAutofit/>
          </a:bodyPr>
          <a:lstStyle/>
          <a:p>
            <a:pPr marL="342900" marR="0" lvl="0" indent="-342900" algn="just">
              <a:lnSpc>
                <a:spcPct val="107000"/>
              </a:lnSpc>
              <a:spcBef>
                <a:spcPts val="0"/>
              </a:spcBef>
              <a:spcAft>
                <a:spcPts val="0"/>
              </a:spcAft>
              <a:buFont typeface="Calibri" panose="020F0502020204030204" pitchFamily="34" charset="0"/>
              <a:buChar char="-"/>
            </a:pPr>
            <a:r>
              <a:rPr lang="en-GB" sz="2800" kern="100" dirty="0">
                <a:effectLst/>
                <a:latin typeface="Calibri" panose="020F0502020204030204" pitchFamily="34" charset="0"/>
                <a:ea typeface="Calibri" panose="020F0502020204030204" pitchFamily="34" charset="0"/>
                <a:cs typeface="Calibri" panose="020F0502020204030204" pitchFamily="34" charset="0"/>
              </a:rPr>
              <a:t>You can either ‘import’ memos or create them within NVivo. It’s good practice to </a:t>
            </a:r>
            <a:r>
              <a:rPr lang="en-GB" sz="2800" i="1" kern="100" dirty="0">
                <a:effectLst/>
                <a:latin typeface="Calibri" panose="020F0502020204030204" pitchFamily="34" charset="0"/>
                <a:ea typeface="Calibri" panose="020F0502020204030204" pitchFamily="34" charset="0"/>
                <a:cs typeface="Calibri" panose="020F0502020204030204" pitchFamily="34" charset="0"/>
              </a:rPr>
              <a:t>time/date stamp</a:t>
            </a:r>
            <a:r>
              <a:rPr lang="en-GB" sz="2800" kern="100" dirty="0">
                <a:effectLst/>
                <a:latin typeface="Calibri" panose="020F0502020204030204" pitchFamily="34" charset="0"/>
                <a:ea typeface="Calibri" panose="020F0502020204030204" pitchFamily="34" charset="0"/>
                <a:cs typeface="Calibri" panose="020F0502020204030204" pitchFamily="34" charset="0"/>
              </a:rPr>
              <a:t> your memos </a:t>
            </a:r>
          </a:p>
          <a:p>
            <a:pPr marL="800100" lvl="1" indent="-342900" algn="just">
              <a:lnSpc>
                <a:spcPct val="107000"/>
              </a:lnSpc>
              <a:spcBef>
                <a:spcPts val="0"/>
              </a:spcBef>
              <a:buFont typeface="Calibri" panose="020F0502020204030204" pitchFamily="34" charset="0"/>
              <a:buChar char="-"/>
            </a:pPr>
            <a:r>
              <a:rPr lang="en-GB" sz="2000" kern="100" dirty="0">
                <a:effectLst/>
                <a:latin typeface="Calibri" panose="020F0502020204030204" pitchFamily="34" charset="0"/>
                <a:ea typeface="Calibri" panose="020F0502020204030204" pitchFamily="34" charset="0"/>
                <a:cs typeface="Calibri" panose="020F0502020204030204" pitchFamily="34" charset="0"/>
              </a:rPr>
              <a:t> </a:t>
            </a:r>
            <a:r>
              <a:rPr lang="en-GB" sz="2000" i="1" kern="100" dirty="0">
                <a:effectLst/>
                <a:latin typeface="Calibri" panose="020F0502020204030204" pitchFamily="34" charset="0"/>
                <a:ea typeface="Calibri" panose="020F0502020204030204" pitchFamily="34" charset="0"/>
                <a:cs typeface="Calibri" panose="020F0502020204030204" pitchFamily="34" charset="0"/>
              </a:rPr>
              <a:t>Ctrl + shift + T</a:t>
            </a:r>
            <a:r>
              <a:rPr lang="en-GB" sz="2000" kern="100" dirty="0">
                <a:effectLst/>
                <a:latin typeface="Calibri" panose="020F0502020204030204" pitchFamily="34" charset="0"/>
                <a:ea typeface="Calibri" panose="020F0502020204030204" pitchFamily="34" charset="0"/>
                <a:cs typeface="Calibri" panose="020F0502020204030204" pitchFamily="34" charset="0"/>
              </a:rPr>
              <a:t> </a:t>
            </a:r>
            <a:r>
              <a:rPr lang="en-GB" sz="2000" kern="100" dirty="0">
                <a:effectLst/>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 Timestamp</a:t>
            </a:r>
            <a:endParaRPr lang="en-GB"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0"/>
              </a:spcAft>
              <a:buFont typeface="Calibri" panose="020F0502020204030204" pitchFamily="34" charset="0"/>
              <a:buChar char="-"/>
            </a:pPr>
            <a:r>
              <a:rPr lang="en-GB" sz="2800" kern="100" dirty="0">
                <a:effectLst/>
                <a:latin typeface="Calibri" panose="020F0502020204030204" pitchFamily="34" charset="0"/>
                <a:ea typeface="Calibri" panose="020F0502020204030204" pitchFamily="34" charset="0"/>
                <a:cs typeface="Calibri" panose="020F0502020204030204" pitchFamily="34" charset="0"/>
              </a:rPr>
              <a:t>You can link your memo directly to other content within your project </a:t>
            </a:r>
          </a:p>
          <a:p>
            <a:pPr marL="800100" lvl="1" indent="-342900" algn="just">
              <a:lnSpc>
                <a:spcPct val="107000"/>
              </a:lnSpc>
              <a:spcBef>
                <a:spcPts val="0"/>
              </a:spcBef>
              <a:buFont typeface="Calibri" panose="020F0502020204030204" pitchFamily="34" charset="0"/>
              <a:buChar char="-"/>
            </a:pPr>
            <a:r>
              <a:rPr lang="en-GB" sz="2000" kern="100" dirty="0">
                <a:effectLst/>
                <a:latin typeface="Calibri" panose="020F0502020204030204" pitchFamily="34" charset="0"/>
                <a:ea typeface="Calibri" panose="020F0502020204030204" pitchFamily="34" charset="0"/>
                <a:cs typeface="Calibri" panose="020F0502020204030204" pitchFamily="34" charset="0"/>
              </a:rPr>
              <a:t>Right clicking &gt; Links &gt; See-Also Links &gt; New See-Also Link</a:t>
            </a:r>
            <a:endParaRPr lang="en-GB"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800"/>
              </a:spcAft>
              <a:buFont typeface="Calibri" panose="020F0502020204030204" pitchFamily="34" charset="0"/>
              <a:buChar char="-"/>
            </a:pPr>
            <a:r>
              <a:rPr lang="en-GB" sz="2800" kern="100" dirty="0">
                <a:effectLst/>
                <a:latin typeface="Calibri" panose="020F0502020204030204" pitchFamily="34" charset="0"/>
                <a:ea typeface="Calibri" panose="020F0502020204030204" pitchFamily="34" charset="0"/>
                <a:cs typeface="Times New Roman" panose="02020603050405020304" pitchFamily="18" charset="0"/>
              </a:rPr>
              <a:t>If you want to make changes inside of text files (memos – interviews), you need to toggle on the ‘edit’ feature within the detail view toolbar. </a:t>
            </a:r>
          </a:p>
          <a:p>
            <a:endParaRPr lang="en-GB" dirty="0"/>
          </a:p>
        </p:txBody>
      </p:sp>
      <p:pic>
        <p:nvPicPr>
          <p:cNvPr id="5" name="Picture 4">
            <a:extLst>
              <a:ext uri="{FF2B5EF4-FFF2-40B4-BE49-F238E27FC236}">
                <a16:creationId xmlns:a16="http://schemas.microsoft.com/office/drawing/2014/main" id="{C0A91FC4-7641-CDE7-C406-79A3F7B22E8F}"/>
              </a:ext>
            </a:extLst>
          </p:cNvPr>
          <p:cNvPicPr>
            <a:picLocks noChangeAspect="1"/>
          </p:cNvPicPr>
          <p:nvPr/>
        </p:nvPicPr>
        <p:blipFill>
          <a:blip r:embed="rId2"/>
          <a:stretch>
            <a:fillRect/>
          </a:stretch>
        </p:blipFill>
        <p:spPr>
          <a:xfrm>
            <a:off x="3866241" y="4930557"/>
            <a:ext cx="6982799" cy="1562318"/>
          </a:xfrm>
          <a:prstGeom prst="rect">
            <a:avLst/>
          </a:prstGeom>
        </p:spPr>
      </p:pic>
    </p:spTree>
    <p:extLst>
      <p:ext uri="{BB962C8B-B14F-4D97-AF65-F5344CB8AC3E}">
        <p14:creationId xmlns:p14="http://schemas.microsoft.com/office/powerpoint/2010/main" val="3072777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3713748-71BC-4C21-B60E-EC10B0744452}"/>
              </a:ext>
            </a:extLst>
          </p:cNvPr>
          <p:cNvSpPr>
            <a:spLocks noGrp="1"/>
          </p:cNvSpPr>
          <p:nvPr>
            <p:ph type="sldNum" sz="quarter" idx="12"/>
          </p:nvPr>
        </p:nvSpPr>
        <p:spPr/>
        <p:txBody>
          <a:bodyPr/>
          <a:lstStyle/>
          <a:p>
            <a:pPr defTabSz="1219170">
              <a:buClr>
                <a:srgbClr val="000000"/>
              </a:buClr>
            </a:pPr>
            <a:fld id="{1C485C26-B9B2-4E3E-BE8A-D4481638AD7E}" type="slidenum">
              <a:rPr lang="en-GB" kern="0"/>
              <a:pPr defTabSz="1219170">
                <a:buClr>
                  <a:srgbClr val="000000"/>
                </a:buClr>
              </a:pPr>
              <a:t>27</a:t>
            </a:fld>
            <a:endParaRPr lang="en-GB" kern="0"/>
          </a:p>
        </p:txBody>
      </p:sp>
      <p:sp>
        <p:nvSpPr>
          <p:cNvPr id="6" name="Title 5">
            <a:extLst>
              <a:ext uri="{FF2B5EF4-FFF2-40B4-BE49-F238E27FC236}">
                <a16:creationId xmlns:a16="http://schemas.microsoft.com/office/drawing/2014/main" id="{E8A51F03-4468-32ED-1D07-B63F784EBBD6}"/>
              </a:ext>
            </a:extLst>
          </p:cNvPr>
          <p:cNvSpPr>
            <a:spLocks noGrp="1"/>
          </p:cNvSpPr>
          <p:nvPr>
            <p:ph type="title"/>
          </p:nvPr>
        </p:nvSpPr>
        <p:spPr>
          <a:xfrm>
            <a:off x="1125900" y="563334"/>
            <a:ext cx="4302400" cy="666786"/>
          </a:xfrm>
        </p:spPr>
        <p:txBody>
          <a:bodyPr/>
          <a:lstStyle/>
          <a:p>
            <a:r>
              <a:rPr lang="en-GB" dirty="0"/>
              <a:t>Final mentions </a:t>
            </a:r>
          </a:p>
        </p:txBody>
      </p:sp>
      <p:sp>
        <p:nvSpPr>
          <p:cNvPr id="8" name="Content Placeholder 7">
            <a:extLst>
              <a:ext uri="{FF2B5EF4-FFF2-40B4-BE49-F238E27FC236}">
                <a16:creationId xmlns:a16="http://schemas.microsoft.com/office/drawing/2014/main" id="{28FEBA90-295B-C69A-6D26-9A222D35E298}"/>
              </a:ext>
            </a:extLst>
          </p:cNvPr>
          <p:cNvSpPr>
            <a:spLocks noGrp="1"/>
          </p:cNvSpPr>
          <p:nvPr>
            <p:ph idx="1"/>
          </p:nvPr>
        </p:nvSpPr>
        <p:spPr>
          <a:xfrm>
            <a:off x="164343" y="1555450"/>
            <a:ext cx="4193345" cy="3539430"/>
          </a:xfrm>
        </p:spPr>
        <p:txBody>
          <a:bodyPr/>
          <a:lstStyle/>
          <a:p>
            <a:pPr marL="495287" indent="-342900">
              <a:buFont typeface="Arial" panose="020B0604020202020204" pitchFamily="34" charset="0"/>
              <a:buChar char="•"/>
            </a:pPr>
            <a:r>
              <a:rPr lang="en-GB" sz="2800" dirty="0"/>
              <a:t>Resources file on </a:t>
            </a:r>
            <a:r>
              <a:rPr lang="en-GB" sz="2800" dirty="0" err="1"/>
              <a:t>Nvivo</a:t>
            </a:r>
            <a:r>
              <a:rPr lang="en-GB" sz="2800" dirty="0"/>
              <a:t>: especially Bazeley online materials </a:t>
            </a:r>
          </a:p>
          <a:p>
            <a:pPr marL="495287" indent="-342900">
              <a:buFont typeface="Arial" panose="020B0604020202020204" pitchFamily="34" charset="0"/>
              <a:buChar char="•"/>
            </a:pPr>
            <a:endParaRPr lang="en-GB" sz="2800" dirty="0"/>
          </a:p>
          <a:p>
            <a:pPr marL="495287" indent="-342900">
              <a:buFont typeface="Arial" panose="020B0604020202020204" pitchFamily="34" charset="0"/>
              <a:buChar char="•"/>
            </a:pPr>
            <a:r>
              <a:rPr lang="en-GB" sz="2800" dirty="0"/>
              <a:t>Evolving set of open access materials: </a:t>
            </a:r>
          </a:p>
          <a:p>
            <a:pPr marL="495287" indent="-342900">
              <a:buFont typeface="Arial" panose="020B0604020202020204" pitchFamily="34" charset="0"/>
              <a:buChar char="•"/>
            </a:pPr>
            <a:endParaRPr lang="en-GB" sz="2800" dirty="0"/>
          </a:p>
          <a:p>
            <a:pPr marL="495287" indent="-342900">
              <a:buFont typeface="Arial" panose="020B0604020202020204" pitchFamily="34" charset="0"/>
              <a:buChar char="•"/>
            </a:pPr>
            <a:r>
              <a:rPr lang="en-GB" sz="2800" dirty="0">
                <a:hlinkClick r:id="rId2"/>
              </a:rPr>
              <a:t>https://sgsssonline.github.io/nvivo-guidance/Getting%20started.html</a:t>
            </a:r>
            <a:endParaRPr lang="en-GB" sz="2800" dirty="0"/>
          </a:p>
          <a:p>
            <a:pPr marL="495287" indent="-342900">
              <a:buFont typeface="Arial" panose="020B0604020202020204" pitchFamily="34" charset="0"/>
              <a:buChar char="•"/>
            </a:pPr>
            <a:endParaRPr lang="en-GB" sz="2800" dirty="0"/>
          </a:p>
          <a:p>
            <a:endParaRPr lang="en-GB" sz="2800" dirty="0"/>
          </a:p>
        </p:txBody>
      </p:sp>
      <p:pic>
        <p:nvPicPr>
          <p:cNvPr id="3" name="Picture 2" descr="A screenshot of a computer&#10;&#10;AI-generated content may be incorrect.">
            <a:extLst>
              <a:ext uri="{FF2B5EF4-FFF2-40B4-BE49-F238E27FC236}">
                <a16:creationId xmlns:a16="http://schemas.microsoft.com/office/drawing/2014/main" id="{8473EA46-1BBB-2A86-15AF-6096D1958E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19600" y="896727"/>
            <a:ext cx="7772400" cy="6129545"/>
          </a:xfrm>
          <a:prstGeom prst="rect">
            <a:avLst/>
          </a:prstGeom>
        </p:spPr>
      </p:pic>
    </p:spTree>
    <p:extLst>
      <p:ext uri="{BB962C8B-B14F-4D97-AF65-F5344CB8AC3E}">
        <p14:creationId xmlns:p14="http://schemas.microsoft.com/office/powerpoint/2010/main" val="18935148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00000000-1234-1234-1234-123412341234}" type="slidenum">
              <a:rPr lang="en" smtClean="0"/>
              <a:pPr/>
              <a:t>28</a:t>
            </a:fld>
            <a:endParaRPr lang="en"/>
          </a:p>
        </p:txBody>
      </p:sp>
      <p:sp>
        <p:nvSpPr>
          <p:cNvPr id="2" name="TextBox 1">
            <a:extLst>
              <a:ext uri="{FF2B5EF4-FFF2-40B4-BE49-F238E27FC236}">
                <a16:creationId xmlns:a16="http://schemas.microsoft.com/office/drawing/2014/main" id="{5F029C73-DDDF-9132-7A93-C54793891C37}"/>
              </a:ext>
            </a:extLst>
          </p:cNvPr>
          <p:cNvSpPr txBox="1"/>
          <p:nvPr/>
        </p:nvSpPr>
        <p:spPr>
          <a:xfrm>
            <a:off x="1497496" y="781878"/>
            <a:ext cx="9621078" cy="2554545"/>
          </a:xfrm>
          <a:prstGeom prst="rect">
            <a:avLst/>
          </a:prstGeom>
          <a:noFill/>
        </p:spPr>
        <p:txBody>
          <a:bodyPr wrap="square" rtlCol="0">
            <a:spAutoFit/>
          </a:bodyPr>
          <a:lstStyle/>
          <a:p>
            <a:r>
              <a:rPr lang="en-US" sz="3200" dirty="0">
                <a:solidFill>
                  <a:schemeClr val="bg1"/>
                </a:solidFill>
              </a:rPr>
              <a:t>Thank you to </a:t>
            </a:r>
          </a:p>
          <a:p>
            <a:r>
              <a:rPr lang="en-US" sz="3200" dirty="0">
                <a:solidFill>
                  <a:schemeClr val="bg1"/>
                </a:solidFill>
              </a:rPr>
              <a:t>Alasdair Stewart</a:t>
            </a:r>
          </a:p>
          <a:p>
            <a:r>
              <a:rPr lang="en-US" sz="3200" dirty="0">
                <a:solidFill>
                  <a:schemeClr val="bg1"/>
                </a:solidFill>
              </a:rPr>
              <a:t>Kathryn Fredricks</a:t>
            </a:r>
          </a:p>
          <a:p>
            <a:r>
              <a:rPr lang="en-US" sz="3200" dirty="0">
                <a:solidFill>
                  <a:schemeClr val="bg1"/>
                </a:solidFill>
              </a:rPr>
              <a:t>Rachel Shanks</a:t>
            </a:r>
          </a:p>
          <a:p>
            <a:r>
              <a:rPr lang="en-US" sz="3200" dirty="0">
                <a:solidFill>
                  <a:schemeClr val="bg1"/>
                </a:solidFill>
              </a:rPr>
              <a:t>For help developing material and feedback </a:t>
            </a:r>
            <a:endParaRPr lang="en-US" sz="2000" dirty="0">
              <a:solidFill>
                <a:schemeClr val="bg1"/>
              </a:solidFill>
            </a:endParaRPr>
          </a:p>
        </p:txBody>
      </p:sp>
      <p:sp>
        <p:nvSpPr>
          <p:cNvPr id="3" name="TextBox 2">
            <a:extLst>
              <a:ext uri="{FF2B5EF4-FFF2-40B4-BE49-F238E27FC236}">
                <a16:creationId xmlns:a16="http://schemas.microsoft.com/office/drawing/2014/main" id="{3EC83176-EAE7-46D3-6CDE-466FD2B8C1C8}"/>
              </a:ext>
            </a:extLst>
          </p:cNvPr>
          <p:cNvSpPr txBox="1"/>
          <p:nvPr/>
        </p:nvSpPr>
        <p:spPr>
          <a:xfrm>
            <a:off x="1614488" y="4057650"/>
            <a:ext cx="9229725" cy="2062103"/>
          </a:xfrm>
          <a:prstGeom prst="rect">
            <a:avLst/>
          </a:prstGeom>
          <a:noFill/>
        </p:spPr>
        <p:txBody>
          <a:bodyPr wrap="square" rtlCol="0">
            <a:spAutoFit/>
          </a:bodyPr>
          <a:lstStyle/>
          <a:p>
            <a:endParaRPr lang="en-US" sz="3200" dirty="0"/>
          </a:p>
          <a:p>
            <a:r>
              <a:rPr lang="en-US" sz="3200" dirty="0">
                <a:hlinkClick r:id="rId3"/>
              </a:rPr>
              <a:t>https://sgsssonline.github.io/nvivo-guidance/</a:t>
            </a:r>
            <a:endParaRPr lang="en-US" sz="3200" dirty="0"/>
          </a:p>
          <a:p>
            <a:endParaRPr lang="en-US" sz="3200" dirty="0"/>
          </a:p>
          <a:p>
            <a:r>
              <a:rPr lang="en-US" sz="3200" dirty="0"/>
              <a:t> </a:t>
            </a:r>
          </a:p>
        </p:txBody>
      </p:sp>
    </p:spTree>
    <p:extLst>
      <p:ext uri="{BB962C8B-B14F-4D97-AF65-F5344CB8AC3E}">
        <p14:creationId xmlns:p14="http://schemas.microsoft.com/office/powerpoint/2010/main" val="1207380785"/>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GSSS Slide Template 2023" id="{E0F4A9F1-383D-4E28-B2BA-1EFE539CACB3}" vid="{C714B4C9-5CF6-4C56-AB51-5F0DF731443D}"/>
    </a:ext>
  </a:extLst>
</a:theme>
</file>

<file path=ppt/theme/theme2.xml><?xml version="1.0" encoding="utf-8"?>
<a:theme xmlns:a="http://schemas.openxmlformats.org/drawingml/2006/main" name="Fidele template">
  <a:themeElements>
    <a:clrScheme name="SGSSS">
      <a:dk1>
        <a:srgbClr val="001D00"/>
      </a:dk1>
      <a:lt1>
        <a:srgbClr val="FCFAF7"/>
      </a:lt1>
      <a:dk2>
        <a:srgbClr val="001D00"/>
      </a:dk2>
      <a:lt2>
        <a:srgbClr val="FCFAF7"/>
      </a:lt2>
      <a:accent1>
        <a:srgbClr val="A8228E"/>
      </a:accent1>
      <a:accent2>
        <a:srgbClr val="E59F71"/>
      </a:accent2>
      <a:accent3>
        <a:srgbClr val="4F9E3F"/>
      </a:accent3>
      <a:accent4>
        <a:srgbClr val="57A7B5"/>
      </a:accent4>
      <a:accent5>
        <a:srgbClr val="772B90"/>
      </a:accent5>
      <a:accent6>
        <a:srgbClr val="963334"/>
      </a:accent6>
      <a:hlink>
        <a:srgbClr val="274690"/>
      </a:hlink>
      <a:folHlink>
        <a:srgbClr val="6611CC"/>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GSSS Slide Template 2023" id="{E0F4A9F1-383D-4E28-B2BA-1EFE539CACB3}" vid="{23A88521-5930-4B0D-ABFA-2B5BE6B2E01B}"/>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82284423-04fc-42c6-b7a4-bf8ab8b6b7ca" xsi:nil="true"/>
    <lcf76f155ced4ddcb4097134ff3c332f xmlns="690fd7a5-3318-45ee-b9a6-2de44dd7e3b8">
      <Terms xmlns="http://schemas.microsoft.com/office/infopath/2007/PartnerControls"/>
    </lcf76f155ced4ddcb4097134ff3c332f>
    <_x0023_ xmlns="690fd7a5-3318-45ee-b9a6-2de44dd7e3b8" xsi:nil="true"/>
    <Cohort xmlns="690fd7a5-3318-45ee-b9a6-2de44dd7e3b8"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B7B8BF0644C4E47862514133CECCC9E" ma:contentTypeVersion="20" ma:contentTypeDescription="Create a new document." ma:contentTypeScope="" ma:versionID="8fa6b1d07bbd252afa0cb8fc94e275a1">
  <xsd:schema xmlns:xsd="http://www.w3.org/2001/XMLSchema" xmlns:xs="http://www.w3.org/2001/XMLSchema" xmlns:p="http://schemas.microsoft.com/office/2006/metadata/properties" xmlns:ns2="690fd7a5-3318-45ee-b9a6-2de44dd7e3b8" xmlns:ns3="82284423-04fc-42c6-b7a4-bf8ab8b6b7ca" targetNamespace="http://schemas.microsoft.com/office/2006/metadata/properties" ma:root="true" ma:fieldsID="8583855fe14e87a5fa6feebcdd648841" ns2:_="" ns3:_="">
    <xsd:import namespace="690fd7a5-3318-45ee-b9a6-2de44dd7e3b8"/>
    <xsd:import namespace="82284423-04fc-42c6-b7a4-bf8ab8b6b7ca"/>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DateTaken" minOccurs="0"/>
                <xsd:element ref="ns2:MediaServiceOCR" minOccurs="0"/>
                <xsd:element ref="ns2:MediaServiceAutoKeyPoints" minOccurs="0"/>
                <xsd:element ref="ns2:MediaServiceKeyPoint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_x0023_" minOccurs="0"/>
                <xsd:element ref="ns2:Cohor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90fd7a5-3318-45ee-b9a6-2de44dd7e3b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DateTaken" ma:index="15" nillable="true" ma:displayName="MediaServiceDateTaken" ma:hidden="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d54eff52-6b6d-4e5f-a3b0-187f185b1db6"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_x0023_" ma:index="26" nillable="true" ma:displayName="#" ma:format="Dropdown" ma:internalName="_x0023_" ma:percentage="FALSE">
      <xsd:simpleType>
        <xsd:restriction base="dms:Number"/>
      </xsd:simpleType>
    </xsd:element>
    <xsd:element name="Cohort" ma:index="27" nillable="true" ma:displayName="Cohort" ma:format="Dropdown" ma:internalName="Cohort">
      <xsd:simpleType>
        <xsd:union memberTypes="dms:Text">
          <xsd:simpleType>
            <xsd:restriction base="dms:Choice">
              <xsd:enumeration value="DTP2 Cohort 1"/>
              <xsd:enumeration value="DTP1 Cohort 7"/>
              <xsd:enumeration value="DTP1 Cohort 6"/>
            </xsd:restriction>
          </xsd:simpleType>
        </xsd:union>
      </xsd:simpleType>
    </xsd:element>
  </xsd:schema>
  <xsd:schema xmlns:xsd="http://www.w3.org/2001/XMLSchema" xmlns:xs="http://www.w3.org/2001/XMLSchema" xmlns:dms="http://schemas.microsoft.com/office/2006/documentManagement/types" xmlns:pc="http://schemas.microsoft.com/office/infopath/2007/PartnerControls" targetNamespace="82284423-04fc-42c6-b7a4-bf8ab8b6b7ca"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1a2b7143-059a-443d-aa25-084ce09ea585}" ma:internalName="TaxCatchAll" ma:showField="CatchAllData" ma:web="82284423-04fc-42c6-b7a4-bf8ab8b6b7c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1A31CDB-9D5C-410A-AFCA-B37AA480F1A7}">
  <ds:schemaRefs>
    <ds:schemaRef ds:uri="http://schemas.microsoft.com/office/2006/documentManagement/types"/>
    <ds:schemaRef ds:uri="http://purl.org/dc/dcmitype/"/>
    <ds:schemaRef ds:uri="http://purl.org/dc/terms/"/>
    <ds:schemaRef ds:uri="690fd7a5-3318-45ee-b9a6-2de44dd7e3b8"/>
    <ds:schemaRef ds:uri="http://schemas.microsoft.com/office/2006/metadata/properties"/>
    <ds:schemaRef ds:uri="http://schemas.openxmlformats.org/package/2006/metadata/core-properties"/>
    <ds:schemaRef ds:uri="http://schemas.microsoft.com/office/infopath/2007/PartnerControls"/>
    <ds:schemaRef ds:uri="82284423-04fc-42c6-b7a4-bf8ab8b6b7ca"/>
    <ds:schemaRef ds:uri="http://www.w3.org/XML/1998/namespace"/>
    <ds:schemaRef ds:uri="http://purl.org/dc/elements/1.1/"/>
  </ds:schemaRefs>
</ds:datastoreItem>
</file>

<file path=customXml/itemProps2.xml><?xml version="1.0" encoding="utf-8"?>
<ds:datastoreItem xmlns:ds="http://schemas.openxmlformats.org/officeDocument/2006/customXml" ds:itemID="{FD9DCDBB-24DF-4729-9471-E8585D2A334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90fd7a5-3318-45ee-b9a6-2de44dd7e3b8"/>
    <ds:schemaRef ds:uri="82284423-04fc-42c6-b7a4-bf8ab8b6b7c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9D74BCC-58EB-479D-B283-24D2D51DF58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1_Office Theme</Template>
  <TotalTime>15229</TotalTime>
  <Words>3107</Words>
  <Application>Microsoft Macintosh PowerPoint</Application>
  <PresentationFormat>Widescreen</PresentationFormat>
  <Paragraphs>254</Paragraphs>
  <Slides>28</Slides>
  <Notes>12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28</vt:i4>
      </vt:variant>
    </vt:vector>
  </HeadingPairs>
  <TitlesOfParts>
    <vt:vector size="36" baseType="lpstr">
      <vt:lpstr>Arial</vt:lpstr>
      <vt:lpstr>Calibri</vt:lpstr>
      <vt:lpstr>Calibri Light</vt:lpstr>
      <vt:lpstr>Helvetica</vt:lpstr>
      <vt:lpstr>Inter</vt:lpstr>
      <vt:lpstr>Wingdings</vt:lpstr>
      <vt:lpstr>1_Office Theme</vt:lpstr>
      <vt:lpstr>Fidele template</vt:lpstr>
      <vt:lpstr>  Introduction to Qualitative Analysis  Projects in Nvivo   Katy Keenan, Dr Alasdair Stewart , Dalia Avello Vega,  with material from Dr Kathryn Fredricks </vt:lpstr>
      <vt:lpstr>The aims of this workshop </vt:lpstr>
      <vt:lpstr>Workshop Materials </vt:lpstr>
      <vt:lpstr>Over to you </vt:lpstr>
      <vt:lpstr>How can CAQDAS / Nvivo help you in your PhD? </vt:lpstr>
      <vt:lpstr>PART 1: Navigating Nvivo  </vt:lpstr>
      <vt:lpstr>Nvivo versions and compatibility The annoying parts </vt:lpstr>
      <vt:lpstr>NVivo Guides</vt:lpstr>
      <vt:lpstr>Tour of Nvivo using the sample project </vt:lpstr>
      <vt:lpstr>PowerPoint Presentation</vt:lpstr>
      <vt:lpstr>Part 2: Dataset</vt:lpstr>
      <vt:lpstr>Qualitative Election Study of Britain</vt:lpstr>
      <vt:lpstr>PowerPoint Presentation</vt:lpstr>
      <vt:lpstr>2016 telephone interviews  7 questions that were sent in advance </vt:lpstr>
      <vt:lpstr>PART 2: Setting up a new project </vt:lpstr>
      <vt:lpstr>Many ways to do a single task</vt:lpstr>
      <vt:lpstr>Organizing files and folders</vt:lpstr>
      <vt:lpstr>Part 3: Coding</vt:lpstr>
      <vt:lpstr>Getting on with coding</vt:lpstr>
      <vt:lpstr>Coding</vt:lpstr>
      <vt:lpstr>PowerPoint Presentation</vt:lpstr>
      <vt:lpstr>Coding Hierarchies </vt:lpstr>
      <vt:lpstr>PowerPoint Presentation</vt:lpstr>
      <vt:lpstr>Extra Tips: Annotations</vt:lpstr>
      <vt:lpstr>Working with Memos</vt:lpstr>
      <vt:lpstr>Tips for memos: </vt:lpstr>
      <vt:lpstr>Final mentions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Katy Keenan</dc:creator>
  <cp:lastModifiedBy>Katy Keenan</cp:lastModifiedBy>
  <cp:revision>7</cp:revision>
  <dcterms:created xsi:type="dcterms:W3CDTF">2024-11-05T13:55:33Z</dcterms:created>
  <dcterms:modified xsi:type="dcterms:W3CDTF">2026-06-10T16:39:21Z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0x0101007B7B8BF0644C4E47862514133CECCC9E</vt:lpwstr>
  </property>
  <property fmtid="{D5CDD505-2E9C-101B-9397-08002B2CF9AE}" pid="3" name="xd_ProgID">
    <vt:lpwstr/>
  </property>
  <property fmtid="{D5CDD505-2E9C-101B-9397-08002B2CF9AE}" pid="4" name="ComplianceAssetId">
    <vt:lpwstr/>
  </property>
  <property fmtid="{D5CDD505-2E9C-101B-9397-08002B2CF9AE}" pid="5" name="TemplateUrl">
    <vt:lpwstr/>
  </property>
  <property fmtid="{D5CDD505-2E9C-101B-9397-08002B2CF9AE}" pid="6" name="_ExtendedDescription">
    <vt:lpwstr/>
  </property>
  <property fmtid="{D5CDD505-2E9C-101B-9397-08002B2CF9AE}" pid="7" name="TriggerFlowInfo">
    <vt:lpwstr/>
  </property>
  <property fmtid="{D5CDD505-2E9C-101B-9397-08002B2CF9AE}" pid="8" name="xd_Signature">
    <vt:bool>false</vt:bool>
  </property>
  <property fmtid="{D5CDD505-2E9C-101B-9397-08002B2CF9AE}" pid="9" name="MediaServiceImageTags">
    <vt:lpwstr/>
  </property>
</Properties>
</file>